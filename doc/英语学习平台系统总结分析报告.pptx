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70" r:id="rId9"/>
    <p:sldId id="260" r:id="rId10"/>
    <p:sldId id="271" r:id="rId11"/>
    <p:sldId id="272" r:id="rId12"/>
    <p:sldId id="273" r:id="rId13"/>
    <p:sldId id="275" r:id="rId14"/>
    <p:sldId id="276" r:id="rId15"/>
    <p:sldId id="277" r:id="rId16"/>
    <p:sldId id="278" r:id="rId17"/>
    <p:sldId id="261" r:id="rId18"/>
    <p:sldId id="279" r:id="rId19"/>
    <p:sldId id="280" r:id="rId20"/>
    <p:sldId id="281" r:id="rId21"/>
    <p:sldId id="282" r:id="rId22"/>
    <p:sldId id="262" r:id="rId23"/>
    <p:sldId id="265" r:id="rId24"/>
    <p:sldId id="266" r:id="rId25"/>
    <p:sldId id="264" r:id="rId26"/>
    <p:sldId id="267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8" Type="http://schemas.openxmlformats.org/officeDocument/2006/relationships/notesSlide" Target="../notesSlides/notesSlide2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48.xml"/><Relationship Id="rId35" Type="http://schemas.openxmlformats.org/officeDocument/2006/relationships/tags" Target="../tags/tag47.xml"/><Relationship Id="rId34" Type="http://schemas.openxmlformats.org/officeDocument/2006/relationships/tags" Target="../tags/tag46.xml"/><Relationship Id="rId33" Type="http://schemas.openxmlformats.org/officeDocument/2006/relationships/tags" Target="../tags/tag45.xml"/><Relationship Id="rId32" Type="http://schemas.openxmlformats.org/officeDocument/2006/relationships/tags" Target="../tags/tag44.xml"/><Relationship Id="rId31" Type="http://schemas.openxmlformats.org/officeDocument/2006/relationships/tags" Target="../tags/tag43.xml"/><Relationship Id="rId30" Type="http://schemas.openxmlformats.org/officeDocument/2006/relationships/tags" Target="../tags/tag42.xml"/><Relationship Id="rId3" Type="http://schemas.openxmlformats.org/officeDocument/2006/relationships/tags" Target="../tags/tag15.xml"/><Relationship Id="rId29" Type="http://schemas.openxmlformats.org/officeDocument/2006/relationships/tags" Target="../tags/tag41.xml"/><Relationship Id="rId28" Type="http://schemas.openxmlformats.org/officeDocument/2006/relationships/tags" Target="../tags/tag40.xml"/><Relationship Id="rId27" Type="http://schemas.openxmlformats.org/officeDocument/2006/relationships/tags" Target="../tags/tag39.xml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8" Type="http://schemas.openxmlformats.org/officeDocument/2006/relationships/notesSlide" Target="../notesSlides/notesSlide4.xml"/><Relationship Id="rId37" Type="http://schemas.openxmlformats.org/officeDocument/2006/relationships/slideLayout" Target="../slideLayouts/slideLayout1.xml"/><Relationship Id="rId36" Type="http://schemas.openxmlformats.org/officeDocument/2006/relationships/tags" Target="../tags/tag84.xml"/><Relationship Id="rId35" Type="http://schemas.openxmlformats.org/officeDocument/2006/relationships/tags" Target="../tags/tag83.xml"/><Relationship Id="rId34" Type="http://schemas.openxmlformats.org/officeDocument/2006/relationships/tags" Target="../tags/tag82.xml"/><Relationship Id="rId33" Type="http://schemas.openxmlformats.org/officeDocument/2006/relationships/tags" Target="../tags/tag81.xml"/><Relationship Id="rId32" Type="http://schemas.openxmlformats.org/officeDocument/2006/relationships/tags" Target="../tags/tag80.xml"/><Relationship Id="rId31" Type="http://schemas.openxmlformats.org/officeDocument/2006/relationships/tags" Target="../tags/tag79.xml"/><Relationship Id="rId30" Type="http://schemas.openxmlformats.org/officeDocument/2006/relationships/tags" Target="../tags/tag78.xml"/><Relationship Id="rId3" Type="http://schemas.openxmlformats.org/officeDocument/2006/relationships/tags" Target="../tags/tag51.xml"/><Relationship Id="rId29" Type="http://schemas.openxmlformats.org/officeDocument/2006/relationships/tags" Target="../tags/tag77.xml"/><Relationship Id="rId28" Type="http://schemas.openxmlformats.org/officeDocument/2006/relationships/tags" Target="../tags/tag76.xml"/><Relationship Id="rId27" Type="http://schemas.openxmlformats.org/officeDocument/2006/relationships/tags" Target="../tags/tag75.xml"/><Relationship Id="rId26" Type="http://schemas.openxmlformats.org/officeDocument/2006/relationships/tags" Target="../tags/tag74.xml"/><Relationship Id="rId25" Type="http://schemas.openxmlformats.org/officeDocument/2006/relationships/tags" Target="../tags/tag73.xml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tags" Target="../tags/tag50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2.ftcdn.net/edb61dc00a1b8678ba7a2974e857fb422e1ec23e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44" b="44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3A5F7A">
                  <a:alpha val="4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400050" y="1060450"/>
            <a:ext cx="2838450" cy="419100"/>
          </a:xfrm>
          <a:custGeom>
            <a:avLst/>
            <a:gdLst/>
            <a:ahLst/>
            <a:cxnLst/>
            <a:rect l="l" t="t" r="r" b="b"/>
            <a:pathLst>
              <a:path w="2838450" h="419100">
                <a:moveTo>
                  <a:pt x="0" y="0"/>
                </a:moveTo>
                <a:lnTo>
                  <a:pt x="2838450" y="0"/>
                </a:lnTo>
                <a:lnTo>
                  <a:pt x="28384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400050" y="106045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6" name="Text 3"/>
          <p:cNvSpPr/>
          <p:nvPr/>
        </p:nvSpPr>
        <p:spPr>
          <a:xfrm>
            <a:off x="609600" y="1136650"/>
            <a:ext cx="2524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ANALYSIS REPORT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784350"/>
            <a:ext cx="11772900" cy="171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英语学习平台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4ECDC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系统总结分析报告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727450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9" name="Text 6"/>
          <p:cNvSpPr/>
          <p:nvPr/>
        </p:nvSpPr>
        <p:spPr>
          <a:xfrm>
            <a:off x="381000" y="4089400"/>
            <a:ext cx="74295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基于Java技术栈的智能化英语学习解决方案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Boot + MyBatis + MySQL 全栈开发实践</a:t>
            </a:r>
            <a:endParaRPr lang="en-US" sz="1600" dirty="0"/>
          </a:p>
        </p:txBody>
      </p:sp>
      <p:sp>
        <p:nvSpPr>
          <p:cNvPr id="10" name="Shape 7"/>
          <p:cNvSpPr/>
          <p:nvPr>
            <p:custDataLst>
              <p:tags r:id="rId2"/>
            </p:custDataLst>
          </p:nvPr>
        </p:nvSpPr>
        <p:spPr>
          <a:xfrm>
            <a:off x="384175" y="5514975"/>
            <a:ext cx="3654425" cy="958850"/>
          </a:xfrm>
          <a:custGeom>
            <a:avLst/>
            <a:gdLst/>
            <a:ahLst/>
            <a:cxnLst/>
            <a:rect l="l" t="t" r="r" b="b"/>
            <a:pathLst>
              <a:path w="3654425" h="958850">
                <a:moveTo>
                  <a:pt x="76200" y="0"/>
                </a:moveTo>
                <a:lnTo>
                  <a:pt x="3578225" y="0"/>
                </a:lnTo>
                <a:cubicBezTo>
                  <a:pt x="3620309" y="0"/>
                  <a:pt x="3654425" y="34116"/>
                  <a:pt x="3654425" y="76200"/>
                </a:cubicBezTo>
                <a:lnTo>
                  <a:pt x="3654425" y="882650"/>
                </a:lnTo>
                <a:cubicBezTo>
                  <a:pt x="3654425" y="924734"/>
                  <a:pt x="3620309" y="958850"/>
                  <a:pt x="3578225" y="958850"/>
                </a:cubicBezTo>
                <a:lnTo>
                  <a:pt x="76200" y="958850"/>
                </a:lnTo>
                <a:cubicBezTo>
                  <a:pt x="34116" y="958850"/>
                  <a:pt x="0" y="924734"/>
                  <a:pt x="0" y="8826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>
            <p:custDataLst>
              <p:tags r:id="rId3"/>
            </p:custDataLst>
          </p:nvPr>
        </p:nvSpPr>
        <p:spPr>
          <a:xfrm>
            <a:off x="606425" y="5708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977900" y="570865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技术架构</a:t>
            </a:r>
            <a:endParaRPr lang="en-US" sz="120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MiSans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5"/>
            </p:custDataLst>
          </p:nvPr>
        </p:nvSpPr>
        <p:spPr>
          <a:xfrm>
            <a:off x="577850" y="6013450"/>
            <a:ext cx="3362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Alimama ShuHeiTi" pitchFamily="34" charset="-120"/>
              </a:rPr>
              <a:t>Spring Boot</a:t>
            </a:r>
            <a:endParaRPr lang="en-US" sz="15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Alimama ShuHeiTi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6"/>
            </p:custDataLst>
          </p:nvPr>
        </p:nvSpPr>
        <p:spPr>
          <a:xfrm>
            <a:off x="4270375" y="5514975"/>
            <a:ext cx="3654425" cy="958850"/>
          </a:xfrm>
          <a:custGeom>
            <a:avLst/>
            <a:gdLst/>
            <a:ahLst/>
            <a:cxnLst/>
            <a:rect l="l" t="t" r="r" b="b"/>
            <a:pathLst>
              <a:path w="3654425" h="958850">
                <a:moveTo>
                  <a:pt x="76200" y="0"/>
                </a:moveTo>
                <a:lnTo>
                  <a:pt x="3578225" y="0"/>
                </a:lnTo>
                <a:cubicBezTo>
                  <a:pt x="3620309" y="0"/>
                  <a:pt x="3654425" y="34116"/>
                  <a:pt x="3654425" y="76200"/>
                </a:cubicBezTo>
                <a:lnTo>
                  <a:pt x="3654425" y="882650"/>
                </a:lnTo>
                <a:cubicBezTo>
                  <a:pt x="3654425" y="924734"/>
                  <a:pt x="3620309" y="958850"/>
                  <a:pt x="3578225" y="958850"/>
                </a:cubicBezTo>
                <a:lnTo>
                  <a:pt x="76200" y="958850"/>
                </a:lnTo>
                <a:cubicBezTo>
                  <a:pt x="34116" y="958850"/>
                  <a:pt x="0" y="924734"/>
                  <a:pt x="0" y="8826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>
            <p:custDataLst>
              <p:tags r:id="rId7"/>
            </p:custDataLst>
          </p:nvPr>
        </p:nvSpPr>
        <p:spPr>
          <a:xfrm>
            <a:off x="4506913" y="57086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6" name="Text 13"/>
          <p:cNvSpPr/>
          <p:nvPr>
            <p:custDataLst>
              <p:tags r:id="rId8"/>
            </p:custDataLst>
          </p:nvPr>
        </p:nvSpPr>
        <p:spPr>
          <a:xfrm>
            <a:off x="4864100" y="5708650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数据库</a:t>
            </a:r>
            <a:endParaRPr lang="en-US" sz="120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MiSans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9"/>
            </p:custDataLst>
          </p:nvPr>
        </p:nvSpPr>
        <p:spPr>
          <a:xfrm>
            <a:off x="4464050" y="6013450"/>
            <a:ext cx="3362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Alimama ShuHeiTi" pitchFamily="34" charset="-120"/>
              </a:rPr>
              <a:t>MySQL 8.0+</a:t>
            </a:r>
            <a:endParaRPr lang="en-US" sz="15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Alimama ShuHeiTi" pitchFamily="34" charset="-120"/>
            </a:endParaRPr>
          </a:p>
        </p:txBody>
      </p:sp>
      <p:sp>
        <p:nvSpPr>
          <p:cNvPr id="18" name="Shape 15"/>
          <p:cNvSpPr/>
          <p:nvPr>
            <p:custDataLst>
              <p:tags r:id="rId10"/>
            </p:custDataLst>
          </p:nvPr>
        </p:nvSpPr>
        <p:spPr>
          <a:xfrm>
            <a:off x="8156575" y="5514975"/>
            <a:ext cx="3654425" cy="958850"/>
          </a:xfrm>
          <a:custGeom>
            <a:avLst/>
            <a:gdLst/>
            <a:ahLst/>
            <a:cxnLst/>
            <a:rect l="l" t="t" r="r" b="b"/>
            <a:pathLst>
              <a:path w="3654425" h="958850">
                <a:moveTo>
                  <a:pt x="76200" y="0"/>
                </a:moveTo>
                <a:lnTo>
                  <a:pt x="3578225" y="0"/>
                </a:lnTo>
                <a:cubicBezTo>
                  <a:pt x="3620309" y="0"/>
                  <a:pt x="3654425" y="34116"/>
                  <a:pt x="3654425" y="76200"/>
                </a:cubicBezTo>
                <a:lnTo>
                  <a:pt x="3654425" y="882650"/>
                </a:lnTo>
                <a:cubicBezTo>
                  <a:pt x="3654425" y="924734"/>
                  <a:pt x="3620309" y="958850"/>
                  <a:pt x="3578225" y="958850"/>
                </a:cubicBezTo>
                <a:lnTo>
                  <a:pt x="76200" y="958850"/>
                </a:lnTo>
                <a:cubicBezTo>
                  <a:pt x="34116" y="958850"/>
                  <a:pt x="0" y="924734"/>
                  <a:pt x="0" y="8826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>
            <p:custDataLst>
              <p:tags r:id="rId11"/>
            </p:custDataLst>
          </p:nvPr>
        </p:nvSpPr>
        <p:spPr>
          <a:xfrm>
            <a:off x="8364538" y="57086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0" name="Text 17"/>
          <p:cNvSpPr/>
          <p:nvPr>
            <p:custDataLst>
              <p:tags r:id="rId12"/>
            </p:custDataLst>
          </p:nvPr>
        </p:nvSpPr>
        <p:spPr>
          <a:xfrm>
            <a:off x="8750300" y="570865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开发语言</a:t>
            </a:r>
            <a:endParaRPr lang="en-US" sz="120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MiSans" pitchFamily="34" charset="-120"/>
            </a:endParaRPr>
          </a:p>
        </p:txBody>
      </p:sp>
      <p:sp>
        <p:nvSpPr>
          <p:cNvPr id="21" name="Text 18"/>
          <p:cNvSpPr/>
          <p:nvPr>
            <p:custDataLst>
              <p:tags r:id="rId13"/>
            </p:custDataLst>
          </p:nvPr>
        </p:nvSpPr>
        <p:spPr>
          <a:xfrm>
            <a:off x="8350250" y="6013450"/>
            <a:ext cx="3362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Alimama ShuHeiTi" pitchFamily="34" charset="-120"/>
              </a:rPr>
              <a:t>Java 17+</a:t>
            </a:r>
            <a:endParaRPr lang="en-US" sz="15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Alimama ShuHeiTi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84175" y="1679575"/>
            <a:ext cx="5597525" cy="1073150"/>
          </a:xfrm>
          <a:custGeom>
            <a:avLst/>
            <a:gdLst/>
            <a:ahLst/>
            <a:cxnLst/>
            <a:rect l="l" t="t" r="r" b="b"/>
            <a:pathLst>
              <a:path w="5597525" h="1073150">
                <a:moveTo>
                  <a:pt x="114301" y="0"/>
                </a:moveTo>
                <a:lnTo>
                  <a:pt x="5483224" y="0"/>
                </a:lnTo>
                <a:cubicBezTo>
                  <a:pt x="5546351" y="0"/>
                  <a:pt x="5597525" y="51174"/>
                  <a:pt x="5597525" y="114301"/>
                </a:cubicBezTo>
                <a:lnTo>
                  <a:pt x="5597525" y="958849"/>
                </a:lnTo>
                <a:cubicBezTo>
                  <a:pt x="5597525" y="1021976"/>
                  <a:pt x="5546351" y="1073150"/>
                  <a:pt x="5483224" y="1073150"/>
                </a:cubicBezTo>
                <a:lnTo>
                  <a:pt x="114301" y="1073150"/>
                </a:lnTo>
                <a:cubicBezTo>
                  <a:pt x="51174" y="1073150"/>
                  <a:pt x="0" y="1021976"/>
                  <a:pt x="0" y="958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615950" y="1911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772418" y="2044700"/>
            <a:ext cx="4381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416050" y="1911350"/>
            <a:ext cx="2171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项目背景与价值定位</a:t>
            </a:r>
            <a:endParaRPr lang="en-US" sz="16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1416050" y="2292351"/>
            <a:ext cx="2133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市场痛点分析 · 教育价值阐述</a:t>
            </a:r>
            <a:endParaRPr lang="en-US" sz="160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6213475" y="1679575"/>
            <a:ext cx="5597525" cy="1073150"/>
          </a:xfrm>
          <a:custGeom>
            <a:avLst/>
            <a:gdLst/>
            <a:ahLst/>
            <a:cxnLst/>
            <a:rect l="l" t="t" r="r" b="b"/>
            <a:pathLst>
              <a:path w="5597525" h="1073150">
                <a:moveTo>
                  <a:pt x="114301" y="0"/>
                </a:moveTo>
                <a:lnTo>
                  <a:pt x="5483224" y="0"/>
                </a:lnTo>
                <a:cubicBezTo>
                  <a:pt x="5546351" y="0"/>
                  <a:pt x="5597525" y="51174"/>
                  <a:pt x="5597525" y="114301"/>
                </a:cubicBezTo>
                <a:lnTo>
                  <a:pt x="5597525" y="958849"/>
                </a:lnTo>
                <a:cubicBezTo>
                  <a:pt x="5597525" y="1021976"/>
                  <a:pt x="5546351" y="1073150"/>
                  <a:pt x="5483224" y="1073150"/>
                </a:cubicBezTo>
                <a:lnTo>
                  <a:pt x="114301" y="1073150"/>
                </a:lnTo>
                <a:cubicBezTo>
                  <a:pt x="51174" y="1073150"/>
                  <a:pt x="0" y="1021976"/>
                  <a:pt x="0" y="958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6445250" y="1911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6575822" y="2044700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7245350" y="1911350"/>
            <a:ext cx="19526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技术架构全景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7245350" y="2292351"/>
            <a:ext cx="1914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技术栈选型 · 分层架构设计</a:t>
            </a:r>
            <a:endParaRPr lang="en-US" sz="160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384175" y="2987675"/>
            <a:ext cx="5597525" cy="1073150"/>
          </a:xfrm>
          <a:custGeom>
            <a:avLst/>
            <a:gdLst/>
            <a:ahLst/>
            <a:cxnLst/>
            <a:rect l="l" t="t" r="r" b="b"/>
            <a:pathLst>
              <a:path w="5597525" h="1073150">
                <a:moveTo>
                  <a:pt x="114301" y="0"/>
                </a:moveTo>
                <a:lnTo>
                  <a:pt x="5483224" y="0"/>
                </a:lnTo>
                <a:cubicBezTo>
                  <a:pt x="5546351" y="0"/>
                  <a:pt x="5597525" y="51174"/>
                  <a:pt x="5597525" y="114301"/>
                </a:cubicBezTo>
                <a:lnTo>
                  <a:pt x="5597525" y="958849"/>
                </a:lnTo>
                <a:cubicBezTo>
                  <a:pt x="5597525" y="1021976"/>
                  <a:pt x="5546351" y="1073150"/>
                  <a:pt x="5483224" y="1073150"/>
                </a:cubicBezTo>
                <a:lnTo>
                  <a:pt x="114301" y="1073150"/>
                </a:lnTo>
                <a:cubicBezTo>
                  <a:pt x="51174" y="1073150"/>
                  <a:pt x="0" y="1021976"/>
                  <a:pt x="0" y="958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615950" y="3219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745232" y="3352800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1416050" y="3219450"/>
            <a:ext cx="2276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1416050" y="3600450"/>
            <a:ext cx="2238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学习功能 · 用户管理 · 后台系统</a:t>
            </a:r>
            <a:endParaRPr lang="en-US" sz="1600" dirty="0"/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6213475" y="2987675"/>
            <a:ext cx="5597525" cy="1073150"/>
          </a:xfrm>
          <a:custGeom>
            <a:avLst/>
            <a:gdLst/>
            <a:ahLst/>
            <a:cxnLst/>
            <a:rect l="l" t="t" r="r" b="b"/>
            <a:pathLst>
              <a:path w="5597525" h="1073150">
                <a:moveTo>
                  <a:pt x="114301" y="0"/>
                </a:moveTo>
                <a:lnTo>
                  <a:pt x="5483224" y="0"/>
                </a:lnTo>
                <a:cubicBezTo>
                  <a:pt x="5546351" y="0"/>
                  <a:pt x="5597525" y="51174"/>
                  <a:pt x="5597525" y="114301"/>
                </a:cubicBezTo>
                <a:lnTo>
                  <a:pt x="5597525" y="958849"/>
                </a:lnTo>
                <a:cubicBezTo>
                  <a:pt x="5597525" y="1021976"/>
                  <a:pt x="5546351" y="1073150"/>
                  <a:pt x="5483224" y="1073150"/>
                </a:cubicBezTo>
                <a:lnTo>
                  <a:pt x="114301" y="1073150"/>
                </a:lnTo>
                <a:cubicBezTo>
                  <a:pt x="51174" y="1073150"/>
                  <a:pt x="0" y="1021976"/>
                  <a:pt x="0" y="958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6445250" y="3219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6574731" y="3352800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7245350" y="3219450"/>
            <a:ext cx="2152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数据库设计</a:t>
            </a:r>
            <a:endParaRPr lang="en-US" sz="160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7245350" y="3600450"/>
            <a:ext cx="2114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数据模型 · 表结构设计 · ER图</a:t>
            </a:r>
            <a:endParaRPr lang="en-US" sz="1600" dirty="0"/>
          </a:p>
        </p:txBody>
      </p:sp>
      <p:sp>
        <p:nvSpPr>
          <p:cNvPr id="32" name="Text 30"/>
          <p:cNvSpPr/>
          <p:nvPr>
            <p:custDataLst>
              <p:tags r:id="rId21"/>
            </p:custDataLst>
          </p:nvPr>
        </p:nvSpPr>
        <p:spPr>
          <a:xfrm>
            <a:off x="6573441" y="4660900"/>
            <a:ext cx="4953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Shape 33"/>
          <p:cNvSpPr/>
          <p:nvPr>
            <p:custDataLst>
              <p:tags r:id="rId22"/>
            </p:custDataLst>
          </p:nvPr>
        </p:nvSpPr>
        <p:spPr>
          <a:xfrm>
            <a:off x="384175" y="4295775"/>
            <a:ext cx="5597525" cy="1073150"/>
          </a:xfrm>
          <a:custGeom>
            <a:avLst/>
            <a:gdLst/>
            <a:ahLst/>
            <a:cxnLst/>
            <a:rect l="l" t="t" r="r" b="b"/>
            <a:pathLst>
              <a:path w="5597525" h="1073150">
                <a:moveTo>
                  <a:pt x="114301" y="0"/>
                </a:moveTo>
                <a:lnTo>
                  <a:pt x="5483224" y="0"/>
                </a:lnTo>
                <a:cubicBezTo>
                  <a:pt x="5546351" y="0"/>
                  <a:pt x="5597525" y="51174"/>
                  <a:pt x="5597525" y="114301"/>
                </a:cubicBezTo>
                <a:lnTo>
                  <a:pt x="5597525" y="958849"/>
                </a:lnTo>
                <a:cubicBezTo>
                  <a:pt x="5597525" y="1021976"/>
                  <a:pt x="5546351" y="1073150"/>
                  <a:pt x="5483224" y="1073150"/>
                </a:cubicBezTo>
                <a:lnTo>
                  <a:pt x="114301" y="1073150"/>
                </a:lnTo>
                <a:cubicBezTo>
                  <a:pt x="51174" y="1073150"/>
                  <a:pt x="0" y="1021976"/>
                  <a:pt x="0" y="958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>
            <p:custDataLst>
              <p:tags r:id="rId23"/>
            </p:custDataLst>
          </p:nvPr>
        </p:nvSpPr>
        <p:spPr>
          <a:xfrm>
            <a:off x="615950" y="452755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37" name="Text 35"/>
          <p:cNvSpPr/>
          <p:nvPr>
            <p:custDataLst>
              <p:tags r:id="rId24"/>
            </p:custDataLst>
          </p:nvPr>
        </p:nvSpPr>
        <p:spPr>
          <a:xfrm>
            <a:off x="756444" y="4660901"/>
            <a:ext cx="476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>
            <p:custDataLst>
              <p:tags r:id="rId25"/>
            </p:custDataLst>
          </p:nvPr>
        </p:nvSpPr>
        <p:spPr>
          <a:xfrm>
            <a:off x="1416050" y="4527551"/>
            <a:ext cx="2276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挑战与解决方案</a:t>
            </a:r>
            <a:endParaRPr lang="en-US" sz="1600" dirty="0"/>
          </a:p>
        </p:txBody>
      </p:sp>
      <p:sp>
        <p:nvSpPr>
          <p:cNvPr id="39" name="Text 37"/>
          <p:cNvSpPr/>
          <p:nvPr>
            <p:custDataLst>
              <p:tags r:id="rId26"/>
            </p:custDataLst>
          </p:nvPr>
        </p:nvSpPr>
        <p:spPr>
          <a:xfrm>
            <a:off x="1416050" y="4908551"/>
            <a:ext cx="2238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技术难点 · 应对策略 · 最佳实践</a:t>
            </a:r>
            <a:endParaRPr lang="en-US" sz="1600" dirty="0"/>
          </a:p>
        </p:txBody>
      </p:sp>
      <p:sp>
        <p:nvSpPr>
          <p:cNvPr id="40" name="Shape 38"/>
          <p:cNvSpPr/>
          <p:nvPr>
            <p:custDataLst>
              <p:tags r:id="rId27"/>
            </p:custDataLst>
          </p:nvPr>
        </p:nvSpPr>
        <p:spPr>
          <a:xfrm>
            <a:off x="6158865" y="4295775"/>
            <a:ext cx="5597525" cy="1073150"/>
          </a:xfrm>
          <a:custGeom>
            <a:avLst/>
            <a:gdLst/>
            <a:ahLst/>
            <a:cxnLst/>
            <a:rect l="l" t="t" r="r" b="b"/>
            <a:pathLst>
              <a:path w="5597525" h="1073150">
                <a:moveTo>
                  <a:pt x="114301" y="0"/>
                </a:moveTo>
                <a:lnTo>
                  <a:pt x="5483224" y="0"/>
                </a:lnTo>
                <a:cubicBezTo>
                  <a:pt x="5546351" y="0"/>
                  <a:pt x="5597525" y="51174"/>
                  <a:pt x="5597525" y="114301"/>
                </a:cubicBezTo>
                <a:lnTo>
                  <a:pt x="5597525" y="958849"/>
                </a:lnTo>
                <a:cubicBezTo>
                  <a:pt x="5597525" y="1021976"/>
                  <a:pt x="5546351" y="1073150"/>
                  <a:pt x="5483224" y="1073150"/>
                </a:cubicBezTo>
                <a:lnTo>
                  <a:pt x="114301" y="1073150"/>
                </a:lnTo>
                <a:cubicBezTo>
                  <a:pt x="51174" y="1073150"/>
                  <a:pt x="0" y="1021976"/>
                  <a:pt x="0" y="958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>
            <p:custDataLst>
              <p:tags r:id="rId28"/>
            </p:custDataLst>
          </p:nvPr>
        </p:nvSpPr>
        <p:spPr>
          <a:xfrm>
            <a:off x="6390640" y="452755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42" name="Text 40"/>
          <p:cNvSpPr/>
          <p:nvPr>
            <p:custDataLst>
              <p:tags r:id="rId29"/>
            </p:custDataLst>
          </p:nvPr>
        </p:nvSpPr>
        <p:spPr>
          <a:xfrm>
            <a:off x="6576239" y="4660901"/>
            <a:ext cx="5048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>
            <p:custDataLst>
              <p:tags r:id="rId30"/>
            </p:custDataLst>
          </p:nvPr>
        </p:nvSpPr>
        <p:spPr>
          <a:xfrm>
            <a:off x="7190740" y="4527551"/>
            <a:ext cx="2276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测试与质量保障</a:t>
            </a:r>
            <a:endParaRPr lang="en-US" sz="1600" dirty="0"/>
          </a:p>
        </p:txBody>
      </p:sp>
      <p:sp>
        <p:nvSpPr>
          <p:cNvPr id="44" name="Text 42"/>
          <p:cNvSpPr/>
          <p:nvPr>
            <p:custDataLst>
              <p:tags r:id="rId31"/>
            </p:custDataLst>
          </p:nvPr>
        </p:nvSpPr>
        <p:spPr>
          <a:xfrm>
            <a:off x="7190740" y="4908551"/>
            <a:ext cx="2238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测试策略 · 功能验证 · 质量标准</a:t>
            </a:r>
            <a:endParaRPr lang="en-US" sz="1600" dirty="0"/>
          </a:p>
        </p:txBody>
      </p:sp>
      <p:sp>
        <p:nvSpPr>
          <p:cNvPr id="45" name="Shape 33"/>
          <p:cNvSpPr/>
          <p:nvPr>
            <p:custDataLst>
              <p:tags r:id="rId32"/>
            </p:custDataLst>
          </p:nvPr>
        </p:nvSpPr>
        <p:spPr>
          <a:xfrm>
            <a:off x="334645" y="5530850"/>
            <a:ext cx="5597525" cy="1073150"/>
          </a:xfrm>
          <a:custGeom>
            <a:avLst/>
            <a:gdLst/>
            <a:ahLst/>
            <a:cxnLst/>
            <a:rect l="l" t="t" r="r" b="b"/>
            <a:pathLst>
              <a:path w="5597525" h="1073150">
                <a:moveTo>
                  <a:pt x="114301" y="0"/>
                </a:moveTo>
                <a:lnTo>
                  <a:pt x="5483224" y="0"/>
                </a:lnTo>
                <a:cubicBezTo>
                  <a:pt x="5546351" y="0"/>
                  <a:pt x="5597525" y="51174"/>
                  <a:pt x="5597525" y="114301"/>
                </a:cubicBezTo>
                <a:lnTo>
                  <a:pt x="5597525" y="958849"/>
                </a:lnTo>
                <a:cubicBezTo>
                  <a:pt x="5597525" y="1021976"/>
                  <a:pt x="5546351" y="1073150"/>
                  <a:pt x="5483224" y="1073150"/>
                </a:cubicBezTo>
                <a:lnTo>
                  <a:pt x="114301" y="1073150"/>
                </a:lnTo>
                <a:cubicBezTo>
                  <a:pt x="51174" y="1073150"/>
                  <a:pt x="0" y="1021976"/>
                  <a:pt x="0" y="958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46" name="Shape 34"/>
          <p:cNvSpPr/>
          <p:nvPr>
            <p:custDataLst>
              <p:tags r:id="rId33"/>
            </p:custDataLst>
          </p:nvPr>
        </p:nvSpPr>
        <p:spPr>
          <a:xfrm>
            <a:off x="612775" y="576262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47" name="Text 35"/>
          <p:cNvSpPr/>
          <p:nvPr>
            <p:custDataLst>
              <p:tags r:id="rId34"/>
            </p:custDataLst>
          </p:nvPr>
        </p:nvSpPr>
        <p:spPr>
          <a:xfrm>
            <a:off x="753269" y="5895976"/>
            <a:ext cx="4762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48" name="Text 36"/>
          <p:cNvSpPr/>
          <p:nvPr>
            <p:custDataLst>
              <p:tags r:id="rId35"/>
            </p:custDataLst>
          </p:nvPr>
        </p:nvSpPr>
        <p:spPr>
          <a:xfrm>
            <a:off x="1412875" y="5762626"/>
            <a:ext cx="2276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10000"/>
              </a:lnSpc>
            </a:pPr>
            <a:r>
              <a:rPr lang="zh-CN" altLang="en-US" sz="18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项目</a:t>
            </a:r>
            <a:r>
              <a:rPr lang="zh-CN" altLang="en-US" sz="18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总结</a:t>
            </a:r>
            <a:endParaRPr lang="zh-CN" altLang="en-US" sz="1800" b="1" dirty="0">
              <a:solidFill>
                <a:srgbClr val="E0E2E5"/>
              </a:solidFill>
              <a:latin typeface="Alimama ShuHeiTi" pitchFamily="34" charset="0"/>
              <a:ea typeface="Alimama ShuHeiTi" pitchFamily="34" charset="-122"/>
              <a:cs typeface="Alimama ShuHeiTi" pitchFamily="34" charset="-120"/>
            </a:endParaRPr>
          </a:p>
        </p:txBody>
      </p:sp>
      <p:sp>
        <p:nvSpPr>
          <p:cNvPr id="49" name="Text 37"/>
          <p:cNvSpPr/>
          <p:nvPr>
            <p:custDataLst>
              <p:tags r:id="rId36"/>
            </p:custDataLst>
          </p:nvPr>
        </p:nvSpPr>
        <p:spPr>
          <a:xfrm>
            <a:off x="1412875" y="6143626"/>
            <a:ext cx="2238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自我总结</a:t>
            </a:r>
            <a:r>
              <a:rPr lang="en-US" sz="12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· </a:t>
            </a:r>
            <a:r>
              <a:rPr lang="zh-CN" altLang="en-US" sz="12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</a:t>
            </a:r>
            <a:r>
              <a:rPr lang="zh-CN" altLang="en-US" sz="12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展望</a:t>
            </a:r>
            <a:endParaRPr lang="zh-CN" altLang="en-US" sz="1200" dirty="0">
              <a:solidFill>
                <a:srgbClr val="6B7D87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296" y="370296"/>
            <a:ext cx="11525467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117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BACKGROUND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0296" y="666533"/>
            <a:ext cx="11618041" cy="370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项目背景与价值定位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0296" y="1147918"/>
            <a:ext cx="888711" cy="37030"/>
          </a:xfrm>
          <a:custGeom>
            <a:avLst/>
            <a:gdLst/>
            <a:ahLst/>
            <a:cxnLst/>
            <a:rect l="l" t="t" r="r" b="b"/>
            <a:pathLst>
              <a:path w="888711" h="37030">
                <a:moveTo>
                  <a:pt x="0" y="0"/>
                </a:moveTo>
                <a:lnTo>
                  <a:pt x="888711" y="0"/>
                </a:lnTo>
                <a:lnTo>
                  <a:pt x="888711" y="37030"/>
                </a:lnTo>
                <a:lnTo>
                  <a:pt x="0" y="3703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5" name="Shape 3"/>
          <p:cNvSpPr/>
          <p:nvPr/>
        </p:nvSpPr>
        <p:spPr>
          <a:xfrm>
            <a:off x="373382" y="1410211"/>
            <a:ext cx="5625415" cy="4477497"/>
          </a:xfrm>
          <a:custGeom>
            <a:avLst/>
            <a:gdLst/>
            <a:ahLst/>
            <a:cxnLst/>
            <a:rect l="l" t="t" r="r" b="b"/>
            <a:pathLst>
              <a:path w="5625415" h="4477497">
                <a:moveTo>
                  <a:pt x="111087" y="0"/>
                </a:moveTo>
                <a:lnTo>
                  <a:pt x="5514329" y="0"/>
                </a:lnTo>
                <a:cubicBezTo>
                  <a:pt x="5575680" y="0"/>
                  <a:pt x="5625415" y="49735"/>
                  <a:pt x="5625415" y="111087"/>
                </a:cubicBezTo>
                <a:lnTo>
                  <a:pt x="5625415" y="4366411"/>
                </a:lnTo>
                <a:cubicBezTo>
                  <a:pt x="5625415" y="4427762"/>
                  <a:pt x="5575680" y="4477497"/>
                  <a:pt x="5514329" y="4477497"/>
                </a:cubicBezTo>
                <a:lnTo>
                  <a:pt x="111087" y="4477497"/>
                </a:lnTo>
                <a:cubicBezTo>
                  <a:pt x="49735" y="4477497"/>
                  <a:pt x="0" y="4427762"/>
                  <a:pt x="0" y="4366411"/>
                </a:cubicBezTo>
                <a:lnTo>
                  <a:pt x="0" y="111087"/>
                </a:lnTo>
                <a:cubicBezTo>
                  <a:pt x="0" y="49776"/>
                  <a:pt x="49776" y="0"/>
                  <a:pt x="111087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1616" y="1598446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7" name="Shape 5"/>
          <p:cNvSpPr/>
          <p:nvPr/>
        </p:nvSpPr>
        <p:spPr>
          <a:xfrm>
            <a:off x="691219" y="1728049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92574" y="0"/>
                </a:moveTo>
                <a:cubicBezTo>
                  <a:pt x="97890" y="0"/>
                  <a:pt x="102772" y="2929"/>
                  <a:pt x="105303" y="7594"/>
                </a:cubicBezTo>
                <a:lnTo>
                  <a:pt x="183412" y="152241"/>
                </a:lnTo>
                <a:cubicBezTo>
                  <a:pt x="185835" y="156725"/>
                  <a:pt x="185727" y="162149"/>
                  <a:pt x="183123" y="166525"/>
                </a:cubicBezTo>
                <a:cubicBezTo>
                  <a:pt x="180519" y="170900"/>
                  <a:pt x="175782" y="173576"/>
                  <a:pt x="170683" y="173576"/>
                </a:cubicBezTo>
                <a:lnTo>
                  <a:pt x="14465" y="173576"/>
                </a:lnTo>
                <a:cubicBezTo>
                  <a:pt x="9366" y="173576"/>
                  <a:pt x="4665" y="170900"/>
                  <a:pt x="2025" y="166525"/>
                </a:cubicBezTo>
                <a:cubicBezTo>
                  <a:pt x="-615" y="162149"/>
                  <a:pt x="-687" y="156725"/>
                  <a:pt x="1736" y="152241"/>
                </a:cubicBezTo>
                <a:lnTo>
                  <a:pt x="79845" y="7594"/>
                </a:lnTo>
                <a:cubicBezTo>
                  <a:pt x="82376" y="2929"/>
                  <a:pt x="87258" y="0"/>
                  <a:pt x="92574" y="0"/>
                </a:cubicBezTo>
                <a:close/>
                <a:moveTo>
                  <a:pt x="92574" y="60752"/>
                </a:moveTo>
                <a:cubicBezTo>
                  <a:pt x="87765" y="60752"/>
                  <a:pt x="83895" y="64621"/>
                  <a:pt x="83895" y="69431"/>
                </a:cubicBezTo>
                <a:lnTo>
                  <a:pt x="83895" y="109932"/>
                </a:lnTo>
                <a:cubicBezTo>
                  <a:pt x="83895" y="114741"/>
                  <a:pt x="87765" y="118610"/>
                  <a:pt x="92574" y="118610"/>
                </a:cubicBezTo>
                <a:cubicBezTo>
                  <a:pt x="97384" y="118610"/>
                  <a:pt x="101253" y="114741"/>
                  <a:pt x="101253" y="109932"/>
                </a:cubicBezTo>
                <a:lnTo>
                  <a:pt x="101253" y="69431"/>
                </a:lnTo>
                <a:cubicBezTo>
                  <a:pt x="101253" y="64621"/>
                  <a:pt x="97384" y="60752"/>
                  <a:pt x="92574" y="60752"/>
                </a:cubicBezTo>
                <a:close/>
                <a:moveTo>
                  <a:pt x="102229" y="138861"/>
                </a:moveTo>
                <a:cubicBezTo>
                  <a:pt x="102449" y="135277"/>
                  <a:pt x="100662" y="131867"/>
                  <a:pt x="97589" y="130009"/>
                </a:cubicBezTo>
                <a:cubicBezTo>
                  <a:pt x="94517" y="128151"/>
                  <a:pt x="90667" y="128151"/>
                  <a:pt x="87595" y="130009"/>
                </a:cubicBezTo>
                <a:cubicBezTo>
                  <a:pt x="84523" y="131867"/>
                  <a:pt x="82735" y="135277"/>
                  <a:pt x="82955" y="138861"/>
                </a:cubicBezTo>
                <a:cubicBezTo>
                  <a:pt x="82735" y="142445"/>
                  <a:pt x="84523" y="145855"/>
                  <a:pt x="87595" y="147713"/>
                </a:cubicBezTo>
                <a:cubicBezTo>
                  <a:pt x="90667" y="149571"/>
                  <a:pt x="94517" y="149571"/>
                  <a:pt x="97589" y="147713"/>
                </a:cubicBezTo>
                <a:cubicBezTo>
                  <a:pt x="100662" y="145855"/>
                  <a:pt x="102449" y="142445"/>
                  <a:pt x="102229" y="138861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1117060" y="1672505"/>
            <a:ext cx="999800" cy="2962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行业痛点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1616" y="2423319"/>
            <a:ext cx="74059" cy="74059"/>
          </a:xfrm>
          <a:custGeom>
            <a:avLst/>
            <a:gdLst/>
            <a:ahLst/>
            <a:cxnLst/>
            <a:rect l="l" t="t" r="r" b="b"/>
            <a:pathLst>
              <a:path w="74059" h="74059">
                <a:moveTo>
                  <a:pt x="37030" y="0"/>
                </a:moveTo>
                <a:lnTo>
                  <a:pt x="37030" y="0"/>
                </a:lnTo>
                <a:cubicBezTo>
                  <a:pt x="57481" y="0"/>
                  <a:pt x="74059" y="16579"/>
                  <a:pt x="74059" y="37030"/>
                </a:cubicBezTo>
                <a:lnTo>
                  <a:pt x="74059" y="37030"/>
                </a:lnTo>
                <a:cubicBezTo>
                  <a:pt x="74059" y="57481"/>
                  <a:pt x="57481" y="74059"/>
                  <a:pt x="37030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0" name="Text 8"/>
          <p:cNvSpPr/>
          <p:nvPr/>
        </p:nvSpPr>
        <p:spPr>
          <a:xfrm>
            <a:off x="746764" y="2349259"/>
            <a:ext cx="5147116" cy="259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资源分布不均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6764" y="2645496"/>
            <a:ext cx="5137859" cy="481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传统线下教学资源高度集中于一线城市，二三线城市及偏远地区优质教育资源严重匮乏，学习者难以获得平等的学习机会。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616" y="3628806"/>
            <a:ext cx="74059" cy="74059"/>
          </a:xfrm>
          <a:custGeom>
            <a:avLst/>
            <a:gdLst/>
            <a:ahLst/>
            <a:cxnLst/>
            <a:rect l="l" t="t" r="r" b="b"/>
            <a:pathLst>
              <a:path w="74059" h="74059">
                <a:moveTo>
                  <a:pt x="37030" y="0"/>
                </a:moveTo>
                <a:lnTo>
                  <a:pt x="37030" y="0"/>
                </a:lnTo>
                <a:cubicBezTo>
                  <a:pt x="57481" y="0"/>
                  <a:pt x="74059" y="16579"/>
                  <a:pt x="74059" y="37030"/>
                </a:cubicBezTo>
                <a:lnTo>
                  <a:pt x="74059" y="37030"/>
                </a:lnTo>
                <a:cubicBezTo>
                  <a:pt x="74059" y="57481"/>
                  <a:pt x="57481" y="74059"/>
                  <a:pt x="37030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3" name="Text 11"/>
          <p:cNvSpPr/>
          <p:nvPr/>
        </p:nvSpPr>
        <p:spPr>
          <a:xfrm>
            <a:off x="746764" y="3554747"/>
            <a:ext cx="5147116" cy="259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教学模式僵化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6764" y="3850984"/>
            <a:ext cx="5137859" cy="481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传统课堂采用"一刀切"教学方式，无法根据学生的英语水平、学习进度和兴趣偏好提供个性化学习路径，学习效率低下。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1616" y="4834390"/>
            <a:ext cx="74059" cy="74059"/>
          </a:xfrm>
          <a:custGeom>
            <a:avLst/>
            <a:gdLst/>
            <a:ahLst/>
            <a:cxnLst/>
            <a:rect l="l" t="t" r="r" b="b"/>
            <a:pathLst>
              <a:path w="74059" h="74059">
                <a:moveTo>
                  <a:pt x="37030" y="0"/>
                </a:moveTo>
                <a:lnTo>
                  <a:pt x="37030" y="0"/>
                </a:lnTo>
                <a:cubicBezTo>
                  <a:pt x="57481" y="0"/>
                  <a:pt x="74059" y="16579"/>
                  <a:pt x="74059" y="37030"/>
                </a:cubicBezTo>
                <a:lnTo>
                  <a:pt x="74059" y="37030"/>
                </a:lnTo>
                <a:cubicBezTo>
                  <a:pt x="74059" y="57481"/>
                  <a:pt x="57481" y="74059"/>
                  <a:pt x="37030" y="74059"/>
                </a:cubicBezTo>
                <a:lnTo>
                  <a:pt x="37030" y="74059"/>
                </a:lnTo>
                <a:cubicBezTo>
                  <a:pt x="16579" y="74059"/>
                  <a:pt x="0" y="57481"/>
                  <a:pt x="0" y="37030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6" name="Text 14"/>
          <p:cNvSpPr/>
          <p:nvPr/>
        </p:nvSpPr>
        <p:spPr>
          <a:xfrm>
            <a:off x="746764" y="4760330"/>
            <a:ext cx="5147116" cy="259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互动性严重不足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6764" y="5056567"/>
            <a:ext cx="5137859" cy="481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现有在线平台多为单向内容输出，缺乏有效的学习反馈机制和互动体验，用户粘性和学习持续性较差。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3382" y="6038913"/>
            <a:ext cx="5625415" cy="820823"/>
          </a:xfrm>
          <a:custGeom>
            <a:avLst/>
            <a:gdLst/>
            <a:ahLst/>
            <a:cxnLst/>
            <a:rect l="l" t="t" r="r" b="b"/>
            <a:pathLst>
              <a:path w="5625415" h="820823">
                <a:moveTo>
                  <a:pt x="111090" y="0"/>
                </a:moveTo>
                <a:lnTo>
                  <a:pt x="5514325" y="0"/>
                </a:lnTo>
                <a:cubicBezTo>
                  <a:pt x="5575679" y="0"/>
                  <a:pt x="5625415" y="49737"/>
                  <a:pt x="5625415" y="111090"/>
                </a:cubicBezTo>
                <a:lnTo>
                  <a:pt x="5625415" y="709733"/>
                </a:lnTo>
                <a:cubicBezTo>
                  <a:pt x="5625415" y="771086"/>
                  <a:pt x="5575679" y="820823"/>
                  <a:pt x="5514325" y="820823"/>
                </a:cubicBezTo>
                <a:lnTo>
                  <a:pt x="111090" y="820823"/>
                </a:lnTo>
                <a:cubicBezTo>
                  <a:pt x="49737" y="820823"/>
                  <a:pt x="0" y="771086"/>
                  <a:pt x="0" y="709733"/>
                </a:cubicBezTo>
                <a:lnTo>
                  <a:pt x="0" y="111090"/>
                </a:lnTo>
                <a:cubicBezTo>
                  <a:pt x="0" y="49778"/>
                  <a:pt x="49778" y="0"/>
                  <a:pt x="11109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>
                  <a:alpha val="20000"/>
                </a:srgbClr>
              </a:gs>
              <a:gs pos="100000">
                <a:srgbClr val="3A5F7A">
                  <a:alpha val="20000"/>
                </a:srgbClr>
              </a:gs>
            </a:gsLst>
            <a:lin ang="0" scaled="1"/>
          </a:gradFill>
          <a:ln w="8467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131" y="6338236"/>
            <a:ext cx="166633" cy="222178"/>
          </a:xfrm>
          <a:custGeom>
            <a:avLst/>
            <a:gdLst/>
            <a:ahLst/>
            <a:cxnLst/>
            <a:rect l="l" t="t" r="r" b="b"/>
            <a:pathLst>
              <a:path w="166633" h="222178">
                <a:moveTo>
                  <a:pt x="127101" y="166633"/>
                </a:moveTo>
                <a:cubicBezTo>
                  <a:pt x="130269" y="156956"/>
                  <a:pt x="136605" y="148191"/>
                  <a:pt x="143765" y="140640"/>
                </a:cubicBezTo>
                <a:cubicBezTo>
                  <a:pt x="157954" y="125713"/>
                  <a:pt x="166633" y="105534"/>
                  <a:pt x="166633" y="83317"/>
                </a:cubicBezTo>
                <a:cubicBezTo>
                  <a:pt x="166633" y="37319"/>
                  <a:pt x="129314" y="0"/>
                  <a:pt x="83317" y="0"/>
                </a:cubicBezTo>
                <a:cubicBezTo>
                  <a:pt x="37319" y="0"/>
                  <a:pt x="0" y="37319"/>
                  <a:pt x="0" y="83317"/>
                </a:cubicBezTo>
                <a:cubicBezTo>
                  <a:pt x="0" y="105534"/>
                  <a:pt x="8679" y="125713"/>
                  <a:pt x="22869" y="140640"/>
                </a:cubicBezTo>
                <a:cubicBezTo>
                  <a:pt x="30029" y="148191"/>
                  <a:pt x="36408" y="156956"/>
                  <a:pt x="39532" y="166633"/>
                </a:cubicBezTo>
                <a:lnTo>
                  <a:pt x="127058" y="166633"/>
                </a:lnTo>
                <a:close/>
                <a:moveTo>
                  <a:pt x="124975" y="187462"/>
                </a:moveTo>
                <a:lnTo>
                  <a:pt x="41658" y="187462"/>
                </a:lnTo>
                <a:lnTo>
                  <a:pt x="41658" y="194405"/>
                </a:lnTo>
                <a:cubicBezTo>
                  <a:pt x="41658" y="213586"/>
                  <a:pt x="57193" y="229121"/>
                  <a:pt x="76374" y="229121"/>
                </a:cubicBezTo>
                <a:lnTo>
                  <a:pt x="90260" y="229121"/>
                </a:lnTo>
                <a:cubicBezTo>
                  <a:pt x="109440" y="229121"/>
                  <a:pt x="124975" y="213586"/>
                  <a:pt x="124975" y="194405"/>
                </a:cubicBezTo>
                <a:lnTo>
                  <a:pt x="124975" y="187462"/>
                </a:lnTo>
                <a:close/>
                <a:moveTo>
                  <a:pt x="79845" y="48601"/>
                </a:moveTo>
                <a:cubicBezTo>
                  <a:pt x="62574" y="48601"/>
                  <a:pt x="48601" y="62574"/>
                  <a:pt x="48601" y="79845"/>
                </a:cubicBezTo>
                <a:cubicBezTo>
                  <a:pt x="48601" y="85617"/>
                  <a:pt x="43958" y="90260"/>
                  <a:pt x="38187" y="90260"/>
                </a:cubicBezTo>
                <a:cubicBezTo>
                  <a:pt x="32415" y="90260"/>
                  <a:pt x="27772" y="85617"/>
                  <a:pt x="27772" y="79845"/>
                </a:cubicBezTo>
                <a:cubicBezTo>
                  <a:pt x="27772" y="51075"/>
                  <a:pt x="51075" y="27772"/>
                  <a:pt x="79845" y="27772"/>
                </a:cubicBezTo>
                <a:cubicBezTo>
                  <a:pt x="85617" y="27772"/>
                  <a:pt x="90260" y="32415"/>
                  <a:pt x="90260" y="38187"/>
                </a:cubicBezTo>
                <a:cubicBezTo>
                  <a:pt x="90260" y="43958"/>
                  <a:pt x="85617" y="48601"/>
                  <a:pt x="79845" y="48601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0" name="Text 18"/>
          <p:cNvSpPr/>
          <p:nvPr/>
        </p:nvSpPr>
        <p:spPr>
          <a:xfrm>
            <a:off x="913397" y="6190118"/>
            <a:ext cx="3369695" cy="259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技术赋能契机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3397" y="6486355"/>
            <a:ext cx="3360437" cy="2221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Web开发框架成熟 · 移动互联网普及 · AI技术赋能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3203" y="1410211"/>
            <a:ext cx="5625415" cy="4523784"/>
          </a:xfrm>
          <a:custGeom>
            <a:avLst/>
            <a:gdLst/>
            <a:ahLst/>
            <a:cxnLst/>
            <a:rect l="l" t="t" r="r" b="b"/>
            <a:pathLst>
              <a:path w="5625415" h="4523784">
                <a:moveTo>
                  <a:pt x="111104" y="0"/>
                </a:moveTo>
                <a:lnTo>
                  <a:pt x="5514311" y="0"/>
                </a:lnTo>
                <a:cubicBezTo>
                  <a:pt x="5575672" y="0"/>
                  <a:pt x="5625415" y="49743"/>
                  <a:pt x="5625415" y="111104"/>
                </a:cubicBezTo>
                <a:lnTo>
                  <a:pt x="5625415" y="4412680"/>
                </a:lnTo>
                <a:cubicBezTo>
                  <a:pt x="5625415" y="4474041"/>
                  <a:pt x="5575672" y="4523784"/>
                  <a:pt x="5514311" y="4523784"/>
                </a:cubicBezTo>
                <a:lnTo>
                  <a:pt x="111104" y="4523784"/>
                </a:lnTo>
                <a:cubicBezTo>
                  <a:pt x="49743" y="4523784"/>
                  <a:pt x="0" y="4474041"/>
                  <a:pt x="0" y="4412680"/>
                </a:cubicBezTo>
                <a:lnTo>
                  <a:pt x="0" y="111104"/>
                </a:lnTo>
                <a:cubicBezTo>
                  <a:pt x="0" y="49784"/>
                  <a:pt x="49784" y="0"/>
                  <a:pt x="111104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1437" y="1598446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24" name="Shape 22"/>
          <p:cNvSpPr/>
          <p:nvPr/>
        </p:nvSpPr>
        <p:spPr>
          <a:xfrm>
            <a:off x="6511041" y="1728049"/>
            <a:ext cx="185148" cy="185148"/>
          </a:xfrm>
          <a:custGeom>
            <a:avLst/>
            <a:gdLst/>
            <a:ahLst/>
            <a:cxnLst/>
            <a:rect l="l" t="t" r="r" b="b"/>
            <a:pathLst>
              <a:path w="185148" h="185148">
                <a:moveTo>
                  <a:pt x="162005" y="92574"/>
                </a:moveTo>
                <a:cubicBezTo>
                  <a:pt x="162005" y="54254"/>
                  <a:pt x="130894" y="23144"/>
                  <a:pt x="92574" y="23144"/>
                </a:cubicBezTo>
                <a:cubicBezTo>
                  <a:pt x="54254" y="23144"/>
                  <a:pt x="23144" y="54254"/>
                  <a:pt x="23144" y="92574"/>
                </a:cubicBezTo>
                <a:cubicBezTo>
                  <a:pt x="23144" y="130894"/>
                  <a:pt x="54254" y="162005"/>
                  <a:pt x="92574" y="162005"/>
                </a:cubicBezTo>
                <a:cubicBezTo>
                  <a:pt x="130894" y="162005"/>
                  <a:pt x="162005" y="130894"/>
                  <a:pt x="162005" y="92574"/>
                </a:cubicBezTo>
                <a:close/>
                <a:moveTo>
                  <a:pt x="0" y="92574"/>
                </a:moveTo>
                <a:cubicBezTo>
                  <a:pt x="0" y="41481"/>
                  <a:pt x="41481" y="0"/>
                  <a:pt x="92574" y="0"/>
                </a:cubicBezTo>
                <a:cubicBezTo>
                  <a:pt x="143667" y="0"/>
                  <a:pt x="185148" y="41481"/>
                  <a:pt x="185148" y="92574"/>
                </a:cubicBezTo>
                <a:cubicBezTo>
                  <a:pt x="185148" y="143667"/>
                  <a:pt x="143667" y="185148"/>
                  <a:pt x="92574" y="185148"/>
                </a:cubicBezTo>
                <a:cubicBezTo>
                  <a:pt x="41481" y="185148"/>
                  <a:pt x="0" y="143667"/>
                  <a:pt x="0" y="92574"/>
                </a:cubicBezTo>
                <a:close/>
                <a:moveTo>
                  <a:pt x="92574" y="121503"/>
                </a:moveTo>
                <a:cubicBezTo>
                  <a:pt x="108541" y="121503"/>
                  <a:pt x="121503" y="108541"/>
                  <a:pt x="121503" y="92574"/>
                </a:cubicBezTo>
                <a:cubicBezTo>
                  <a:pt x="121503" y="76607"/>
                  <a:pt x="108541" y="63645"/>
                  <a:pt x="92574" y="63645"/>
                </a:cubicBezTo>
                <a:cubicBezTo>
                  <a:pt x="76607" y="63645"/>
                  <a:pt x="63645" y="76607"/>
                  <a:pt x="63645" y="92574"/>
                </a:cubicBezTo>
                <a:cubicBezTo>
                  <a:pt x="63645" y="108541"/>
                  <a:pt x="76607" y="121503"/>
                  <a:pt x="92574" y="121503"/>
                </a:cubicBezTo>
                <a:close/>
                <a:moveTo>
                  <a:pt x="92574" y="40501"/>
                </a:moveTo>
                <a:cubicBezTo>
                  <a:pt x="121314" y="40501"/>
                  <a:pt x="144647" y="63834"/>
                  <a:pt x="144647" y="92574"/>
                </a:cubicBezTo>
                <a:cubicBezTo>
                  <a:pt x="144647" y="121314"/>
                  <a:pt x="121314" y="144647"/>
                  <a:pt x="92574" y="144647"/>
                </a:cubicBezTo>
                <a:cubicBezTo>
                  <a:pt x="63834" y="144647"/>
                  <a:pt x="40501" y="121314"/>
                  <a:pt x="40501" y="92574"/>
                </a:cubicBezTo>
                <a:cubicBezTo>
                  <a:pt x="40501" y="63834"/>
                  <a:pt x="63834" y="40501"/>
                  <a:pt x="92574" y="40501"/>
                </a:cubicBezTo>
                <a:close/>
                <a:moveTo>
                  <a:pt x="81002" y="92574"/>
                </a:moveTo>
                <a:cubicBezTo>
                  <a:pt x="81002" y="86187"/>
                  <a:pt x="86187" y="81002"/>
                  <a:pt x="92574" y="81002"/>
                </a:cubicBezTo>
                <a:cubicBezTo>
                  <a:pt x="98961" y="81002"/>
                  <a:pt x="104146" y="86187"/>
                  <a:pt x="104146" y="92574"/>
                </a:cubicBezTo>
                <a:cubicBezTo>
                  <a:pt x="104146" y="98961"/>
                  <a:pt x="98961" y="104146"/>
                  <a:pt x="92574" y="104146"/>
                </a:cubicBezTo>
                <a:cubicBezTo>
                  <a:pt x="86187" y="104146"/>
                  <a:pt x="81002" y="98961"/>
                  <a:pt x="81002" y="92574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5" name="Text 23"/>
          <p:cNvSpPr/>
          <p:nvPr/>
        </p:nvSpPr>
        <p:spPr>
          <a:xfrm>
            <a:off x="6936881" y="1672505"/>
            <a:ext cx="999800" cy="2962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项目目标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99952" y="2190920"/>
            <a:ext cx="5230433" cy="1110888"/>
          </a:xfrm>
          <a:custGeom>
            <a:avLst/>
            <a:gdLst/>
            <a:ahLst/>
            <a:cxnLst/>
            <a:rect l="l" t="t" r="r" b="b"/>
            <a:pathLst>
              <a:path w="5230433" h="1110888">
                <a:moveTo>
                  <a:pt x="37030" y="0"/>
                </a:moveTo>
                <a:lnTo>
                  <a:pt x="5156370" y="0"/>
                </a:lnTo>
                <a:cubicBezTo>
                  <a:pt x="5197274" y="0"/>
                  <a:pt x="5230433" y="33159"/>
                  <a:pt x="5230433" y="74063"/>
                </a:cubicBezTo>
                <a:lnTo>
                  <a:pt x="5230433" y="1036825"/>
                </a:lnTo>
                <a:cubicBezTo>
                  <a:pt x="5230433" y="1077729"/>
                  <a:pt x="5197274" y="1110888"/>
                  <a:pt x="5156370" y="1110888"/>
                </a:cubicBezTo>
                <a:lnTo>
                  <a:pt x="37030" y="1110888"/>
                </a:lnTo>
                <a:cubicBezTo>
                  <a:pt x="16579" y="1110888"/>
                  <a:pt x="0" y="1094310"/>
                  <a:pt x="0" y="1073859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6399952" y="2190920"/>
            <a:ext cx="37030" cy="1110888"/>
          </a:xfrm>
          <a:custGeom>
            <a:avLst/>
            <a:gdLst/>
            <a:ahLst/>
            <a:cxnLst/>
            <a:rect l="l" t="t" r="r" b="b"/>
            <a:pathLst>
              <a:path w="37030" h="1110888">
                <a:moveTo>
                  <a:pt x="37030" y="0"/>
                </a:moveTo>
                <a:lnTo>
                  <a:pt x="37030" y="0"/>
                </a:lnTo>
                <a:lnTo>
                  <a:pt x="37030" y="1110888"/>
                </a:lnTo>
                <a:lnTo>
                  <a:pt x="37030" y="1110888"/>
                </a:lnTo>
                <a:cubicBezTo>
                  <a:pt x="16579" y="1110888"/>
                  <a:pt x="0" y="1094310"/>
                  <a:pt x="0" y="1073859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8" name="Text 26"/>
          <p:cNvSpPr/>
          <p:nvPr/>
        </p:nvSpPr>
        <p:spPr>
          <a:xfrm>
            <a:off x="6566585" y="2339038"/>
            <a:ext cx="4998998" cy="259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教育目的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66585" y="2672304"/>
            <a:ext cx="4989740" cy="481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通过实际项目开发，巩固Java编程理论知识，提升编程能力和项目管理技能，培养全栈开发实践能力。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9952" y="3412897"/>
            <a:ext cx="5230433" cy="1110888"/>
          </a:xfrm>
          <a:custGeom>
            <a:avLst/>
            <a:gdLst/>
            <a:ahLst/>
            <a:cxnLst/>
            <a:rect l="l" t="t" r="r" b="b"/>
            <a:pathLst>
              <a:path w="5230433" h="1110888">
                <a:moveTo>
                  <a:pt x="37030" y="0"/>
                </a:moveTo>
                <a:lnTo>
                  <a:pt x="5156370" y="0"/>
                </a:lnTo>
                <a:cubicBezTo>
                  <a:pt x="5197274" y="0"/>
                  <a:pt x="5230433" y="33159"/>
                  <a:pt x="5230433" y="74063"/>
                </a:cubicBezTo>
                <a:lnTo>
                  <a:pt x="5230433" y="1036825"/>
                </a:lnTo>
                <a:cubicBezTo>
                  <a:pt x="5230433" y="1077729"/>
                  <a:pt x="5197274" y="1110888"/>
                  <a:pt x="5156370" y="1110888"/>
                </a:cubicBezTo>
                <a:lnTo>
                  <a:pt x="37030" y="1110888"/>
                </a:lnTo>
                <a:cubicBezTo>
                  <a:pt x="16579" y="1110888"/>
                  <a:pt x="0" y="1094310"/>
                  <a:pt x="0" y="1073859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399952" y="3412897"/>
            <a:ext cx="37030" cy="1110888"/>
          </a:xfrm>
          <a:custGeom>
            <a:avLst/>
            <a:gdLst/>
            <a:ahLst/>
            <a:cxnLst/>
            <a:rect l="l" t="t" r="r" b="b"/>
            <a:pathLst>
              <a:path w="37030" h="1110888">
                <a:moveTo>
                  <a:pt x="37030" y="0"/>
                </a:moveTo>
                <a:lnTo>
                  <a:pt x="37030" y="0"/>
                </a:lnTo>
                <a:lnTo>
                  <a:pt x="37030" y="1110888"/>
                </a:lnTo>
                <a:lnTo>
                  <a:pt x="37030" y="1110888"/>
                </a:lnTo>
                <a:cubicBezTo>
                  <a:pt x="16579" y="1110888"/>
                  <a:pt x="0" y="1094310"/>
                  <a:pt x="0" y="1073859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32" name="Text 30"/>
          <p:cNvSpPr/>
          <p:nvPr/>
        </p:nvSpPr>
        <p:spPr>
          <a:xfrm>
            <a:off x="6566585" y="3561015"/>
            <a:ext cx="4998998" cy="259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实用目的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66585" y="3894282"/>
            <a:ext cx="4989740" cy="481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开发功能全面、操作简便的英语学习平台，具备实际应用价值，为用户提供便捷高效的英语学习工具。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99952" y="4634874"/>
            <a:ext cx="5230433" cy="1110888"/>
          </a:xfrm>
          <a:custGeom>
            <a:avLst/>
            <a:gdLst/>
            <a:ahLst/>
            <a:cxnLst/>
            <a:rect l="l" t="t" r="r" b="b"/>
            <a:pathLst>
              <a:path w="5230433" h="1110888">
                <a:moveTo>
                  <a:pt x="37030" y="0"/>
                </a:moveTo>
                <a:lnTo>
                  <a:pt x="5156370" y="0"/>
                </a:lnTo>
                <a:cubicBezTo>
                  <a:pt x="5197274" y="0"/>
                  <a:pt x="5230433" y="33159"/>
                  <a:pt x="5230433" y="74063"/>
                </a:cubicBezTo>
                <a:lnTo>
                  <a:pt x="5230433" y="1036825"/>
                </a:lnTo>
                <a:cubicBezTo>
                  <a:pt x="5230433" y="1077729"/>
                  <a:pt x="5197274" y="1110888"/>
                  <a:pt x="5156370" y="1110888"/>
                </a:cubicBezTo>
                <a:lnTo>
                  <a:pt x="37030" y="1110888"/>
                </a:lnTo>
                <a:cubicBezTo>
                  <a:pt x="16579" y="1110888"/>
                  <a:pt x="0" y="1094310"/>
                  <a:pt x="0" y="1073859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6399952" y="4634874"/>
            <a:ext cx="37030" cy="1110888"/>
          </a:xfrm>
          <a:custGeom>
            <a:avLst/>
            <a:gdLst/>
            <a:ahLst/>
            <a:cxnLst/>
            <a:rect l="l" t="t" r="r" b="b"/>
            <a:pathLst>
              <a:path w="37030" h="1110888">
                <a:moveTo>
                  <a:pt x="37030" y="0"/>
                </a:moveTo>
                <a:lnTo>
                  <a:pt x="37030" y="0"/>
                </a:lnTo>
                <a:lnTo>
                  <a:pt x="37030" y="1110888"/>
                </a:lnTo>
                <a:lnTo>
                  <a:pt x="37030" y="1110888"/>
                </a:lnTo>
                <a:cubicBezTo>
                  <a:pt x="16579" y="1110888"/>
                  <a:pt x="0" y="1094310"/>
                  <a:pt x="0" y="1073859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36" name="Text 34"/>
          <p:cNvSpPr/>
          <p:nvPr/>
        </p:nvSpPr>
        <p:spPr>
          <a:xfrm>
            <a:off x="6566585" y="4782992"/>
            <a:ext cx="4998998" cy="259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社会价值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66585" y="5116259"/>
            <a:ext cx="4989740" cy="481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打破地域资源壁垒，推动英语教育公平与效率的双重提升，构建覆盖广泛需求的数字化学习解决方案。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90117" y="6085201"/>
            <a:ext cx="2758706" cy="777622"/>
          </a:xfrm>
          <a:custGeom>
            <a:avLst/>
            <a:gdLst/>
            <a:ahLst/>
            <a:cxnLst/>
            <a:rect l="l" t="t" r="r" b="b"/>
            <a:pathLst>
              <a:path w="2758706" h="777622">
                <a:moveTo>
                  <a:pt x="74061" y="0"/>
                </a:moveTo>
                <a:lnTo>
                  <a:pt x="2684645" y="0"/>
                </a:lnTo>
                <a:cubicBezTo>
                  <a:pt x="2725548" y="0"/>
                  <a:pt x="2758706" y="33158"/>
                  <a:pt x="2758706" y="74061"/>
                </a:cubicBezTo>
                <a:lnTo>
                  <a:pt x="2758706" y="703561"/>
                </a:lnTo>
                <a:cubicBezTo>
                  <a:pt x="2758706" y="744464"/>
                  <a:pt x="2725548" y="777622"/>
                  <a:pt x="2684645" y="777622"/>
                </a:cubicBezTo>
                <a:lnTo>
                  <a:pt x="74061" y="777622"/>
                </a:lnTo>
                <a:cubicBezTo>
                  <a:pt x="33185" y="777622"/>
                  <a:pt x="0" y="744436"/>
                  <a:pt x="0" y="703561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6231775" y="6196290"/>
            <a:ext cx="2675390" cy="33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5+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68805" y="6566586"/>
            <a:ext cx="2601330" cy="185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62998" y="6085201"/>
            <a:ext cx="2758706" cy="777622"/>
          </a:xfrm>
          <a:custGeom>
            <a:avLst/>
            <a:gdLst/>
            <a:ahLst/>
            <a:cxnLst/>
            <a:rect l="l" t="t" r="r" b="b"/>
            <a:pathLst>
              <a:path w="2758706" h="777622">
                <a:moveTo>
                  <a:pt x="74061" y="0"/>
                </a:moveTo>
                <a:lnTo>
                  <a:pt x="2684645" y="0"/>
                </a:lnTo>
                <a:cubicBezTo>
                  <a:pt x="2725548" y="0"/>
                  <a:pt x="2758706" y="33158"/>
                  <a:pt x="2758706" y="74061"/>
                </a:cubicBezTo>
                <a:lnTo>
                  <a:pt x="2758706" y="703561"/>
                </a:lnTo>
                <a:cubicBezTo>
                  <a:pt x="2758706" y="744464"/>
                  <a:pt x="2725548" y="777622"/>
                  <a:pt x="2684645" y="777622"/>
                </a:cubicBezTo>
                <a:lnTo>
                  <a:pt x="74061" y="777622"/>
                </a:lnTo>
                <a:cubicBezTo>
                  <a:pt x="33185" y="777622"/>
                  <a:pt x="0" y="744436"/>
                  <a:pt x="0" y="703561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9104656" y="6196290"/>
            <a:ext cx="2675390" cy="33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41686" y="6566586"/>
            <a:ext cx="2601330" cy="185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数据库表设计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206375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kern="0" spc="100" dirty="0">
                <a:solidFill>
                  <a:srgbClr val="4ECDC4"/>
                </a:solidFill>
                <a:latin typeface="华文中宋" panose="02010600040101010101" charset="-122"/>
                <a:ea typeface="华文中宋" panose="02010600040101010101" charset="-122"/>
                <a:cs typeface="Quattrocento Sans" pitchFamily="34" charset="-120"/>
              </a:rPr>
              <a:t>TECHNICAL ARCHITECTURE</a:t>
            </a:r>
            <a:endParaRPr lang="en-US" sz="1400" b="1" kern="0" spc="100" dirty="0">
              <a:solidFill>
                <a:srgbClr val="4ECDC4"/>
              </a:solidFill>
              <a:latin typeface="华文中宋" panose="02010600040101010101" charset="-122"/>
              <a:ea typeface="华文中宋" panose="02010600040101010101" charset="-122"/>
              <a:cs typeface="Quattrocento 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8125" y="460375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Alimama ShuHeiTi" pitchFamily="34" charset="-120"/>
              </a:rPr>
              <a:t>技术架构全景</a:t>
            </a:r>
            <a:endParaRPr lang="en-US" sz="28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Alimama ShuHeiT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38125" y="87312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5" name="Shape 3"/>
          <p:cNvSpPr/>
          <p:nvPr/>
        </p:nvSpPr>
        <p:spPr>
          <a:xfrm>
            <a:off x="240665" y="1066165"/>
            <a:ext cx="11554460" cy="5282565"/>
          </a:xfrm>
          <a:custGeom>
            <a:avLst/>
            <a:gdLst/>
            <a:ahLst/>
            <a:cxnLst/>
            <a:rect l="l" t="t" r="r" b="b"/>
            <a:pathLst>
              <a:path w="11554354" h="2704042">
                <a:moveTo>
                  <a:pt x="95263" y="0"/>
                </a:moveTo>
                <a:lnTo>
                  <a:pt x="11459091" y="0"/>
                </a:lnTo>
                <a:cubicBezTo>
                  <a:pt x="11511703" y="0"/>
                  <a:pt x="11554354" y="42651"/>
                  <a:pt x="11554354" y="95263"/>
                </a:cubicBezTo>
                <a:lnTo>
                  <a:pt x="11554354" y="2608778"/>
                </a:lnTo>
                <a:cubicBezTo>
                  <a:pt x="11554354" y="2661391"/>
                  <a:pt x="11511703" y="2704042"/>
                  <a:pt x="11459091" y="2704042"/>
                </a:cubicBezTo>
                <a:lnTo>
                  <a:pt x="95263" y="2704042"/>
                </a:lnTo>
                <a:cubicBezTo>
                  <a:pt x="42651" y="2704042"/>
                  <a:pt x="0" y="2661391"/>
                  <a:pt x="0" y="2608778"/>
                </a:cubicBezTo>
                <a:lnTo>
                  <a:pt x="0" y="95263"/>
                </a:lnTo>
                <a:cubicBezTo>
                  <a:pt x="0" y="42651"/>
                  <a:pt x="42651" y="0"/>
                  <a:pt x="95263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2010" y="125941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" name="Text 5"/>
          <p:cNvSpPr/>
          <p:nvPr/>
        </p:nvSpPr>
        <p:spPr>
          <a:xfrm>
            <a:off x="600604" y="1227667"/>
            <a:ext cx="11112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Alimama ShuHeiTi" pitchFamily="34" charset="-120"/>
              </a:rPr>
              <a:t>技术栈选型</a:t>
            </a:r>
            <a:endParaRPr lang="en-US" sz="16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Alimama ShuHeiTi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418042" y="1576917"/>
            <a:ext cx="3643313" cy="952500"/>
          </a:xfrm>
          <a:custGeom>
            <a:avLst/>
            <a:gdLst/>
            <a:ahLst/>
            <a:cxnLst/>
            <a:rect l="l" t="t" r="r" b="b"/>
            <a:pathLst>
              <a:path w="3643313" h="952500">
                <a:moveTo>
                  <a:pt x="31750" y="0"/>
                </a:moveTo>
                <a:lnTo>
                  <a:pt x="3579809" y="0"/>
                </a:lnTo>
                <a:cubicBezTo>
                  <a:pt x="3614881" y="0"/>
                  <a:pt x="3643312" y="28431"/>
                  <a:pt x="3643312" y="63503"/>
                </a:cubicBezTo>
                <a:lnTo>
                  <a:pt x="3643313" y="888997"/>
                </a:lnTo>
                <a:cubicBezTo>
                  <a:pt x="3643312" y="924069"/>
                  <a:pt x="3614881" y="952500"/>
                  <a:pt x="3579809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418042" y="1576917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0" name="Shape 8"/>
          <p:cNvSpPr/>
          <p:nvPr>
            <p:custDataLst>
              <p:tags r:id="rId3"/>
            </p:custDataLst>
          </p:nvPr>
        </p:nvSpPr>
        <p:spPr>
          <a:xfrm>
            <a:off x="562901" y="1727730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16058" y="58741"/>
                </a:moveTo>
                <a:cubicBezTo>
                  <a:pt x="119462" y="57820"/>
                  <a:pt x="123034" y="59438"/>
                  <a:pt x="124569" y="62592"/>
                </a:cubicBezTo>
                <a:lnTo>
                  <a:pt x="129760" y="73084"/>
                </a:lnTo>
                <a:cubicBezTo>
                  <a:pt x="132634" y="73475"/>
                  <a:pt x="135452" y="74256"/>
                  <a:pt x="138103" y="75344"/>
                </a:cubicBezTo>
                <a:lnTo>
                  <a:pt x="147870" y="68842"/>
                </a:lnTo>
                <a:cubicBezTo>
                  <a:pt x="150800" y="66889"/>
                  <a:pt x="154679" y="67280"/>
                  <a:pt x="157162" y="69763"/>
                </a:cubicBezTo>
                <a:lnTo>
                  <a:pt x="162520" y="75121"/>
                </a:lnTo>
                <a:cubicBezTo>
                  <a:pt x="165004" y="77605"/>
                  <a:pt x="165395" y="81511"/>
                  <a:pt x="163441" y="84413"/>
                </a:cubicBezTo>
                <a:lnTo>
                  <a:pt x="156939" y="94152"/>
                </a:lnTo>
                <a:cubicBezTo>
                  <a:pt x="157469" y="95464"/>
                  <a:pt x="157944" y="96831"/>
                  <a:pt x="158335" y="98254"/>
                </a:cubicBezTo>
                <a:cubicBezTo>
                  <a:pt x="158725" y="99678"/>
                  <a:pt x="158976" y="101073"/>
                  <a:pt x="159172" y="102496"/>
                </a:cubicBezTo>
                <a:lnTo>
                  <a:pt x="169692" y="107686"/>
                </a:lnTo>
                <a:cubicBezTo>
                  <a:pt x="172845" y="109249"/>
                  <a:pt x="174464" y="112821"/>
                  <a:pt x="173543" y="116198"/>
                </a:cubicBezTo>
                <a:lnTo>
                  <a:pt x="171590" y="123509"/>
                </a:lnTo>
                <a:cubicBezTo>
                  <a:pt x="170669" y="126885"/>
                  <a:pt x="167515" y="129174"/>
                  <a:pt x="163999" y="128950"/>
                </a:cubicBezTo>
                <a:lnTo>
                  <a:pt x="152279" y="128197"/>
                </a:lnTo>
                <a:cubicBezTo>
                  <a:pt x="150521" y="130457"/>
                  <a:pt x="148484" y="132550"/>
                  <a:pt x="146168" y="134336"/>
                </a:cubicBezTo>
                <a:lnTo>
                  <a:pt x="146921" y="146028"/>
                </a:lnTo>
                <a:cubicBezTo>
                  <a:pt x="147145" y="149544"/>
                  <a:pt x="144856" y="152726"/>
                  <a:pt x="141480" y="153619"/>
                </a:cubicBezTo>
                <a:lnTo>
                  <a:pt x="134169" y="155572"/>
                </a:lnTo>
                <a:cubicBezTo>
                  <a:pt x="130764" y="156493"/>
                  <a:pt x="127220" y="154874"/>
                  <a:pt x="125657" y="151721"/>
                </a:cubicBezTo>
                <a:lnTo>
                  <a:pt x="120467" y="141229"/>
                </a:lnTo>
                <a:cubicBezTo>
                  <a:pt x="117593" y="140838"/>
                  <a:pt x="114774" y="140057"/>
                  <a:pt x="112123" y="138968"/>
                </a:cubicBezTo>
                <a:lnTo>
                  <a:pt x="102357" y="145470"/>
                </a:lnTo>
                <a:cubicBezTo>
                  <a:pt x="99426" y="147424"/>
                  <a:pt x="95548" y="147033"/>
                  <a:pt x="93064" y="144549"/>
                </a:cubicBezTo>
                <a:lnTo>
                  <a:pt x="87706" y="139192"/>
                </a:lnTo>
                <a:cubicBezTo>
                  <a:pt x="85223" y="136708"/>
                  <a:pt x="84832" y="132829"/>
                  <a:pt x="86785" y="129899"/>
                </a:cubicBezTo>
                <a:lnTo>
                  <a:pt x="93287" y="120132"/>
                </a:lnTo>
                <a:cubicBezTo>
                  <a:pt x="92757" y="118821"/>
                  <a:pt x="92283" y="117453"/>
                  <a:pt x="91892" y="116030"/>
                </a:cubicBezTo>
                <a:cubicBezTo>
                  <a:pt x="91501" y="114607"/>
                  <a:pt x="91250" y="113184"/>
                  <a:pt x="91055" y="111789"/>
                </a:cubicBezTo>
                <a:lnTo>
                  <a:pt x="80535" y="106598"/>
                </a:lnTo>
                <a:cubicBezTo>
                  <a:pt x="77381" y="105035"/>
                  <a:pt x="75791" y="101464"/>
                  <a:pt x="76684" y="98087"/>
                </a:cubicBezTo>
                <a:lnTo>
                  <a:pt x="78637" y="90776"/>
                </a:lnTo>
                <a:cubicBezTo>
                  <a:pt x="79558" y="87399"/>
                  <a:pt x="82711" y="85111"/>
                  <a:pt x="86227" y="85334"/>
                </a:cubicBezTo>
                <a:lnTo>
                  <a:pt x="97920" y="86088"/>
                </a:lnTo>
                <a:cubicBezTo>
                  <a:pt x="99678" y="83827"/>
                  <a:pt x="101715" y="81735"/>
                  <a:pt x="104031" y="79949"/>
                </a:cubicBezTo>
                <a:lnTo>
                  <a:pt x="103277" y="68284"/>
                </a:lnTo>
                <a:cubicBezTo>
                  <a:pt x="103054" y="64768"/>
                  <a:pt x="105342" y="61587"/>
                  <a:pt x="108719" y="60694"/>
                </a:cubicBezTo>
                <a:lnTo>
                  <a:pt x="116030" y="58741"/>
                </a:lnTo>
                <a:close/>
                <a:moveTo>
                  <a:pt x="125127" y="94878"/>
                </a:moveTo>
                <a:cubicBezTo>
                  <a:pt x="118351" y="94886"/>
                  <a:pt x="112855" y="100394"/>
                  <a:pt x="112863" y="107170"/>
                </a:cubicBezTo>
                <a:cubicBezTo>
                  <a:pt x="112871" y="113947"/>
                  <a:pt x="118379" y="119442"/>
                  <a:pt x="125155" y="119435"/>
                </a:cubicBezTo>
                <a:cubicBezTo>
                  <a:pt x="131932" y="119427"/>
                  <a:pt x="137427" y="113919"/>
                  <a:pt x="137420" y="107142"/>
                </a:cubicBezTo>
                <a:cubicBezTo>
                  <a:pt x="137412" y="100366"/>
                  <a:pt x="131904" y="94870"/>
                  <a:pt x="125127" y="94878"/>
                </a:cubicBezTo>
                <a:close/>
                <a:moveTo>
                  <a:pt x="62759" y="-12697"/>
                </a:moveTo>
                <a:lnTo>
                  <a:pt x="70070" y="-10744"/>
                </a:lnTo>
                <a:cubicBezTo>
                  <a:pt x="73447" y="-9823"/>
                  <a:pt x="75735" y="-6641"/>
                  <a:pt x="75512" y="-3153"/>
                </a:cubicBezTo>
                <a:lnTo>
                  <a:pt x="74758" y="8511"/>
                </a:lnTo>
                <a:cubicBezTo>
                  <a:pt x="77074" y="10297"/>
                  <a:pt x="79111" y="12362"/>
                  <a:pt x="80869" y="14650"/>
                </a:cubicBezTo>
                <a:lnTo>
                  <a:pt x="92590" y="13897"/>
                </a:lnTo>
                <a:cubicBezTo>
                  <a:pt x="96078" y="13674"/>
                  <a:pt x="99259" y="15962"/>
                  <a:pt x="100180" y="19338"/>
                </a:cubicBezTo>
                <a:lnTo>
                  <a:pt x="102133" y="26650"/>
                </a:lnTo>
                <a:cubicBezTo>
                  <a:pt x="103026" y="30026"/>
                  <a:pt x="101436" y="33598"/>
                  <a:pt x="98282" y="35161"/>
                </a:cubicBezTo>
                <a:lnTo>
                  <a:pt x="87762" y="40351"/>
                </a:lnTo>
                <a:cubicBezTo>
                  <a:pt x="87567" y="41774"/>
                  <a:pt x="87288" y="43197"/>
                  <a:pt x="86925" y="44593"/>
                </a:cubicBezTo>
                <a:cubicBezTo>
                  <a:pt x="86562" y="45988"/>
                  <a:pt x="86060" y="47383"/>
                  <a:pt x="85530" y="48695"/>
                </a:cubicBezTo>
                <a:lnTo>
                  <a:pt x="92032" y="58462"/>
                </a:lnTo>
                <a:cubicBezTo>
                  <a:pt x="93985" y="61392"/>
                  <a:pt x="93594" y="65270"/>
                  <a:pt x="91111" y="67754"/>
                </a:cubicBezTo>
                <a:lnTo>
                  <a:pt x="85753" y="73112"/>
                </a:lnTo>
                <a:cubicBezTo>
                  <a:pt x="83269" y="75595"/>
                  <a:pt x="79391" y="75986"/>
                  <a:pt x="76460" y="74033"/>
                </a:cubicBezTo>
                <a:lnTo>
                  <a:pt x="66694" y="67531"/>
                </a:lnTo>
                <a:cubicBezTo>
                  <a:pt x="64043" y="68619"/>
                  <a:pt x="61224" y="69400"/>
                  <a:pt x="58350" y="69791"/>
                </a:cubicBezTo>
                <a:lnTo>
                  <a:pt x="53160" y="80283"/>
                </a:lnTo>
                <a:cubicBezTo>
                  <a:pt x="51597" y="83437"/>
                  <a:pt x="48025" y="85027"/>
                  <a:pt x="44648" y="84134"/>
                </a:cubicBezTo>
                <a:lnTo>
                  <a:pt x="37337" y="82181"/>
                </a:lnTo>
                <a:cubicBezTo>
                  <a:pt x="33933" y="81260"/>
                  <a:pt x="31672" y="78079"/>
                  <a:pt x="31896" y="74591"/>
                </a:cubicBezTo>
                <a:lnTo>
                  <a:pt x="32649" y="62898"/>
                </a:lnTo>
                <a:cubicBezTo>
                  <a:pt x="30333" y="61113"/>
                  <a:pt x="28296" y="59048"/>
                  <a:pt x="26538" y="56759"/>
                </a:cubicBezTo>
                <a:lnTo>
                  <a:pt x="14818" y="57513"/>
                </a:lnTo>
                <a:cubicBezTo>
                  <a:pt x="11330" y="57736"/>
                  <a:pt x="8148" y="55448"/>
                  <a:pt x="7227" y="52071"/>
                </a:cubicBezTo>
                <a:lnTo>
                  <a:pt x="5274" y="44760"/>
                </a:lnTo>
                <a:cubicBezTo>
                  <a:pt x="4381" y="41384"/>
                  <a:pt x="5972" y="37812"/>
                  <a:pt x="9125" y="36249"/>
                </a:cubicBezTo>
                <a:lnTo>
                  <a:pt x="19645" y="31059"/>
                </a:lnTo>
                <a:cubicBezTo>
                  <a:pt x="19841" y="29635"/>
                  <a:pt x="20120" y="28240"/>
                  <a:pt x="20482" y="26817"/>
                </a:cubicBezTo>
                <a:cubicBezTo>
                  <a:pt x="20873" y="25394"/>
                  <a:pt x="21320" y="24026"/>
                  <a:pt x="21878" y="22715"/>
                </a:cubicBezTo>
                <a:lnTo>
                  <a:pt x="15376" y="12976"/>
                </a:lnTo>
                <a:cubicBezTo>
                  <a:pt x="13422" y="10046"/>
                  <a:pt x="13813" y="6167"/>
                  <a:pt x="16297" y="3683"/>
                </a:cubicBezTo>
                <a:lnTo>
                  <a:pt x="21654" y="-1674"/>
                </a:lnTo>
                <a:cubicBezTo>
                  <a:pt x="24138" y="-4158"/>
                  <a:pt x="28017" y="-4549"/>
                  <a:pt x="30947" y="-2595"/>
                </a:cubicBezTo>
                <a:lnTo>
                  <a:pt x="40714" y="3907"/>
                </a:lnTo>
                <a:cubicBezTo>
                  <a:pt x="43365" y="2818"/>
                  <a:pt x="46183" y="2037"/>
                  <a:pt x="49057" y="1646"/>
                </a:cubicBezTo>
                <a:lnTo>
                  <a:pt x="54248" y="-8846"/>
                </a:lnTo>
                <a:cubicBezTo>
                  <a:pt x="55811" y="-11999"/>
                  <a:pt x="59355" y="-13590"/>
                  <a:pt x="62759" y="-12697"/>
                </a:cubicBezTo>
                <a:close/>
                <a:moveTo>
                  <a:pt x="53690" y="23440"/>
                </a:moveTo>
                <a:cubicBezTo>
                  <a:pt x="46913" y="23440"/>
                  <a:pt x="41411" y="28942"/>
                  <a:pt x="41411" y="35719"/>
                </a:cubicBezTo>
                <a:cubicBezTo>
                  <a:pt x="41411" y="42495"/>
                  <a:pt x="46913" y="47997"/>
                  <a:pt x="53690" y="47997"/>
                </a:cubicBezTo>
                <a:cubicBezTo>
                  <a:pt x="60466" y="47997"/>
                  <a:pt x="65968" y="42495"/>
                  <a:pt x="65968" y="35719"/>
                </a:cubicBezTo>
                <a:cubicBezTo>
                  <a:pt x="65968" y="28942"/>
                  <a:pt x="60466" y="23440"/>
                  <a:pt x="53690" y="2344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803275" y="1703705"/>
            <a:ext cx="139128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项目构建工具</a:t>
            </a:r>
            <a:endParaRPr lang="en-US" sz="14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MiSans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560917" y="1957917"/>
            <a:ext cx="34686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4ECDC4"/>
                </a:solidFill>
                <a:latin typeface="华文中宋" panose="02010600040101010101" charset="-122"/>
                <a:ea typeface="华文中宋" panose="02010600040101010101" charset="-122"/>
                <a:cs typeface="Liter" pitchFamily="34" charset="-120"/>
              </a:rPr>
              <a:t>Maven</a:t>
            </a:r>
            <a:endParaRPr lang="en-US" b="1" dirty="0">
              <a:solidFill>
                <a:srgbClr val="4ECDC4"/>
              </a:solidFill>
              <a:latin typeface="华文中宋" panose="02010600040101010101" charset="-122"/>
              <a:ea typeface="华文中宋" panose="02010600040101010101" charset="-122"/>
              <a:cs typeface="Liter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560917" y="2243667"/>
            <a:ext cx="3429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依赖管理 · 项目构建</a:t>
            </a:r>
            <a:endParaRPr lang="en-US" sz="108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4203320" y="1576917"/>
            <a:ext cx="3643313" cy="952500"/>
          </a:xfrm>
          <a:custGeom>
            <a:avLst/>
            <a:gdLst/>
            <a:ahLst/>
            <a:cxnLst/>
            <a:rect l="l" t="t" r="r" b="b"/>
            <a:pathLst>
              <a:path w="3643313" h="952500">
                <a:moveTo>
                  <a:pt x="31750" y="0"/>
                </a:moveTo>
                <a:lnTo>
                  <a:pt x="3579809" y="0"/>
                </a:lnTo>
                <a:cubicBezTo>
                  <a:pt x="3614881" y="0"/>
                  <a:pt x="3643312" y="28431"/>
                  <a:pt x="3643312" y="63503"/>
                </a:cubicBezTo>
                <a:lnTo>
                  <a:pt x="3643313" y="888997"/>
                </a:lnTo>
                <a:cubicBezTo>
                  <a:pt x="3643312" y="924069"/>
                  <a:pt x="3614881" y="952500"/>
                  <a:pt x="3579809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4203320" y="1576917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4383898" y="1727730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77521" y="87316"/>
                </a:moveTo>
                <a:cubicBezTo>
                  <a:pt x="80256" y="85446"/>
                  <a:pt x="84051" y="83827"/>
                  <a:pt x="84051" y="83827"/>
                </a:cubicBezTo>
                <a:cubicBezTo>
                  <a:pt x="84051" y="83827"/>
                  <a:pt x="73251" y="85781"/>
                  <a:pt x="62508" y="86674"/>
                </a:cubicBezTo>
                <a:cubicBezTo>
                  <a:pt x="49364" y="87762"/>
                  <a:pt x="35244" y="87985"/>
                  <a:pt x="28156" y="87037"/>
                </a:cubicBezTo>
                <a:cubicBezTo>
                  <a:pt x="11385" y="84804"/>
                  <a:pt x="37365" y="78637"/>
                  <a:pt x="37365" y="78637"/>
                </a:cubicBezTo>
                <a:cubicBezTo>
                  <a:pt x="37365" y="78637"/>
                  <a:pt x="27291" y="77967"/>
                  <a:pt x="14874" y="83939"/>
                </a:cubicBezTo>
                <a:cubicBezTo>
                  <a:pt x="223" y="91027"/>
                  <a:pt x="51150" y="94264"/>
                  <a:pt x="77521" y="87316"/>
                </a:cubicBezTo>
                <a:close/>
                <a:moveTo>
                  <a:pt x="53690" y="78358"/>
                </a:moveTo>
                <a:cubicBezTo>
                  <a:pt x="48388" y="66442"/>
                  <a:pt x="30500" y="55978"/>
                  <a:pt x="53690" y="37672"/>
                </a:cubicBezTo>
                <a:cubicBezTo>
                  <a:pt x="82628" y="14846"/>
                  <a:pt x="67782" y="0"/>
                  <a:pt x="67782" y="0"/>
                </a:cubicBezTo>
                <a:cubicBezTo>
                  <a:pt x="73782" y="23580"/>
                  <a:pt x="46686" y="30724"/>
                  <a:pt x="36891" y="45374"/>
                </a:cubicBezTo>
                <a:cubicBezTo>
                  <a:pt x="30221" y="55392"/>
                  <a:pt x="40156" y="66135"/>
                  <a:pt x="53690" y="78358"/>
                </a:cubicBezTo>
                <a:close/>
                <a:moveTo>
                  <a:pt x="85669" y="29189"/>
                </a:moveTo>
                <a:cubicBezTo>
                  <a:pt x="85697" y="29189"/>
                  <a:pt x="36779" y="41411"/>
                  <a:pt x="60136" y="68312"/>
                </a:cubicBezTo>
                <a:cubicBezTo>
                  <a:pt x="67028" y="76237"/>
                  <a:pt x="58322" y="83381"/>
                  <a:pt x="58322" y="83381"/>
                </a:cubicBezTo>
                <a:cubicBezTo>
                  <a:pt x="58322" y="83381"/>
                  <a:pt x="75819" y="74340"/>
                  <a:pt x="67782" y="63038"/>
                </a:cubicBezTo>
                <a:cubicBezTo>
                  <a:pt x="60275" y="52490"/>
                  <a:pt x="54527" y="47244"/>
                  <a:pt x="85669" y="29189"/>
                </a:cubicBezTo>
                <a:close/>
                <a:moveTo>
                  <a:pt x="83967" y="104673"/>
                </a:moveTo>
                <a:cubicBezTo>
                  <a:pt x="83827" y="104952"/>
                  <a:pt x="83632" y="105175"/>
                  <a:pt x="83409" y="105398"/>
                </a:cubicBezTo>
                <a:cubicBezTo>
                  <a:pt x="119211" y="95994"/>
                  <a:pt x="106040" y="72219"/>
                  <a:pt x="88934" y="78246"/>
                </a:cubicBezTo>
                <a:cubicBezTo>
                  <a:pt x="88013" y="78581"/>
                  <a:pt x="87204" y="79195"/>
                  <a:pt x="86646" y="80004"/>
                </a:cubicBezTo>
                <a:cubicBezTo>
                  <a:pt x="87650" y="79642"/>
                  <a:pt x="88683" y="79363"/>
                  <a:pt x="89715" y="79167"/>
                </a:cubicBezTo>
                <a:cubicBezTo>
                  <a:pt x="98366" y="77353"/>
                  <a:pt x="110784" y="90748"/>
                  <a:pt x="83967" y="104673"/>
                </a:cubicBezTo>
                <a:close/>
                <a:moveTo>
                  <a:pt x="97110" y="122058"/>
                </a:moveTo>
                <a:cubicBezTo>
                  <a:pt x="97110" y="122058"/>
                  <a:pt x="101157" y="125378"/>
                  <a:pt x="92673" y="127974"/>
                </a:cubicBezTo>
                <a:cubicBezTo>
                  <a:pt x="76516" y="132857"/>
                  <a:pt x="25478" y="134336"/>
                  <a:pt x="11302" y="128169"/>
                </a:cubicBezTo>
                <a:cubicBezTo>
                  <a:pt x="6195" y="125964"/>
                  <a:pt x="15766" y="122867"/>
                  <a:pt x="18780" y="122225"/>
                </a:cubicBezTo>
                <a:cubicBezTo>
                  <a:pt x="21906" y="121555"/>
                  <a:pt x="23719" y="121667"/>
                  <a:pt x="23719" y="121667"/>
                </a:cubicBezTo>
                <a:cubicBezTo>
                  <a:pt x="18055" y="117677"/>
                  <a:pt x="-12920" y="129508"/>
                  <a:pt x="7981" y="132885"/>
                </a:cubicBezTo>
                <a:cubicBezTo>
                  <a:pt x="64963" y="142149"/>
                  <a:pt x="111900" y="128727"/>
                  <a:pt x="97110" y="122058"/>
                </a:cubicBezTo>
                <a:close/>
                <a:moveTo>
                  <a:pt x="34742" y="110505"/>
                </a:moveTo>
                <a:cubicBezTo>
                  <a:pt x="12781" y="116644"/>
                  <a:pt x="48109" y="129313"/>
                  <a:pt x="76070" y="117342"/>
                </a:cubicBezTo>
                <a:cubicBezTo>
                  <a:pt x="73335" y="116281"/>
                  <a:pt x="70712" y="114998"/>
                  <a:pt x="68200" y="113491"/>
                </a:cubicBezTo>
                <a:cubicBezTo>
                  <a:pt x="55727" y="115863"/>
                  <a:pt x="49950" y="116030"/>
                  <a:pt x="38621" y="114746"/>
                </a:cubicBezTo>
                <a:cubicBezTo>
                  <a:pt x="29273" y="113686"/>
                  <a:pt x="34742" y="110505"/>
                  <a:pt x="34742" y="110505"/>
                </a:cubicBezTo>
                <a:close/>
                <a:moveTo>
                  <a:pt x="84916" y="137629"/>
                </a:moveTo>
                <a:cubicBezTo>
                  <a:pt x="62954" y="141759"/>
                  <a:pt x="35858" y="141284"/>
                  <a:pt x="19813" y="138633"/>
                </a:cubicBezTo>
                <a:cubicBezTo>
                  <a:pt x="19813" y="138605"/>
                  <a:pt x="23106" y="141340"/>
                  <a:pt x="40016" y="142429"/>
                </a:cubicBezTo>
                <a:cubicBezTo>
                  <a:pt x="65745" y="144075"/>
                  <a:pt x="105259" y="141508"/>
                  <a:pt x="106180" y="129341"/>
                </a:cubicBezTo>
                <a:cubicBezTo>
                  <a:pt x="106180" y="129341"/>
                  <a:pt x="104394" y="133945"/>
                  <a:pt x="84916" y="137629"/>
                </a:cubicBezTo>
                <a:close/>
                <a:moveTo>
                  <a:pt x="72749" y="98506"/>
                </a:moveTo>
                <a:cubicBezTo>
                  <a:pt x="56229" y="101687"/>
                  <a:pt x="46658" y="101603"/>
                  <a:pt x="34575" y="100347"/>
                </a:cubicBezTo>
                <a:cubicBezTo>
                  <a:pt x="25226" y="99371"/>
                  <a:pt x="31338" y="94850"/>
                  <a:pt x="31338" y="94850"/>
                </a:cubicBezTo>
                <a:cubicBezTo>
                  <a:pt x="7116" y="102887"/>
                  <a:pt x="44788" y="111984"/>
                  <a:pt x="78637" y="102077"/>
                </a:cubicBezTo>
                <a:cubicBezTo>
                  <a:pt x="76460" y="101296"/>
                  <a:pt x="74451" y="100096"/>
                  <a:pt x="72749" y="9850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4588510" y="1727835"/>
            <a:ext cx="1045210" cy="166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Web框架</a:t>
            </a:r>
            <a:endParaRPr lang="en-US" sz="14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4346195" y="1957917"/>
            <a:ext cx="34686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4ECDC4"/>
                </a:solidFill>
                <a:latin typeface="华文中宋" panose="02010600040101010101" charset="-122"/>
                <a:ea typeface="华文中宋" panose="02010600040101010101" charset="-122"/>
                <a:cs typeface="Liter" pitchFamily="34" charset="-120"/>
              </a:rPr>
              <a:t>Spring Boot</a:t>
            </a:r>
            <a:endParaRPr lang="en-US" b="1" dirty="0">
              <a:solidFill>
                <a:srgbClr val="4ECDC4"/>
              </a:solidFill>
              <a:latin typeface="华文中宋" panose="02010600040101010101" charset="-122"/>
              <a:ea typeface="华文中宋" panose="02010600040101010101" charset="-122"/>
              <a:cs typeface="Liter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4346195" y="2243667"/>
            <a:ext cx="3429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约定优于配置 · 快速开发</a:t>
            </a:r>
            <a:endParaRPr lang="en-US" sz="108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7988598" y="1576917"/>
            <a:ext cx="3643313" cy="952500"/>
          </a:xfrm>
          <a:custGeom>
            <a:avLst/>
            <a:gdLst/>
            <a:ahLst/>
            <a:cxnLst/>
            <a:rect l="l" t="t" r="r" b="b"/>
            <a:pathLst>
              <a:path w="3643313" h="952500">
                <a:moveTo>
                  <a:pt x="31750" y="0"/>
                </a:moveTo>
                <a:lnTo>
                  <a:pt x="3579809" y="0"/>
                </a:lnTo>
                <a:cubicBezTo>
                  <a:pt x="3614881" y="0"/>
                  <a:pt x="3643312" y="28431"/>
                  <a:pt x="3643312" y="63503"/>
                </a:cubicBezTo>
                <a:lnTo>
                  <a:pt x="3643313" y="888997"/>
                </a:lnTo>
                <a:cubicBezTo>
                  <a:pt x="3643312" y="924069"/>
                  <a:pt x="3614881" y="952500"/>
                  <a:pt x="3579809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7988598" y="1576917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2" name="Shape 20"/>
          <p:cNvSpPr/>
          <p:nvPr>
            <p:custDataLst>
              <p:tags r:id="rId15"/>
            </p:custDataLst>
          </p:nvPr>
        </p:nvSpPr>
        <p:spPr>
          <a:xfrm>
            <a:off x="8160246" y="172773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5016" y="57429"/>
                </a:moveTo>
                <a:cubicBezTo>
                  <a:pt x="120886" y="60164"/>
                  <a:pt x="116142" y="62368"/>
                  <a:pt x="111203" y="64126"/>
                </a:cubicBezTo>
                <a:cubicBezTo>
                  <a:pt x="98087" y="68814"/>
                  <a:pt x="80869" y="71438"/>
                  <a:pt x="62508" y="71438"/>
                </a:cubicBezTo>
                <a:cubicBezTo>
                  <a:pt x="44146" y="71438"/>
                  <a:pt x="26901" y="68786"/>
                  <a:pt x="13813" y="64126"/>
                </a:cubicBezTo>
                <a:cubicBezTo>
                  <a:pt x="8902" y="62368"/>
                  <a:pt x="4130" y="60164"/>
                  <a:pt x="0" y="57429"/>
                </a:cubicBezTo>
                <a:lnTo>
                  <a:pt x="0" y="80367"/>
                </a:lnTo>
                <a:cubicBezTo>
                  <a:pt x="0" y="92701"/>
                  <a:pt x="27989" y="102691"/>
                  <a:pt x="62508" y="102691"/>
                </a:cubicBezTo>
                <a:cubicBezTo>
                  <a:pt x="97027" y="102691"/>
                  <a:pt x="125016" y="92701"/>
                  <a:pt x="125016" y="80367"/>
                </a:cubicBezTo>
                <a:lnTo>
                  <a:pt x="125016" y="57429"/>
                </a:lnTo>
                <a:close/>
                <a:moveTo>
                  <a:pt x="125016" y="35719"/>
                </a:moveTo>
                <a:lnTo>
                  <a:pt x="125016" y="22324"/>
                </a:lnTo>
                <a:cubicBezTo>
                  <a:pt x="125016" y="9990"/>
                  <a:pt x="97027" y="0"/>
                  <a:pt x="62508" y="0"/>
                </a:cubicBezTo>
                <a:cubicBezTo>
                  <a:pt x="27989" y="0"/>
                  <a:pt x="0" y="9990"/>
                  <a:pt x="0" y="22324"/>
                </a:cubicBezTo>
                <a:lnTo>
                  <a:pt x="0" y="35719"/>
                </a:lnTo>
                <a:cubicBezTo>
                  <a:pt x="0" y="48053"/>
                  <a:pt x="27989" y="58043"/>
                  <a:pt x="62508" y="58043"/>
                </a:cubicBezTo>
                <a:cubicBezTo>
                  <a:pt x="97027" y="58043"/>
                  <a:pt x="125016" y="48053"/>
                  <a:pt x="125016" y="35719"/>
                </a:cubicBezTo>
                <a:close/>
                <a:moveTo>
                  <a:pt x="111203" y="108775"/>
                </a:moveTo>
                <a:cubicBezTo>
                  <a:pt x="98115" y="113435"/>
                  <a:pt x="80897" y="116086"/>
                  <a:pt x="62508" y="116086"/>
                </a:cubicBezTo>
                <a:cubicBezTo>
                  <a:pt x="44118" y="116086"/>
                  <a:pt x="26901" y="113435"/>
                  <a:pt x="13813" y="108775"/>
                </a:cubicBezTo>
                <a:cubicBezTo>
                  <a:pt x="8902" y="107017"/>
                  <a:pt x="4130" y="104812"/>
                  <a:pt x="0" y="102077"/>
                </a:cubicBezTo>
                <a:lnTo>
                  <a:pt x="0" y="120551"/>
                </a:lnTo>
                <a:cubicBezTo>
                  <a:pt x="0" y="132885"/>
                  <a:pt x="27989" y="142875"/>
                  <a:pt x="62508" y="142875"/>
                </a:cubicBezTo>
                <a:cubicBezTo>
                  <a:pt x="97027" y="142875"/>
                  <a:pt x="125016" y="132885"/>
                  <a:pt x="125016" y="120551"/>
                </a:cubicBezTo>
                <a:lnTo>
                  <a:pt x="125016" y="102077"/>
                </a:lnTo>
                <a:cubicBezTo>
                  <a:pt x="120886" y="104812"/>
                  <a:pt x="116142" y="107017"/>
                  <a:pt x="111203" y="108775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8373745" y="1703705"/>
            <a:ext cx="142176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数据库ORM</a:t>
            </a:r>
            <a:endParaRPr lang="en-US" sz="14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8131473" y="1957917"/>
            <a:ext cx="34686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4ECDC4"/>
                </a:solidFill>
                <a:latin typeface="华文中宋" panose="02010600040101010101" charset="-122"/>
                <a:ea typeface="华文中宋" panose="02010600040101010101" charset="-122"/>
                <a:cs typeface="Liter" pitchFamily="34" charset="-120"/>
              </a:rPr>
              <a:t>MyBatis</a:t>
            </a:r>
            <a:endParaRPr lang="en-US" b="1" dirty="0">
              <a:solidFill>
                <a:srgbClr val="4ECDC4"/>
              </a:solidFill>
              <a:latin typeface="华文中宋" panose="02010600040101010101" charset="-122"/>
              <a:ea typeface="华文中宋" panose="02010600040101010101" charset="-122"/>
              <a:cs typeface="Liter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8131473" y="2243667"/>
            <a:ext cx="3429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SQL映射 · 灵活查询</a:t>
            </a:r>
            <a:endParaRPr lang="en-US" sz="108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6" name="Shape 24"/>
          <p:cNvSpPr/>
          <p:nvPr>
            <p:custDataLst>
              <p:tags r:id="rId19"/>
            </p:custDataLst>
          </p:nvPr>
        </p:nvSpPr>
        <p:spPr>
          <a:xfrm>
            <a:off x="422487" y="3852122"/>
            <a:ext cx="3643313" cy="952500"/>
          </a:xfrm>
          <a:custGeom>
            <a:avLst/>
            <a:gdLst/>
            <a:ahLst/>
            <a:cxnLst/>
            <a:rect l="l" t="t" r="r" b="b"/>
            <a:pathLst>
              <a:path w="3643313" h="952500">
                <a:moveTo>
                  <a:pt x="31750" y="0"/>
                </a:moveTo>
                <a:lnTo>
                  <a:pt x="3579809" y="0"/>
                </a:lnTo>
                <a:cubicBezTo>
                  <a:pt x="3614881" y="0"/>
                  <a:pt x="3643312" y="28431"/>
                  <a:pt x="3643312" y="63503"/>
                </a:cubicBezTo>
                <a:lnTo>
                  <a:pt x="3643313" y="888997"/>
                </a:lnTo>
                <a:cubicBezTo>
                  <a:pt x="3643312" y="924069"/>
                  <a:pt x="3614881" y="952500"/>
                  <a:pt x="3579809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418042" y="3852122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594135" y="400293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44648"/>
                </a:lnTo>
                <a:cubicBezTo>
                  <a:pt x="0" y="54499"/>
                  <a:pt x="8009" y="62508"/>
                  <a:pt x="17859" y="62508"/>
                </a:cubicBezTo>
                <a:lnTo>
                  <a:pt x="107156" y="62508"/>
                </a:lnTo>
                <a:cubicBezTo>
                  <a:pt x="117007" y="62508"/>
                  <a:pt x="125016" y="54499"/>
                  <a:pt x="125016" y="44648"/>
                </a:cubicBezTo>
                <a:lnTo>
                  <a:pt x="125016" y="26789"/>
                </a:lnTo>
                <a:cubicBezTo>
                  <a:pt x="125016" y="16939"/>
                  <a:pt x="117007" y="8930"/>
                  <a:pt x="107156" y="8930"/>
                </a:cubicBezTo>
                <a:lnTo>
                  <a:pt x="17859" y="8930"/>
                </a:lnTo>
                <a:close/>
                <a:moveTo>
                  <a:pt x="78135" y="29021"/>
                </a:moveTo>
                <a:cubicBezTo>
                  <a:pt x="81831" y="29021"/>
                  <a:pt x="84832" y="32022"/>
                  <a:pt x="84832" y="35719"/>
                </a:cubicBezTo>
                <a:cubicBezTo>
                  <a:pt x="84832" y="39415"/>
                  <a:pt x="81831" y="42416"/>
                  <a:pt x="78135" y="42416"/>
                </a:cubicBezTo>
                <a:cubicBezTo>
                  <a:pt x="74438" y="42416"/>
                  <a:pt x="71438" y="39415"/>
                  <a:pt x="71438" y="35719"/>
                </a:cubicBezTo>
                <a:cubicBezTo>
                  <a:pt x="71438" y="32022"/>
                  <a:pt x="74438" y="29021"/>
                  <a:pt x="78135" y="29021"/>
                </a:cubicBezTo>
                <a:close/>
                <a:moveTo>
                  <a:pt x="93762" y="35719"/>
                </a:moveTo>
                <a:cubicBezTo>
                  <a:pt x="93762" y="32022"/>
                  <a:pt x="96763" y="29021"/>
                  <a:pt x="100459" y="29021"/>
                </a:cubicBezTo>
                <a:cubicBezTo>
                  <a:pt x="104155" y="29021"/>
                  <a:pt x="107156" y="32022"/>
                  <a:pt x="107156" y="35719"/>
                </a:cubicBezTo>
                <a:cubicBezTo>
                  <a:pt x="107156" y="39415"/>
                  <a:pt x="104155" y="42416"/>
                  <a:pt x="100459" y="42416"/>
                </a:cubicBezTo>
                <a:cubicBezTo>
                  <a:pt x="96763" y="42416"/>
                  <a:pt x="93762" y="39415"/>
                  <a:pt x="93762" y="35719"/>
                </a:cubicBezTo>
                <a:close/>
                <a:moveTo>
                  <a:pt x="17859" y="80367"/>
                </a:moveTo>
                <a:cubicBezTo>
                  <a:pt x="8009" y="80367"/>
                  <a:pt x="0" y="88376"/>
                  <a:pt x="0" y="98227"/>
                </a:cubicBezTo>
                <a:lnTo>
                  <a:pt x="0" y="116086"/>
                </a:lnTo>
                <a:cubicBezTo>
                  <a:pt x="0" y="125936"/>
                  <a:pt x="8009" y="133945"/>
                  <a:pt x="17859" y="133945"/>
                </a:cubicBezTo>
                <a:lnTo>
                  <a:pt x="107156" y="133945"/>
                </a:lnTo>
                <a:cubicBezTo>
                  <a:pt x="117007" y="133945"/>
                  <a:pt x="125016" y="125936"/>
                  <a:pt x="125016" y="116086"/>
                </a:cubicBezTo>
                <a:lnTo>
                  <a:pt x="125016" y="98227"/>
                </a:lnTo>
                <a:cubicBezTo>
                  <a:pt x="125016" y="88376"/>
                  <a:pt x="117007" y="80367"/>
                  <a:pt x="107156" y="80367"/>
                </a:cubicBezTo>
                <a:lnTo>
                  <a:pt x="17859" y="80367"/>
                </a:lnTo>
                <a:close/>
                <a:moveTo>
                  <a:pt x="78135" y="100459"/>
                </a:moveTo>
                <a:cubicBezTo>
                  <a:pt x="81831" y="100459"/>
                  <a:pt x="84832" y="103460"/>
                  <a:pt x="84832" y="107156"/>
                </a:cubicBezTo>
                <a:cubicBezTo>
                  <a:pt x="84832" y="110853"/>
                  <a:pt x="81831" y="113854"/>
                  <a:pt x="78135" y="113854"/>
                </a:cubicBezTo>
                <a:cubicBezTo>
                  <a:pt x="74438" y="113854"/>
                  <a:pt x="71438" y="110853"/>
                  <a:pt x="71438" y="107156"/>
                </a:cubicBezTo>
                <a:cubicBezTo>
                  <a:pt x="71438" y="103460"/>
                  <a:pt x="74438" y="100459"/>
                  <a:pt x="78135" y="100459"/>
                </a:cubicBezTo>
                <a:close/>
                <a:moveTo>
                  <a:pt x="93762" y="107156"/>
                </a:moveTo>
                <a:cubicBezTo>
                  <a:pt x="93762" y="103460"/>
                  <a:pt x="96763" y="100459"/>
                  <a:pt x="100459" y="100459"/>
                </a:cubicBezTo>
                <a:cubicBezTo>
                  <a:pt x="104155" y="100459"/>
                  <a:pt x="107156" y="103460"/>
                  <a:pt x="107156" y="107156"/>
                </a:cubicBezTo>
                <a:cubicBezTo>
                  <a:pt x="107156" y="110853"/>
                  <a:pt x="104155" y="113854"/>
                  <a:pt x="100459" y="113854"/>
                </a:cubicBezTo>
                <a:cubicBezTo>
                  <a:pt x="96763" y="113854"/>
                  <a:pt x="93762" y="110853"/>
                  <a:pt x="93762" y="10715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807720" y="3978910"/>
            <a:ext cx="107251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数据库</a:t>
            </a:r>
            <a:endParaRPr lang="en-US" sz="14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MiSans" pitchFamily="34" charset="-120"/>
            </a:endParaRPr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565362" y="4233122"/>
            <a:ext cx="34686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4ECDC4"/>
                </a:solidFill>
                <a:latin typeface="华文中宋" panose="02010600040101010101" charset="-122"/>
                <a:ea typeface="华文中宋" panose="02010600040101010101" charset="-122"/>
                <a:cs typeface="Liter" pitchFamily="34" charset="-120"/>
              </a:rPr>
              <a:t>MySQL 8.0+</a:t>
            </a:r>
            <a:endParaRPr lang="en-US" b="1" dirty="0">
              <a:solidFill>
                <a:srgbClr val="4ECDC4"/>
              </a:solidFill>
              <a:latin typeface="华文中宋" panose="02010600040101010101" charset="-122"/>
              <a:ea typeface="华文中宋" panose="02010600040101010101" charset="-122"/>
              <a:cs typeface="Liter" pitchFamily="34" charset="-120"/>
            </a:endParaRPr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565362" y="4518872"/>
            <a:ext cx="3429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关系型数据库 · 高性能</a:t>
            </a:r>
            <a:endParaRPr lang="en-US" sz="108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2" name="Shape 30"/>
          <p:cNvSpPr/>
          <p:nvPr>
            <p:custDataLst>
              <p:tags r:id="rId25"/>
            </p:custDataLst>
          </p:nvPr>
        </p:nvSpPr>
        <p:spPr>
          <a:xfrm>
            <a:off x="4235070" y="3852122"/>
            <a:ext cx="3643313" cy="952500"/>
          </a:xfrm>
          <a:custGeom>
            <a:avLst/>
            <a:gdLst/>
            <a:ahLst/>
            <a:cxnLst/>
            <a:rect l="l" t="t" r="r" b="b"/>
            <a:pathLst>
              <a:path w="3643313" h="952500">
                <a:moveTo>
                  <a:pt x="31750" y="0"/>
                </a:moveTo>
                <a:lnTo>
                  <a:pt x="3579809" y="0"/>
                </a:lnTo>
                <a:cubicBezTo>
                  <a:pt x="3614881" y="0"/>
                  <a:pt x="3643312" y="28431"/>
                  <a:pt x="3643312" y="63503"/>
                </a:cubicBezTo>
                <a:lnTo>
                  <a:pt x="3643313" y="888997"/>
                </a:lnTo>
                <a:cubicBezTo>
                  <a:pt x="3643312" y="924069"/>
                  <a:pt x="3614881" y="952500"/>
                  <a:pt x="3579809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3" name="Shape 31"/>
          <p:cNvSpPr/>
          <p:nvPr>
            <p:custDataLst>
              <p:tags r:id="rId26"/>
            </p:custDataLst>
          </p:nvPr>
        </p:nvSpPr>
        <p:spPr>
          <a:xfrm>
            <a:off x="4235070" y="3852122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34" name="Shape 32"/>
          <p:cNvSpPr/>
          <p:nvPr>
            <p:custDataLst>
              <p:tags r:id="rId27"/>
            </p:custDataLst>
          </p:nvPr>
        </p:nvSpPr>
        <p:spPr>
          <a:xfrm>
            <a:off x="4383779" y="4002935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93064" y="56201"/>
                </a:moveTo>
                <a:cubicBezTo>
                  <a:pt x="93064" y="50034"/>
                  <a:pt x="88711" y="46630"/>
                  <a:pt x="81065" y="46630"/>
                </a:cubicBezTo>
                <a:lnTo>
                  <a:pt x="67001" y="46630"/>
                </a:lnTo>
                <a:lnTo>
                  <a:pt x="67001" y="66498"/>
                </a:lnTo>
                <a:lnTo>
                  <a:pt x="78860" y="66498"/>
                </a:lnTo>
                <a:cubicBezTo>
                  <a:pt x="88013" y="66470"/>
                  <a:pt x="93064" y="62787"/>
                  <a:pt x="93064" y="56201"/>
                </a:cubicBezTo>
                <a:close/>
                <a:moveTo>
                  <a:pt x="144270" y="52629"/>
                </a:moveTo>
                <a:cubicBezTo>
                  <a:pt x="141619" y="44007"/>
                  <a:pt x="141229" y="33431"/>
                  <a:pt x="141536" y="25254"/>
                </a:cubicBezTo>
                <a:cubicBezTo>
                  <a:pt x="141843" y="16743"/>
                  <a:pt x="135201" y="8930"/>
                  <a:pt x="126271" y="8930"/>
                </a:cubicBezTo>
                <a:lnTo>
                  <a:pt x="34519" y="8930"/>
                </a:lnTo>
                <a:cubicBezTo>
                  <a:pt x="25561" y="8930"/>
                  <a:pt x="18948" y="16771"/>
                  <a:pt x="19255" y="25254"/>
                </a:cubicBezTo>
                <a:cubicBezTo>
                  <a:pt x="19534" y="33431"/>
                  <a:pt x="19171" y="44007"/>
                  <a:pt x="16520" y="52629"/>
                </a:cubicBezTo>
                <a:cubicBezTo>
                  <a:pt x="13841" y="61280"/>
                  <a:pt x="9348" y="66749"/>
                  <a:pt x="1953" y="67447"/>
                </a:cubicBezTo>
                <a:lnTo>
                  <a:pt x="1953" y="75400"/>
                </a:lnTo>
                <a:cubicBezTo>
                  <a:pt x="9320" y="76098"/>
                  <a:pt x="13841" y="81567"/>
                  <a:pt x="16520" y="90218"/>
                </a:cubicBezTo>
                <a:cubicBezTo>
                  <a:pt x="19171" y="98840"/>
                  <a:pt x="19562" y="109417"/>
                  <a:pt x="19255" y="117593"/>
                </a:cubicBezTo>
                <a:cubicBezTo>
                  <a:pt x="18948" y="126104"/>
                  <a:pt x="25589" y="133917"/>
                  <a:pt x="34519" y="133917"/>
                </a:cubicBezTo>
                <a:lnTo>
                  <a:pt x="126243" y="133917"/>
                </a:lnTo>
                <a:cubicBezTo>
                  <a:pt x="135201" y="133917"/>
                  <a:pt x="141815" y="126076"/>
                  <a:pt x="141508" y="117593"/>
                </a:cubicBezTo>
                <a:cubicBezTo>
                  <a:pt x="141229" y="109417"/>
                  <a:pt x="141591" y="98840"/>
                  <a:pt x="144242" y="90218"/>
                </a:cubicBezTo>
                <a:cubicBezTo>
                  <a:pt x="146921" y="81567"/>
                  <a:pt x="151414" y="76098"/>
                  <a:pt x="158781" y="75400"/>
                </a:cubicBezTo>
                <a:lnTo>
                  <a:pt x="158781" y="67447"/>
                </a:lnTo>
                <a:cubicBezTo>
                  <a:pt x="151442" y="66749"/>
                  <a:pt x="146921" y="61280"/>
                  <a:pt x="144270" y="52629"/>
                </a:cubicBezTo>
                <a:close/>
                <a:moveTo>
                  <a:pt x="83772" y="104673"/>
                </a:moveTo>
                <a:lnTo>
                  <a:pt x="56452" y="104673"/>
                </a:lnTo>
                <a:lnTo>
                  <a:pt x="56452" y="38174"/>
                </a:lnTo>
                <a:lnTo>
                  <a:pt x="83632" y="38174"/>
                </a:lnTo>
                <a:cubicBezTo>
                  <a:pt x="95715" y="38174"/>
                  <a:pt x="103640" y="44704"/>
                  <a:pt x="103640" y="54750"/>
                </a:cubicBezTo>
                <a:cubicBezTo>
                  <a:pt x="103640" y="61810"/>
                  <a:pt x="98310" y="68117"/>
                  <a:pt x="91501" y="69205"/>
                </a:cubicBezTo>
                <a:lnTo>
                  <a:pt x="91501" y="69568"/>
                </a:lnTo>
                <a:cubicBezTo>
                  <a:pt x="100766" y="70572"/>
                  <a:pt x="106989" y="76991"/>
                  <a:pt x="106989" y="85837"/>
                </a:cubicBezTo>
                <a:cubicBezTo>
                  <a:pt x="106989" y="97585"/>
                  <a:pt x="98254" y="104673"/>
                  <a:pt x="83772" y="104673"/>
                </a:cubicBezTo>
                <a:close/>
                <a:moveTo>
                  <a:pt x="80981" y="74340"/>
                </a:moveTo>
                <a:lnTo>
                  <a:pt x="67001" y="74340"/>
                </a:lnTo>
                <a:lnTo>
                  <a:pt x="67001" y="96217"/>
                </a:lnTo>
                <a:lnTo>
                  <a:pt x="81595" y="96217"/>
                </a:lnTo>
                <a:cubicBezTo>
                  <a:pt x="91139" y="96217"/>
                  <a:pt x="96189" y="92394"/>
                  <a:pt x="96189" y="85195"/>
                </a:cubicBezTo>
                <a:cubicBezTo>
                  <a:pt x="96189" y="78023"/>
                  <a:pt x="90999" y="74340"/>
                  <a:pt x="80981" y="7434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35" name="Text 33"/>
          <p:cNvSpPr/>
          <p:nvPr>
            <p:custDataLst>
              <p:tags r:id="rId28"/>
            </p:custDataLst>
          </p:nvPr>
        </p:nvSpPr>
        <p:spPr>
          <a:xfrm>
            <a:off x="4620260" y="3978910"/>
            <a:ext cx="1301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前端框架</a:t>
            </a:r>
            <a:endParaRPr lang="en-US" sz="14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MiSans" pitchFamily="34" charset="-120"/>
            </a:endParaRPr>
          </a:p>
        </p:txBody>
      </p:sp>
      <p:sp>
        <p:nvSpPr>
          <p:cNvPr id="36" name="Text 34"/>
          <p:cNvSpPr/>
          <p:nvPr>
            <p:custDataLst>
              <p:tags r:id="rId29"/>
            </p:custDataLst>
          </p:nvPr>
        </p:nvSpPr>
        <p:spPr>
          <a:xfrm>
            <a:off x="4377945" y="4233122"/>
            <a:ext cx="34686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4ECDC4"/>
                </a:solidFill>
                <a:latin typeface="华文中宋" panose="02010600040101010101" charset="-122"/>
                <a:ea typeface="华文中宋" panose="02010600040101010101" charset="-122"/>
                <a:cs typeface="Liter" pitchFamily="34" charset="-120"/>
              </a:rPr>
              <a:t>Bootstrap</a:t>
            </a:r>
            <a:endParaRPr lang="en-US" b="1" dirty="0">
              <a:solidFill>
                <a:srgbClr val="4ECDC4"/>
              </a:solidFill>
              <a:latin typeface="华文中宋" panose="02010600040101010101" charset="-122"/>
              <a:ea typeface="华文中宋" panose="02010600040101010101" charset="-122"/>
              <a:cs typeface="Liter" pitchFamily="34" charset="-120"/>
            </a:endParaRPr>
          </a:p>
        </p:txBody>
      </p:sp>
      <p:sp>
        <p:nvSpPr>
          <p:cNvPr id="37" name="Text 35"/>
          <p:cNvSpPr/>
          <p:nvPr>
            <p:custDataLst>
              <p:tags r:id="rId30"/>
            </p:custDataLst>
          </p:nvPr>
        </p:nvSpPr>
        <p:spPr>
          <a:xfrm>
            <a:off x="4377945" y="4518872"/>
            <a:ext cx="3429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响应式设计 · UI组件</a:t>
            </a:r>
            <a:endParaRPr lang="en-US" sz="108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8" name="Shape 36"/>
          <p:cNvSpPr/>
          <p:nvPr>
            <p:custDataLst>
              <p:tags r:id="rId31"/>
            </p:custDataLst>
          </p:nvPr>
        </p:nvSpPr>
        <p:spPr>
          <a:xfrm>
            <a:off x="7988598" y="3852122"/>
            <a:ext cx="3643313" cy="952500"/>
          </a:xfrm>
          <a:custGeom>
            <a:avLst/>
            <a:gdLst/>
            <a:ahLst/>
            <a:cxnLst/>
            <a:rect l="l" t="t" r="r" b="b"/>
            <a:pathLst>
              <a:path w="3643313" h="952500">
                <a:moveTo>
                  <a:pt x="31750" y="0"/>
                </a:moveTo>
                <a:lnTo>
                  <a:pt x="3579809" y="0"/>
                </a:lnTo>
                <a:cubicBezTo>
                  <a:pt x="3614881" y="0"/>
                  <a:pt x="3643312" y="28431"/>
                  <a:pt x="3643312" y="63503"/>
                </a:cubicBezTo>
                <a:lnTo>
                  <a:pt x="3643313" y="888997"/>
                </a:lnTo>
                <a:cubicBezTo>
                  <a:pt x="3643312" y="924069"/>
                  <a:pt x="3614881" y="952500"/>
                  <a:pt x="3579809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9" name="Shape 37"/>
          <p:cNvSpPr/>
          <p:nvPr>
            <p:custDataLst>
              <p:tags r:id="rId32"/>
            </p:custDataLst>
          </p:nvPr>
        </p:nvSpPr>
        <p:spPr>
          <a:xfrm>
            <a:off x="7988598" y="3852122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40" name="Shape 38"/>
          <p:cNvSpPr/>
          <p:nvPr>
            <p:custDataLst>
              <p:tags r:id="rId33"/>
            </p:custDataLst>
          </p:nvPr>
        </p:nvSpPr>
        <p:spPr>
          <a:xfrm>
            <a:off x="8169176" y="4002935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0" y="17859"/>
                </a:moveTo>
                <a:cubicBezTo>
                  <a:pt x="0" y="8009"/>
                  <a:pt x="8009" y="0"/>
                  <a:pt x="17859" y="0"/>
                </a:cubicBezTo>
                <a:lnTo>
                  <a:pt x="59578" y="0"/>
                </a:lnTo>
                <a:cubicBezTo>
                  <a:pt x="64322" y="0"/>
                  <a:pt x="68870" y="1870"/>
                  <a:pt x="72219" y="5218"/>
                </a:cubicBezTo>
                <a:lnTo>
                  <a:pt x="101938" y="34965"/>
                </a:lnTo>
                <a:cubicBezTo>
                  <a:pt x="105287" y="38314"/>
                  <a:pt x="107156" y="42863"/>
                  <a:pt x="107156" y="47606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17859"/>
                </a:lnTo>
                <a:close/>
                <a:moveTo>
                  <a:pt x="58043" y="16325"/>
                </a:moveTo>
                <a:lnTo>
                  <a:pt x="58043" y="42416"/>
                </a:lnTo>
                <a:cubicBezTo>
                  <a:pt x="58043" y="46127"/>
                  <a:pt x="61029" y="49113"/>
                  <a:pt x="64740" y="49113"/>
                </a:cubicBezTo>
                <a:lnTo>
                  <a:pt x="90832" y="49113"/>
                </a:lnTo>
                <a:lnTo>
                  <a:pt x="58043" y="16325"/>
                </a:lnTo>
                <a:close/>
                <a:moveTo>
                  <a:pt x="43030" y="82488"/>
                </a:moveTo>
                <a:cubicBezTo>
                  <a:pt x="45430" y="79670"/>
                  <a:pt x="45123" y="75456"/>
                  <a:pt x="42304" y="73056"/>
                </a:cubicBezTo>
                <a:cubicBezTo>
                  <a:pt x="39486" y="70656"/>
                  <a:pt x="35272" y="70963"/>
                  <a:pt x="32872" y="73782"/>
                </a:cubicBezTo>
                <a:lnTo>
                  <a:pt x="19478" y="89408"/>
                </a:lnTo>
                <a:cubicBezTo>
                  <a:pt x="17329" y="91920"/>
                  <a:pt x="17329" y="95603"/>
                  <a:pt x="19478" y="98115"/>
                </a:cubicBezTo>
                <a:lnTo>
                  <a:pt x="32872" y="113742"/>
                </a:lnTo>
                <a:cubicBezTo>
                  <a:pt x="35272" y="116560"/>
                  <a:pt x="39514" y="116867"/>
                  <a:pt x="42304" y="114467"/>
                </a:cubicBezTo>
                <a:cubicBezTo>
                  <a:pt x="45095" y="112068"/>
                  <a:pt x="45430" y="107826"/>
                  <a:pt x="43030" y="105035"/>
                </a:cubicBezTo>
                <a:lnTo>
                  <a:pt x="33375" y="93762"/>
                </a:lnTo>
                <a:lnTo>
                  <a:pt x="43030" y="82488"/>
                </a:lnTo>
                <a:close/>
                <a:moveTo>
                  <a:pt x="74284" y="73782"/>
                </a:moveTo>
                <a:cubicBezTo>
                  <a:pt x="71884" y="70963"/>
                  <a:pt x="67642" y="70656"/>
                  <a:pt x="64852" y="73056"/>
                </a:cubicBezTo>
                <a:cubicBezTo>
                  <a:pt x="62061" y="75456"/>
                  <a:pt x="61726" y="79697"/>
                  <a:pt x="64126" y="82488"/>
                </a:cubicBezTo>
                <a:lnTo>
                  <a:pt x="73782" y="93762"/>
                </a:lnTo>
                <a:lnTo>
                  <a:pt x="64126" y="105035"/>
                </a:lnTo>
                <a:cubicBezTo>
                  <a:pt x="61726" y="107854"/>
                  <a:pt x="62033" y="112068"/>
                  <a:pt x="64852" y="114467"/>
                </a:cubicBezTo>
                <a:cubicBezTo>
                  <a:pt x="67670" y="116867"/>
                  <a:pt x="71884" y="116560"/>
                  <a:pt x="74284" y="113742"/>
                </a:cubicBezTo>
                <a:lnTo>
                  <a:pt x="87678" y="98115"/>
                </a:lnTo>
                <a:cubicBezTo>
                  <a:pt x="89827" y="95603"/>
                  <a:pt x="89827" y="91920"/>
                  <a:pt x="87678" y="89408"/>
                </a:cubicBezTo>
                <a:lnTo>
                  <a:pt x="74284" y="73782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41" name="Text 39"/>
          <p:cNvSpPr/>
          <p:nvPr>
            <p:custDataLst>
              <p:tags r:id="rId34"/>
            </p:custDataLst>
          </p:nvPr>
        </p:nvSpPr>
        <p:spPr>
          <a:xfrm>
            <a:off x="8373745" y="3978910"/>
            <a:ext cx="141224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模板引擎</a:t>
            </a:r>
            <a:endParaRPr lang="en-US" sz="14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MiSans" pitchFamily="34" charset="-120"/>
            </a:endParaRPr>
          </a:p>
        </p:txBody>
      </p:sp>
      <p:sp>
        <p:nvSpPr>
          <p:cNvPr id="42" name="Text 40"/>
          <p:cNvSpPr/>
          <p:nvPr>
            <p:custDataLst>
              <p:tags r:id="rId35"/>
            </p:custDataLst>
          </p:nvPr>
        </p:nvSpPr>
        <p:spPr>
          <a:xfrm>
            <a:off x="8131473" y="4233122"/>
            <a:ext cx="34686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4ECDC4"/>
                </a:solidFill>
                <a:latin typeface="华文中宋" panose="02010600040101010101" charset="-122"/>
                <a:ea typeface="华文中宋" panose="02010600040101010101" charset="-122"/>
                <a:cs typeface="Liter" pitchFamily="34" charset="-120"/>
              </a:rPr>
              <a:t>Thymeleaf</a:t>
            </a:r>
            <a:endParaRPr lang="en-US" b="1" dirty="0">
              <a:solidFill>
                <a:srgbClr val="4ECDC4"/>
              </a:solidFill>
              <a:latin typeface="华文中宋" panose="02010600040101010101" charset="-122"/>
              <a:ea typeface="华文中宋" panose="02010600040101010101" charset="-122"/>
              <a:cs typeface="Liter" pitchFamily="34" charset="-120"/>
            </a:endParaRPr>
          </a:p>
        </p:txBody>
      </p:sp>
      <p:sp>
        <p:nvSpPr>
          <p:cNvPr id="43" name="Text 41"/>
          <p:cNvSpPr/>
          <p:nvPr>
            <p:custDataLst>
              <p:tags r:id="rId36"/>
            </p:custDataLst>
          </p:nvPr>
        </p:nvSpPr>
        <p:spPr>
          <a:xfrm>
            <a:off x="8131473" y="4518872"/>
            <a:ext cx="3429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服务端渲染 · 自然模板</a:t>
            </a:r>
            <a:endParaRPr lang="en-US" sz="108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25" y="206375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00" dirty="0">
                <a:solidFill>
                  <a:srgbClr val="4ECDC4"/>
                </a:solidFill>
                <a:latin typeface="华文中宋" panose="02010600040101010101" charset="-122"/>
                <a:ea typeface="华文中宋" panose="02010600040101010101" charset="-122"/>
                <a:cs typeface="Quattrocento Sans" pitchFamily="34" charset="-120"/>
              </a:rPr>
              <a:t>TECHNICAL ARCHITECTURE</a:t>
            </a:r>
            <a:endParaRPr lang="en-US" sz="1200" b="1" kern="0" spc="100" dirty="0">
              <a:solidFill>
                <a:srgbClr val="4ECDC4"/>
              </a:solidFill>
              <a:latin typeface="华文中宋" panose="02010600040101010101" charset="-122"/>
              <a:ea typeface="华文中宋" panose="02010600040101010101" charset="-122"/>
              <a:cs typeface="Quattrocento Sans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8125" y="460375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Alimama ShuHeiTi" pitchFamily="34" charset="-120"/>
              </a:rPr>
              <a:t>技术架构全景</a:t>
            </a:r>
            <a:endParaRPr lang="en-US" sz="24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Alimama ShuHeiTi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38125" y="87312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20" name="Shape 18"/>
          <p:cNvSpPr/>
          <p:nvPr/>
        </p:nvSpPr>
        <p:spPr>
          <a:xfrm>
            <a:off x="7988598" y="1576917"/>
            <a:ext cx="3643313" cy="952500"/>
          </a:xfrm>
          <a:custGeom>
            <a:avLst/>
            <a:gdLst/>
            <a:ahLst/>
            <a:cxnLst/>
            <a:rect l="l" t="t" r="r" b="b"/>
            <a:pathLst>
              <a:path w="3643313" h="952500">
                <a:moveTo>
                  <a:pt x="31750" y="0"/>
                </a:moveTo>
                <a:lnTo>
                  <a:pt x="3579809" y="0"/>
                </a:lnTo>
                <a:cubicBezTo>
                  <a:pt x="3614881" y="0"/>
                  <a:pt x="3643312" y="28431"/>
                  <a:pt x="3643312" y="63503"/>
                </a:cubicBezTo>
                <a:lnTo>
                  <a:pt x="3643313" y="888997"/>
                </a:lnTo>
                <a:cubicBezTo>
                  <a:pt x="3643312" y="924069"/>
                  <a:pt x="3614881" y="952500"/>
                  <a:pt x="3579809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7988598" y="2656417"/>
            <a:ext cx="3643313" cy="952500"/>
          </a:xfrm>
          <a:custGeom>
            <a:avLst/>
            <a:gdLst/>
            <a:ahLst/>
            <a:cxnLst/>
            <a:rect l="l" t="t" r="r" b="b"/>
            <a:pathLst>
              <a:path w="3643313" h="952500">
                <a:moveTo>
                  <a:pt x="31750" y="0"/>
                </a:moveTo>
                <a:lnTo>
                  <a:pt x="3579809" y="0"/>
                </a:lnTo>
                <a:cubicBezTo>
                  <a:pt x="3614881" y="0"/>
                  <a:pt x="3643312" y="28431"/>
                  <a:pt x="3643312" y="63503"/>
                </a:cubicBezTo>
                <a:lnTo>
                  <a:pt x="3643313" y="888997"/>
                </a:lnTo>
                <a:cubicBezTo>
                  <a:pt x="3643312" y="924069"/>
                  <a:pt x="3614881" y="952500"/>
                  <a:pt x="3579809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62336" y="1130195"/>
            <a:ext cx="6879167" cy="3751792"/>
          </a:xfrm>
          <a:custGeom>
            <a:avLst/>
            <a:gdLst/>
            <a:ahLst/>
            <a:cxnLst/>
            <a:rect l="l" t="t" r="r" b="b"/>
            <a:pathLst>
              <a:path w="6879167" h="3751792">
                <a:moveTo>
                  <a:pt x="95258" y="0"/>
                </a:moveTo>
                <a:lnTo>
                  <a:pt x="6783909" y="0"/>
                </a:lnTo>
                <a:cubicBezTo>
                  <a:pt x="6836518" y="0"/>
                  <a:pt x="6879167" y="42648"/>
                  <a:pt x="6879167" y="95258"/>
                </a:cubicBezTo>
                <a:lnTo>
                  <a:pt x="6879167" y="3656534"/>
                </a:lnTo>
                <a:cubicBezTo>
                  <a:pt x="6879167" y="3709143"/>
                  <a:pt x="6836518" y="3751792"/>
                  <a:pt x="6783909" y="3751792"/>
                </a:cubicBezTo>
                <a:lnTo>
                  <a:pt x="95258" y="3751792"/>
                </a:lnTo>
                <a:cubicBezTo>
                  <a:pt x="42648" y="3751792"/>
                  <a:pt x="0" y="3709143"/>
                  <a:pt x="0" y="3656534"/>
                </a:cubicBezTo>
                <a:lnTo>
                  <a:pt x="0" y="95258"/>
                </a:lnTo>
                <a:cubicBezTo>
                  <a:pt x="0" y="42684"/>
                  <a:pt x="42684" y="0"/>
                  <a:pt x="95258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3575" y="132334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9531" y="19844"/>
                </a:moveTo>
                <a:cubicBezTo>
                  <a:pt x="59531" y="14356"/>
                  <a:pt x="63965" y="9922"/>
                  <a:pt x="69453" y="9922"/>
                </a:cubicBezTo>
                <a:lnTo>
                  <a:pt x="89297" y="9922"/>
                </a:lnTo>
                <a:cubicBezTo>
                  <a:pt x="94785" y="9922"/>
                  <a:pt x="99219" y="14356"/>
                  <a:pt x="99219" y="19844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86816" y="49609"/>
                </a:lnTo>
                <a:lnTo>
                  <a:pt x="86816" y="69453"/>
                </a:lnTo>
                <a:lnTo>
                  <a:pt x="124023" y="69453"/>
                </a:lnTo>
                <a:cubicBezTo>
                  <a:pt x="136364" y="69453"/>
                  <a:pt x="146348" y="79437"/>
                  <a:pt x="146348" y="91777"/>
                </a:cubicBezTo>
                <a:lnTo>
                  <a:pt x="146348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28984" y="148828"/>
                </a:lnTo>
                <a:cubicBezTo>
                  <a:pt x="123496" y="148828"/>
                  <a:pt x="119062" y="144394"/>
                  <a:pt x="119062" y="138906"/>
                </a:cubicBezTo>
                <a:lnTo>
                  <a:pt x="119062" y="119062"/>
                </a:lnTo>
                <a:cubicBezTo>
                  <a:pt x="119062" y="113574"/>
                  <a:pt x="123496" y="109141"/>
                  <a:pt x="128984" y="109141"/>
                </a:cubicBezTo>
                <a:lnTo>
                  <a:pt x="131465" y="109141"/>
                </a:lnTo>
                <a:lnTo>
                  <a:pt x="131465" y="91777"/>
                </a:lnTo>
                <a:cubicBezTo>
                  <a:pt x="131465" y="87654"/>
                  <a:pt x="128147" y="84336"/>
                  <a:pt x="124023" y="84336"/>
                </a:cubicBezTo>
                <a:lnTo>
                  <a:pt x="86816" y="84336"/>
                </a:lnTo>
                <a:lnTo>
                  <a:pt x="86816" y="109141"/>
                </a:lnTo>
                <a:lnTo>
                  <a:pt x="89297" y="109141"/>
                </a:lnTo>
                <a:cubicBezTo>
                  <a:pt x="94785" y="109141"/>
                  <a:pt x="99219" y="113574"/>
                  <a:pt x="99219" y="119062"/>
                </a:cubicBezTo>
                <a:lnTo>
                  <a:pt x="99219" y="138906"/>
                </a:lnTo>
                <a:cubicBezTo>
                  <a:pt x="99219" y="144394"/>
                  <a:pt x="94785" y="148828"/>
                  <a:pt x="89297" y="148828"/>
                </a:cubicBezTo>
                <a:lnTo>
                  <a:pt x="69453" y="148828"/>
                </a:lnTo>
                <a:cubicBezTo>
                  <a:pt x="63965" y="148828"/>
                  <a:pt x="59531" y="144394"/>
                  <a:pt x="59531" y="138906"/>
                </a:cubicBezTo>
                <a:lnTo>
                  <a:pt x="59531" y="119062"/>
                </a:lnTo>
                <a:cubicBezTo>
                  <a:pt x="59531" y="113574"/>
                  <a:pt x="63965" y="109141"/>
                  <a:pt x="69453" y="109141"/>
                </a:cubicBezTo>
                <a:lnTo>
                  <a:pt x="71934" y="109141"/>
                </a:lnTo>
                <a:lnTo>
                  <a:pt x="71934" y="84336"/>
                </a:lnTo>
                <a:lnTo>
                  <a:pt x="34727" y="84336"/>
                </a:lnTo>
                <a:cubicBezTo>
                  <a:pt x="30603" y="84336"/>
                  <a:pt x="27285" y="87654"/>
                  <a:pt x="27285" y="91777"/>
                </a:cubicBezTo>
                <a:lnTo>
                  <a:pt x="27285" y="109141"/>
                </a:lnTo>
                <a:lnTo>
                  <a:pt x="29766" y="109141"/>
                </a:lnTo>
                <a:cubicBezTo>
                  <a:pt x="35254" y="109141"/>
                  <a:pt x="39688" y="113574"/>
                  <a:pt x="39688" y="119062"/>
                </a:cubicBezTo>
                <a:lnTo>
                  <a:pt x="39688" y="138906"/>
                </a:lnTo>
                <a:cubicBezTo>
                  <a:pt x="39688" y="144394"/>
                  <a:pt x="35254" y="148828"/>
                  <a:pt x="29766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19062"/>
                </a:lnTo>
                <a:cubicBezTo>
                  <a:pt x="0" y="113574"/>
                  <a:pt x="4434" y="109141"/>
                  <a:pt x="9922" y="109141"/>
                </a:cubicBezTo>
                <a:lnTo>
                  <a:pt x="12402" y="109141"/>
                </a:lnTo>
                <a:lnTo>
                  <a:pt x="12402" y="91777"/>
                </a:lnTo>
                <a:cubicBezTo>
                  <a:pt x="12402" y="79437"/>
                  <a:pt x="22386" y="69453"/>
                  <a:pt x="34727" y="69453"/>
                </a:cubicBezTo>
                <a:lnTo>
                  <a:pt x="71934" y="69453"/>
                </a:lnTo>
                <a:lnTo>
                  <a:pt x="71934" y="49609"/>
                </a:lnTo>
                <a:lnTo>
                  <a:pt x="69453" y="49609"/>
                </a:lnTo>
                <a:cubicBezTo>
                  <a:pt x="63965" y="49609"/>
                  <a:pt x="59531" y="45176"/>
                  <a:pt x="59531" y="39688"/>
                </a:cubicBezTo>
                <a:lnTo>
                  <a:pt x="59531" y="19844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46" name="Text 44"/>
          <p:cNvSpPr/>
          <p:nvPr/>
        </p:nvSpPr>
        <p:spPr>
          <a:xfrm>
            <a:off x="422169" y="1291590"/>
            <a:ext cx="643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Alimama ShuHeiTi" pitchFamily="34" charset="-120"/>
              </a:rPr>
              <a:t>分层架构设计</a:t>
            </a:r>
            <a:endParaRPr lang="en-US" sz="14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Alimama ShuHeiTi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23732" y="175196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48" name="Text 46"/>
          <p:cNvSpPr/>
          <p:nvPr/>
        </p:nvSpPr>
        <p:spPr>
          <a:xfrm>
            <a:off x="328738" y="1831340"/>
            <a:ext cx="166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1A1D21"/>
                </a:solidFill>
                <a:latin typeface="华文中宋" panose="02010600040101010101" charset="-122"/>
                <a:ea typeface="华文中宋" panose="02010600040101010101" charset="-122"/>
                <a:cs typeface="Liter" pitchFamily="34" charset="-120"/>
              </a:rPr>
              <a:t>UI</a:t>
            </a:r>
            <a:endParaRPr lang="en-US" sz="980" b="1" dirty="0">
              <a:solidFill>
                <a:srgbClr val="1A1D21"/>
              </a:solidFill>
              <a:latin typeface="华文中宋" panose="02010600040101010101" charset="-122"/>
              <a:ea typeface="华文中宋" panose="02010600040101010101" charset="-122"/>
              <a:cs typeface="Liter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36482" y="1640840"/>
            <a:ext cx="6143625" cy="539750"/>
          </a:xfrm>
          <a:custGeom>
            <a:avLst/>
            <a:gdLst/>
            <a:ahLst/>
            <a:cxnLst/>
            <a:rect l="l" t="t" r="r" b="b"/>
            <a:pathLst>
              <a:path w="6143625" h="539750">
                <a:moveTo>
                  <a:pt x="63502" y="0"/>
                </a:moveTo>
                <a:lnTo>
                  <a:pt x="6080123" y="0"/>
                </a:lnTo>
                <a:cubicBezTo>
                  <a:pt x="6115194" y="0"/>
                  <a:pt x="6143625" y="28431"/>
                  <a:pt x="6143625" y="63502"/>
                </a:cubicBezTo>
                <a:lnTo>
                  <a:pt x="6143625" y="476248"/>
                </a:lnTo>
                <a:cubicBezTo>
                  <a:pt x="6143625" y="511319"/>
                  <a:pt x="6115194" y="539750"/>
                  <a:pt x="60801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0" name="Text 48"/>
          <p:cNvSpPr/>
          <p:nvPr/>
        </p:nvSpPr>
        <p:spPr>
          <a:xfrm>
            <a:off x="731732" y="1736090"/>
            <a:ext cx="6016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表现层 (Presentation)</a:t>
            </a:r>
            <a:endParaRPr lang="en-US" sz="12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31732" y="1926590"/>
            <a:ext cx="6008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HTML + Bootstrap + Thymeleaf · 用户界面渲染</a:t>
            </a:r>
            <a:endParaRPr lang="en-US" sz="98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223732" y="238696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53" name="Text 51"/>
          <p:cNvSpPr/>
          <p:nvPr/>
        </p:nvSpPr>
        <p:spPr>
          <a:xfrm>
            <a:off x="343869" y="2466340"/>
            <a:ext cx="134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1A1D21"/>
                </a:solidFill>
                <a:latin typeface="华文中宋" panose="02010600040101010101" charset="-122"/>
                <a:ea typeface="华文中宋" panose="02010600040101010101" charset="-122"/>
                <a:cs typeface="Liter" pitchFamily="34" charset="-120"/>
              </a:rPr>
              <a:t>C</a:t>
            </a:r>
            <a:endParaRPr lang="en-US" sz="980" b="1" dirty="0">
              <a:solidFill>
                <a:srgbClr val="1A1D21"/>
              </a:solidFill>
              <a:latin typeface="华文中宋" panose="02010600040101010101" charset="-122"/>
              <a:ea typeface="华文中宋" panose="02010600040101010101" charset="-122"/>
              <a:cs typeface="Liter" pitchFamily="34" charset="-12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36482" y="2275840"/>
            <a:ext cx="6143625" cy="539750"/>
          </a:xfrm>
          <a:custGeom>
            <a:avLst/>
            <a:gdLst/>
            <a:ahLst/>
            <a:cxnLst/>
            <a:rect l="l" t="t" r="r" b="b"/>
            <a:pathLst>
              <a:path w="6143625" h="539750">
                <a:moveTo>
                  <a:pt x="63502" y="0"/>
                </a:moveTo>
                <a:lnTo>
                  <a:pt x="6080123" y="0"/>
                </a:lnTo>
                <a:cubicBezTo>
                  <a:pt x="6115194" y="0"/>
                  <a:pt x="6143625" y="28431"/>
                  <a:pt x="6143625" y="63502"/>
                </a:cubicBezTo>
                <a:lnTo>
                  <a:pt x="6143625" y="476248"/>
                </a:lnTo>
                <a:cubicBezTo>
                  <a:pt x="6143625" y="511319"/>
                  <a:pt x="6115194" y="539750"/>
                  <a:pt x="60801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55" name="Text 53"/>
          <p:cNvSpPr/>
          <p:nvPr/>
        </p:nvSpPr>
        <p:spPr>
          <a:xfrm>
            <a:off x="731732" y="2371090"/>
            <a:ext cx="6016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控制层 (Controller)</a:t>
            </a:r>
            <a:endParaRPr lang="en-US" sz="12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31732" y="2561590"/>
            <a:ext cx="6008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Spring MVC · 请求处理 · 路由分发</a:t>
            </a:r>
            <a:endParaRPr lang="en-US" sz="98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23732" y="302196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58" name="Text 56"/>
          <p:cNvSpPr/>
          <p:nvPr/>
        </p:nvSpPr>
        <p:spPr>
          <a:xfrm>
            <a:off x="348334" y="3101340"/>
            <a:ext cx="1270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1A1D21"/>
                </a:solidFill>
                <a:latin typeface="华文中宋" panose="02010600040101010101" charset="-122"/>
                <a:ea typeface="华文中宋" panose="02010600040101010101" charset="-122"/>
                <a:cs typeface="Liter" pitchFamily="34" charset="-120"/>
              </a:rPr>
              <a:t>S</a:t>
            </a:r>
            <a:endParaRPr lang="en-US" sz="980" b="1" dirty="0">
              <a:solidFill>
                <a:srgbClr val="1A1D21"/>
              </a:solidFill>
              <a:latin typeface="华文中宋" panose="02010600040101010101" charset="-122"/>
              <a:ea typeface="华文中宋" panose="02010600040101010101" charset="-122"/>
              <a:cs typeface="Liter" pitchFamily="34" charset="-12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36482" y="2910840"/>
            <a:ext cx="6143625" cy="539750"/>
          </a:xfrm>
          <a:custGeom>
            <a:avLst/>
            <a:gdLst/>
            <a:ahLst/>
            <a:cxnLst/>
            <a:rect l="l" t="t" r="r" b="b"/>
            <a:pathLst>
              <a:path w="6143625" h="539750">
                <a:moveTo>
                  <a:pt x="63502" y="0"/>
                </a:moveTo>
                <a:lnTo>
                  <a:pt x="6080123" y="0"/>
                </a:lnTo>
                <a:cubicBezTo>
                  <a:pt x="6115194" y="0"/>
                  <a:pt x="6143625" y="28431"/>
                  <a:pt x="6143625" y="63502"/>
                </a:cubicBezTo>
                <a:lnTo>
                  <a:pt x="6143625" y="476248"/>
                </a:lnTo>
                <a:cubicBezTo>
                  <a:pt x="6143625" y="511319"/>
                  <a:pt x="6115194" y="539750"/>
                  <a:pt x="60801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0" name="Text 58"/>
          <p:cNvSpPr/>
          <p:nvPr/>
        </p:nvSpPr>
        <p:spPr>
          <a:xfrm>
            <a:off x="731732" y="3006090"/>
            <a:ext cx="6016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业务层 (Service)</a:t>
            </a:r>
            <a:endParaRPr lang="en-US" sz="12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31732" y="3196590"/>
            <a:ext cx="6008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业务逻辑处理 · 事务管理 · 数据校验</a:t>
            </a:r>
            <a:endParaRPr lang="en-US" sz="98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223732" y="365696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63" name="Text 61"/>
          <p:cNvSpPr/>
          <p:nvPr/>
        </p:nvSpPr>
        <p:spPr>
          <a:xfrm>
            <a:off x="343786" y="3736340"/>
            <a:ext cx="134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1A1D21"/>
                </a:solidFill>
                <a:latin typeface="华文中宋" panose="02010600040101010101" charset="-122"/>
                <a:ea typeface="华文中宋" panose="02010600040101010101" charset="-122"/>
                <a:cs typeface="Liter" pitchFamily="34" charset="-120"/>
              </a:rPr>
              <a:t>D</a:t>
            </a:r>
            <a:endParaRPr lang="en-US" sz="980" b="1" dirty="0">
              <a:solidFill>
                <a:srgbClr val="1A1D21"/>
              </a:solidFill>
              <a:latin typeface="华文中宋" panose="02010600040101010101" charset="-122"/>
              <a:ea typeface="华文中宋" panose="02010600040101010101" charset="-122"/>
              <a:cs typeface="Liter" pitchFamily="34" charset="-12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636482" y="3545840"/>
            <a:ext cx="6143625" cy="539750"/>
          </a:xfrm>
          <a:custGeom>
            <a:avLst/>
            <a:gdLst/>
            <a:ahLst/>
            <a:cxnLst/>
            <a:rect l="l" t="t" r="r" b="b"/>
            <a:pathLst>
              <a:path w="6143625" h="539750">
                <a:moveTo>
                  <a:pt x="63502" y="0"/>
                </a:moveTo>
                <a:lnTo>
                  <a:pt x="6080123" y="0"/>
                </a:lnTo>
                <a:cubicBezTo>
                  <a:pt x="6115194" y="0"/>
                  <a:pt x="6143625" y="28431"/>
                  <a:pt x="6143625" y="63502"/>
                </a:cubicBezTo>
                <a:lnTo>
                  <a:pt x="6143625" y="476248"/>
                </a:lnTo>
                <a:cubicBezTo>
                  <a:pt x="6143625" y="511319"/>
                  <a:pt x="6115194" y="539750"/>
                  <a:pt x="60801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65" name="Text 63"/>
          <p:cNvSpPr/>
          <p:nvPr/>
        </p:nvSpPr>
        <p:spPr>
          <a:xfrm>
            <a:off x="731732" y="3641090"/>
            <a:ext cx="6016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数据层 (DAO/Mapper)</a:t>
            </a:r>
            <a:endParaRPr lang="en-US" sz="12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31732" y="3831590"/>
            <a:ext cx="6008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MyBatis · 数据库操作 · SQL映射</a:t>
            </a:r>
            <a:endParaRPr lang="en-US" sz="98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223732" y="4291965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68" name="Text 66"/>
          <p:cNvSpPr/>
          <p:nvPr/>
        </p:nvSpPr>
        <p:spPr>
          <a:xfrm>
            <a:off x="309225" y="4371340"/>
            <a:ext cx="198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dirty="0">
                <a:solidFill>
                  <a:srgbClr val="1A1D21"/>
                </a:solidFill>
                <a:latin typeface="华文中宋" panose="02010600040101010101" charset="-122"/>
                <a:ea typeface="华文中宋" panose="02010600040101010101" charset="-122"/>
                <a:cs typeface="Liter" pitchFamily="34" charset="-120"/>
              </a:rPr>
              <a:t>DB</a:t>
            </a:r>
            <a:endParaRPr lang="en-US" sz="980" b="1" dirty="0">
              <a:solidFill>
                <a:srgbClr val="1A1D21"/>
              </a:solidFill>
              <a:latin typeface="华文中宋" panose="02010600040101010101" charset="-122"/>
              <a:ea typeface="华文中宋" panose="02010600040101010101" charset="-122"/>
              <a:cs typeface="Liter" pitchFamily="34" charset="-12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636482" y="4180840"/>
            <a:ext cx="6143625" cy="539750"/>
          </a:xfrm>
          <a:custGeom>
            <a:avLst/>
            <a:gdLst/>
            <a:ahLst/>
            <a:cxnLst/>
            <a:rect l="l" t="t" r="r" b="b"/>
            <a:pathLst>
              <a:path w="6143625" h="539750">
                <a:moveTo>
                  <a:pt x="63502" y="0"/>
                </a:moveTo>
                <a:lnTo>
                  <a:pt x="6080123" y="0"/>
                </a:lnTo>
                <a:cubicBezTo>
                  <a:pt x="6115194" y="0"/>
                  <a:pt x="6143625" y="28431"/>
                  <a:pt x="6143625" y="63502"/>
                </a:cubicBezTo>
                <a:lnTo>
                  <a:pt x="6143625" y="476248"/>
                </a:lnTo>
                <a:cubicBezTo>
                  <a:pt x="6143625" y="511319"/>
                  <a:pt x="6115194" y="539750"/>
                  <a:pt x="60801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70" name="Text 68"/>
          <p:cNvSpPr/>
          <p:nvPr/>
        </p:nvSpPr>
        <p:spPr>
          <a:xfrm>
            <a:off x="731732" y="4276090"/>
            <a:ext cx="6016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数据存储 (Database)</a:t>
            </a:r>
            <a:endParaRPr lang="en-US" sz="12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31732" y="4466590"/>
            <a:ext cx="6008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6B7D8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MySQL · 数据持久化 · 关系型存储</a:t>
            </a:r>
            <a:endParaRPr lang="en-US" sz="980" dirty="0">
              <a:solidFill>
                <a:srgbClr val="6B7D8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7142569" y="1130195"/>
            <a:ext cx="4537604" cy="2704042"/>
          </a:xfrm>
          <a:custGeom>
            <a:avLst/>
            <a:gdLst/>
            <a:ahLst/>
            <a:cxnLst/>
            <a:rect l="l" t="t" r="r" b="b"/>
            <a:pathLst>
              <a:path w="4537604" h="2704042">
                <a:moveTo>
                  <a:pt x="95263" y="0"/>
                </a:moveTo>
                <a:lnTo>
                  <a:pt x="4442341" y="0"/>
                </a:lnTo>
                <a:cubicBezTo>
                  <a:pt x="4494953" y="0"/>
                  <a:pt x="4537604" y="42651"/>
                  <a:pt x="4537604" y="95263"/>
                </a:cubicBezTo>
                <a:lnTo>
                  <a:pt x="4537604" y="2608778"/>
                </a:lnTo>
                <a:cubicBezTo>
                  <a:pt x="4537604" y="2661391"/>
                  <a:pt x="4494953" y="2704042"/>
                  <a:pt x="4442341" y="2704042"/>
                </a:cubicBezTo>
                <a:lnTo>
                  <a:pt x="95263" y="2704042"/>
                </a:lnTo>
                <a:cubicBezTo>
                  <a:pt x="42651" y="2704042"/>
                  <a:pt x="0" y="2661391"/>
                  <a:pt x="0" y="2608778"/>
                </a:cubicBezTo>
                <a:lnTo>
                  <a:pt x="0" y="95263"/>
                </a:lnTo>
                <a:cubicBezTo>
                  <a:pt x="0" y="42651"/>
                  <a:pt x="42651" y="0"/>
                  <a:pt x="95263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>
                  <a:alpha val="20000"/>
                </a:srgbClr>
              </a:gs>
              <a:gs pos="100000">
                <a:srgbClr val="3A5F7A">
                  <a:alpha val="20000"/>
                </a:srgbClr>
              </a:gs>
            </a:gsLst>
            <a:lin ang="2700000" scaled="1"/>
          </a:gradFill>
          <a:ln w="8467">
            <a:solidFill>
              <a:srgbClr val="4ECDC4">
                <a:alpha val="40000"/>
              </a:srgbClr>
            </a:solidFill>
            <a:prstDash val="solid"/>
          </a:ln>
        </p:spPr>
        <p:txBody>
          <a:bodyPr/>
          <a:p>
            <a:endParaRPr lang="zh-CN" altLang="en-US" sz="2000"/>
          </a:p>
        </p:txBody>
      </p:sp>
      <p:sp>
        <p:nvSpPr>
          <p:cNvPr id="73" name="Shape 71"/>
          <p:cNvSpPr/>
          <p:nvPr/>
        </p:nvSpPr>
        <p:spPr>
          <a:xfrm>
            <a:off x="7253959" y="132334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4" name="Text 72"/>
          <p:cNvSpPr/>
          <p:nvPr/>
        </p:nvSpPr>
        <p:spPr>
          <a:xfrm>
            <a:off x="7432553" y="1291590"/>
            <a:ext cx="40957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Alimama ShuHeiTi" pitchFamily="34" charset="-120"/>
              </a:rPr>
              <a:t>架构优势</a:t>
            </a:r>
            <a:endParaRPr lang="en-US" sz="14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Alimama ShuHeiTi" pitchFamily="34" charset="-12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7281740" y="167259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76" name="Text 74"/>
          <p:cNvSpPr/>
          <p:nvPr/>
        </p:nvSpPr>
        <p:spPr>
          <a:xfrm>
            <a:off x="7456365" y="1640840"/>
            <a:ext cx="260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模块化设计：</a:t>
            </a:r>
            <a:r>
              <a:rPr lang="en-US" sz="1200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各层职责清晰，便于维护和扩展</a:t>
            </a:r>
            <a:endParaRPr lang="en-US" sz="1200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MiSans" pitchFamily="34" charset="-12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7281740" y="195834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78" name="Text 76"/>
          <p:cNvSpPr/>
          <p:nvPr/>
        </p:nvSpPr>
        <p:spPr>
          <a:xfrm>
            <a:off x="7456365" y="1926590"/>
            <a:ext cx="2603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松耦合：</a:t>
            </a:r>
            <a:r>
              <a:rPr lang="en-US" sz="1200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层与层之间通过接口交互，降低依赖</a:t>
            </a:r>
            <a:endParaRPr lang="en-US" sz="1200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MiSans" pitchFamily="34" charset="-12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7281740" y="224409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80" name="Text 78"/>
          <p:cNvSpPr/>
          <p:nvPr/>
        </p:nvSpPr>
        <p:spPr>
          <a:xfrm>
            <a:off x="7456365" y="2212340"/>
            <a:ext cx="273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可测试性：</a:t>
            </a:r>
            <a:r>
              <a:rPr lang="en-US" sz="1200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各层可独立单元测试，保证代码质量</a:t>
            </a:r>
            <a:endParaRPr lang="en-US" sz="1200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MiSans" pitchFamily="34" charset="-12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7281740" y="2529840"/>
            <a:ext cx="63500" cy="127000"/>
          </a:xfrm>
          <a:custGeom>
            <a:avLst/>
            <a:gdLst/>
            <a:ahLst/>
            <a:cxnLst/>
            <a:rect l="l" t="t" r="r" b="b"/>
            <a:pathLst>
              <a:path w="63500" h="127000">
                <a:moveTo>
                  <a:pt x="61292" y="57894"/>
                </a:moveTo>
                <a:cubicBezTo>
                  <a:pt x="64393" y="60995"/>
                  <a:pt x="64393" y="66030"/>
                  <a:pt x="61292" y="69131"/>
                </a:cubicBezTo>
                <a:lnTo>
                  <a:pt x="21605" y="108818"/>
                </a:lnTo>
                <a:cubicBezTo>
                  <a:pt x="18504" y="111919"/>
                  <a:pt x="13469" y="111919"/>
                  <a:pt x="10368" y="108818"/>
                </a:cubicBezTo>
                <a:cubicBezTo>
                  <a:pt x="7268" y="105718"/>
                  <a:pt x="7268" y="100682"/>
                  <a:pt x="10368" y="97582"/>
                </a:cubicBezTo>
                <a:lnTo>
                  <a:pt x="44450" y="63500"/>
                </a:lnTo>
                <a:lnTo>
                  <a:pt x="10393" y="29418"/>
                </a:lnTo>
                <a:cubicBezTo>
                  <a:pt x="7293" y="26318"/>
                  <a:pt x="7293" y="21282"/>
                  <a:pt x="10393" y="18182"/>
                </a:cubicBezTo>
                <a:cubicBezTo>
                  <a:pt x="13494" y="15081"/>
                  <a:pt x="18529" y="15081"/>
                  <a:pt x="21630" y="18182"/>
                </a:cubicBezTo>
                <a:lnTo>
                  <a:pt x="61317" y="57869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82" name="Text 80"/>
          <p:cNvSpPr/>
          <p:nvPr/>
        </p:nvSpPr>
        <p:spPr>
          <a:xfrm>
            <a:off x="7456365" y="2498090"/>
            <a:ext cx="273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ECDC4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技术成熟：</a:t>
            </a:r>
            <a:r>
              <a:rPr lang="en-US" sz="1200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采用业界主流技术栈，社区支持完善</a:t>
            </a:r>
            <a:endParaRPr lang="en-US" sz="1200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MiSans" pitchFamily="34" charset="-12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11346815" y="412263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87313"/>
                </a:lnTo>
                <a:cubicBezTo>
                  <a:pt x="0" y="96069"/>
                  <a:pt x="7119" y="103188"/>
                  <a:pt x="15875" y="103188"/>
                </a:cubicBezTo>
                <a:lnTo>
                  <a:pt x="51594" y="103188"/>
                </a:lnTo>
                <a:lnTo>
                  <a:pt x="47625" y="115094"/>
                </a:lnTo>
                <a:lnTo>
                  <a:pt x="29766" y="115094"/>
                </a:lnTo>
                <a:cubicBezTo>
                  <a:pt x="26467" y="115094"/>
                  <a:pt x="23812" y="117748"/>
                  <a:pt x="23812" y="121047"/>
                </a:cubicBezTo>
                <a:cubicBezTo>
                  <a:pt x="23812" y="124346"/>
                  <a:pt x="26467" y="127000"/>
                  <a:pt x="29766" y="127000"/>
                </a:cubicBezTo>
                <a:lnTo>
                  <a:pt x="97234" y="127000"/>
                </a:lnTo>
                <a:cubicBezTo>
                  <a:pt x="100533" y="127000"/>
                  <a:pt x="103188" y="124346"/>
                  <a:pt x="103188" y="121047"/>
                </a:cubicBezTo>
                <a:cubicBezTo>
                  <a:pt x="103188" y="117748"/>
                  <a:pt x="100533" y="115094"/>
                  <a:pt x="97234" y="115094"/>
                </a:cubicBezTo>
                <a:lnTo>
                  <a:pt x="79375" y="115094"/>
                </a:lnTo>
                <a:lnTo>
                  <a:pt x="75406" y="103188"/>
                </a:lnTo>
                <a:lnTo>
                  <a:pt x="111125" y="103188"/>
                </a:lnTo>
                <a:cubicBezTo>
                  <a:pt x="119881" y="103188"/>
                  <a:pt x="127000" y="96069"/>
                  <a:pt x="127000" y="87313"/>
                </a:cubicBezTo>
                <a:lnTo>
                  <a:pt x="127000" y="23812"/>
                </a:lnTo>
                <a:cubicBezTo>
                  <a:pt x="127000" y="15056"/>
                  <a:pt x="119881" y="7938"/>
                  <a:pt x="111125" y="7938"/>
                </a:cubicBezTo>
                <a:lnTo>
                  <a:pt x="15875" y="7938"/>
                </a:lnTo>
                <a:close/>
                <a:moveTo>
                  <a:pt x="23812" y="23812"/>
                </a:moveTo>
                <a:lnTo>
                  <a:pt x="103188" y="23812"/>
                </a:lnTo>
                <a:cubicBezTo>
                  <a:pt x="107578" y="23812"/>
                  <a:pt x="111125" y="27360"/>
                  <a:pt x="111125" y="31750"/>
                </a:cubicBezTo>
                <a:lnTo>
                  <a:pt x="111125" y="71438"/>
                </a:lnTo>
                <a:cubicBezTo>
                  <a:pt x="111125" y="75828"/>
                  <a:pt x="107578" y="79375"/>
                  <a:pt x="103188" y="79375"/>
                </a:cubicBezTo>
                <a:lnTo>
                  <a:pt x="23812" y="79375"/>
                </a:lnTo>
                <a:cubicBezTo>
                  <a:pt x="19422" y="79375"/>
                  <a:pt x="15875" y="75828"/>
                  <a:pt x="15875" y="71438"/>
                </a:cubicBezTo>
                <a:lnTo>
                  <a:pt x="15875" y="31750"/>
                </a:lnTo>
                <a:cubicBezTo>
                  <a:pt x="15875" y="27360"/>
                  <a:pt x="19422" y="23812"/>
                  <a:pt x="23812" y="23812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86" name="Text 84"/>
          <p:cNvSpPr/>
          <p:nvPr/>
        </p:nvSpPr>
        <p:spPr>
          <a:xfrm>
            <a:off x="7197074" y="4344882"/>
            <a:ext cx="4373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华文中宋" panose="02010600040101010101" charset="-122"/>
                <a:ea typeface="华文中宋" panose="02010600040101010101" charset="-122"/>
                <a:cs typeface="MiSans" pitchFamily="34" charset="-120"/>
              </a:rPr>
              <a:t>Java 11+ · Maven 3.6+</a:t>
            </a:r>
            <a:endParaRPr lang="en-US" sz="1400" b="1" dirty="0">
              <a:solidFill>
                <a:srgbClr val="E0E2E5"/>
              </a:solidFill>
              <a:latin typeface="华文中宋" panose="02010600040101010101" charset="-122"/>
              <a:ea typeface="华文中宋" panose="02010600040101010101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LEARNING MODULES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核心功能模块（一）：</a:t>
            </a:r>
            <a:r>
              <a:rPr lang="zh-CN" alt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用户</a:t>
            </a: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功能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5" name="Shape 3"/>
          <p:cNvSpPr/>
          <p:nvPr/>
        </p:nvSpPr>
        <p:spPr>
          <a:xfrm>
            <a:off x="320146" y="1177396"/>
            <a:ext cx="5712354" cy="2926292"/>
          </a:xfrm>
          <a:custGeom>
            <a:avLst/>
            <a:gdLst/>
            <a:ahLst/>
            <a:cxnLst/>
            <a:rect l="l" t="t" r="r" b="b"/>
            <a:pathLst>
              <a:path w="5712354" h="2926292">
                <a:moveTo>
                  <a:pt x="95251" y="0"/>
                </a:moveTo>
                <a:lnTo>
                  <a:pt x="5617103" y="0"/>
                </a:lnTo>
                <a:cubicBezTo>
                  <a:pt x="5669709" y="0"/>
                  <a:pt x="5712354" y="42645"/>
                  <a:pt x="5712354" y="95251"/>
                </a:cubicBezTo>
                <a:lnTo>
                  <a:pt x="5712354" y="2831041"/>
                </a:lnTo>
                <a:cubicBezTo>
                  <a:pt x="5712354" y="2883646"/>
                  <a:pt x="5669709" y="2926292"/>
                  <a:pt x="5617103" y="2926292"/>
                </a:cubicBezTo>
                <a:lnTo>
                  <a:pt x="95251" y="2926292"/>
                </a:lnTo>
                <a:cubicBezTo>
                  <a:pt x="42645" y="2926292"/>
                  <a:pt x="0" y="2883646"/>
                  <a:pt x="0" y="2831041"/>
                </a:cubicBezTo>
                <a:lnTo>
                  <a:pt x="0" y="95251"/>
                </a:lnTo>
                <a:cubicBezTo>
                  <a:pt x="0" y="42680"/>
                  <a:pt x="42680" y="0"/>
                  <a:pt x="95251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1542" y="133879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7" name="Shape 5"/>
          <p:cNvSpPr/>
          <p:nvPr/>
        </p:nvSpPr>
        <p:spPr>
          <a:xfrm>
            <a:off x="602589" y="144991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19062" y="158750"/>
                </a:moveTo>
                <a:lnTo>
                  <a:pt x="29766" y="158750"/>
                </a:lnTo>
                <a:cubicBezTo>
                  <a:pt x="13333" y="158750"/>
                  <a:pt x="0" y="145417"/>
                  <a:pt x="0" y="128984"/>
                </a:cubicBezTo>
                <a:lnTo>
                  <a:pt x="0" y="29766"/>
                </a:lnTo>
                <a:cubicBezTo>
                  <a:pt x="0" y="13333"/>
                  <a:pt x="13333" y="0"/>
                  <a:pt x="29766" y="0"/>
                </a:cubicBezTo>
                <a:lnTo>
                  <a:pt x="124023" y="0"/>
                </a:lnTo>
                <a:cubicBezTo>
                  <a:pt x="132240" y="0"/>
                  <a:pt x="138906" y="6666"/>
                  <a:pt x="138906" y="14883"/>
                </a:cubicBezTo>
                <a:lnTo>
                  <a:pt x="138906" y="104180"/>
                </a:lnTo>
                <a:cubicBezTo>
                  <a:pt x="138906" y="110660"/>
                  <a:pt x="134751" y="116179"/>
                  <a:pt x="128984" y="118225"/>
                </a:cubicBezTo>
                <a:lnTo>
                  <a:pt x="128984" y="138906"/>
                </a:lnTo>
                <a:cubicBezTo>
                  <a:pt x="134472" y="138906"/>
                  <a:pt x="138906" y="143340"/>
                  <a:pt x="138906" y="148828"/>
                </a:cubicBezTo>
                <a:cubicBezTo>
                  <a:pt x="138906" y="154316"/>
                  <a:pt x="134472" y="158750"/>
                  <a:pt x="128984" y="158750"/>
                </a:cubicBezTo>
                <a:lnTo>
                  <a:pt x="119062" y="158750"/>
                </a:lnTo>
                <a:close/>
                <a:moveTo>
                  <a:pt x="29766" y="119062"/>
                </a:moveTo>
                <a:cubicBezTo>
                  <a:pt x="24278" y="119062"/>
                  <a:pt x="19844" y="123496"/>
                  <a:pt x="19844" y="128984"/>
                </a:cubicBezTo>
                <a:cubicBezTo>
                  <a:pt x="19844" y="134472"/>
                  <a:pt x="24278" y="138906"/>
                  <a:pt x="29766" y="138906"/>
                </a:cubicBezTo>
                <a:lnTo>
                  <a:pt x="109141" y="138906"/>
                </a:lnTo>
                <a:lnTo>
                  <a:pt x="109141" y="119062"/>
                </a:lnTo>
                <a:lnTo>
                  <a:pt x="29766" y="119062"/>
                </a:lnTo>
                <a:close/>
                <a:moveTo>
                  <a:pt x="39688" y="47129"/>
                </a:moveTo>
                <a:cubicBezTo>
                  <a:pt x="39688" y="51253"/>
                  <a:pt x="43005" y="54570"/>
                  <a:pt x="47129" y="54570"/>
                </a:cubicBezTo>
                <a:lnTo>
                  <a:pt x="101699" y="54570"/>
                </a:lnTo>
                <a:cubicBezTo>
                  <a:pt x="105823" y="54570"/>
                  <a:pt x="109141" y="51253"/>
                  <a:pt x="109141" y="47129"/>
                </a:cubicBezTo>
                <a:cubicBezTo>
                  <a:pt x="109141" y="43005"/>
                  <a:pt x="105823" y="39688"/>
                  <a:pt x="101699" y="39688"/>
                </a:cubicBezTo>
                <a:lnTo>
                  <a:pt x="47129" y="39688"/>
                </a:lnTo>
                <a:cubicBezTo>
                  <a:pt x="43005" y="39688"/>
                  <a:pt x="39688" y="43005"/>
                  <a:pt x="39688" y="47129"/>
                </a:cubicBezTo>
                <a:close/>
                <a:moveTo>
                  <a:pt x="47129" y="69453"/>
                </a:moveTo>
                <a:cubicBezTo>
                  <a:pt x="43005" y="69453"/>
                  <a:pt x="39688" y="72771"/>
                  <a:pt x="39688" y="76895"/>
                </a:cubicBezTo>
                <a:cubicBezTo>
                  <a:pt x="39688" y="81018"/>
                  <a:pt x="43005" y="84336"/>
                  <a:pt x="47129" y="84336"/>
                </a:cubicBezTo>
                <a:lnTo>
                  <a:pt x="101699" y="84336"/>
                </a:lnTo>
                <a:cubicBezTo>
                  <a:pt x="105823" y="84336"/>
                  <a:pt x="109141" y="81018"/>
                  <a:pt x="109141" y="76895"/>
                </a:cubicBezTo>
                <a:cubicBezTo>
                  <a:pt x="109141" y="72771"/>
                  <a:pt x="105823" y="69453"/>
                  <a:pt x="101699" y="69453"/>
                </a:cubicBezTo>
                <a:lnTo>
                  <a:pt x="47129" y="69453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957792" y="1338792"/>
            <a:ext cx="1127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背单词模块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7792" y="1561042"/>
            <a:ext cx="1103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Vocabulary Learning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542" y="1815042"/>
            <a:ext cx="5389563" cy="1222375"/>
          </a:xfrm>
          <a:custGeom>
            <a:avLst/>
            <a:gdLst/>
            <a:ahLst/>
            <a:cxnLst/>
            <a:rect l="l" t="t" r="r" b="b"/>
            <a:pathLst>
              <a:path w="5389563" h="1222375">
                <a:moveTo>
                  <a:pt x="63502" y="0"/>
                </a:moveTo>
                <a:lnTo>
                  <a:pt x="5326060" y="0"/>
                </a:lnTo>
                <a:cubicBezTo>
                  <a:pt x="5361132" y="0"/>
                  <a:pt x="5389562" y="28431"/>
                  <a:pt x="5389562" y="63502"/>
                </a:cubicBezTo>
                <a:lnTo>
                  <a:pt x="5389563" y="1158873"/>
                </a:lnTo>
                <a:cubicBezTo>
                  <a:pt x="5389562" y="1193944"/>
                  <a:pt x="5361132" y="1222375"/>
                  <a:pt x="5326060" y="1222375"/>
                </a:cubicBezTo>
                <a:lnTo>
                  <a:pt x="63502" y="1222375"/>
                </a:lnTo>
                <a:cubicBezTo>
                  <a:pt x="28431" y="1222375"/>
                  <a:pt x="0" y="1193944"/>
                  <a:pt x="0" y="115887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85721" y="194998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12" name="Text 10"/>
          <p:cNvSpPr/>
          <p:nvPr/>
        </p:nvSpPr>
        <p:spPr>
          <a:xfrm>
            <a:off x="719667" y="1910292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792" y="2164292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分级词汇学习（四级/六级词书）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6792" y="2370667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学习进度实时跟踪与统计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792" y="2577042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单词收藏与重复记忆功能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6792" y="2783417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学习状态管理（未学/学习中/已记住）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1542" y="3132667"/>
            <a:ext cx="5389563" cy="809625"/>
          </a:xfrm>
          <a:custGeom>
            <a:avLst/>
            <a:gdLst/>
            <a:ahLst/>
            <a:cxnLst/>
            <a:rect l="l" t="t" r="r" b="b"/>
            <a:pathLst>
              <a:path w="5389563" h="809625">
                <a:moveTo>
                  <a:pt x="63499" y="0"/>
                </a:moveTo>
                <a:lnTo>
                  <a:pt x="5326064" y="0"/>
                </a:lnTo>
                <a:cubicBezTo>
                  <a:pt x="5361133" y="0"/>
                  <a:pt x="5389563" y="28429"/>
                  <a:pt x="5389563" y="63499"/>
                </a:cubicBezTo>
                <a:lnTo>
                  <a:pt x="5389563" y="746126"/>
                </a:lnTo>
                <a:cubicBezTo>
                  <a:pt x="5389563" y="781196"/>
                  <a:pt x="5361133" y="809625"/>
                  <a:pt x="5326064" y="809625"/>
                </a:cubicBezTo>
                <a:lnTo>
                  <a:pt x="63499" y="809625"/>
                </a:lnTo>
                <a:cubicBezTo>
                  <a:pt x="28429" y="809625"/>
                  <a:pt x="0" y="781196"/>
                  <a:pt x="0" y="74612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585721" y="326760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78308" y="260"/>
                </a:moveTo>
                <a:cubicBezTo>
                  <a:pt x="74619" y="-803"/>
                  <a:pt x="70777" y="1346"/>
                  <a:pt x="69714" y="5035"/>
                </a:cubicBezTo>
                <a:lnTo>
                  <a:pt x="41932" y="102270"/>
                </a:lnTo>
                <a:cubicBezTo>
                  <a:pt x="40869" y="105959"/>
                  <a:pt x="43018" y="109801"/>
                  <a:pt x="46707" y="110865"/>
                </a:cubicBezTo>
                <a:cubicBezTo>
                  <a:pt x="50397" y="111928"/>
                  <a:pt x="54239" y="109779"/>
                  <a:pt x="55302" y="106090"/>
                </a:cubicBezTo>
                <a:lnTo>
                  <a:pt x="83083" y="8855"/>
                </a:lnTo>
                <a:cubicBezTo>
                  <a:pt x="84147" y="5166"/>
                  <a:pt x="81998" y="1324"/>
                  <a:pt x="78308" y="260"/>
                </a:cubicBezTo>
                <a:close/>
                <a:moveTo>
                  <a:pt x="92329" y="29800"/>
                </a:moveTo>
                <a:cubicBezTo>
                  <a:pt x="89616" y="32513"/>
                  <a:pt x="89616" y="36919"/>
                  <a:pt x="92329" y="39632"/>
                </a:cubicBezTo>
                <a:lnTo>
                  <a:pt x="108260" y="55563"/>
                </a:lnTo>
                <a:lnTo>
                  <a:pt x="92329" y="71493"/>
                </a:lnTo>
                <a:cubicBezTo>
                  <a:pt x="89616" y="74206"/>
                  <a:pt x="89616" y="78612"/>
                  <a:pt x="92329" y="81325"/>
                </a:cubicBezTo>
                <a:cubicBezTo>
                  <a:pt x="95042" y="84038"/>
                  <a:pt x="99448" y="84038"/>
                  <a:pt x="102161" y="81325"/>
                </a:cubicBezTo>
                <a:lnTo>
                  <a:pt x="122997" y="60489"/>
                </a:lnTo>
                <a:cubicBezTo>
                  <a:pt x="125710" y="57776"/>
                  <a:pt x="125710" y="53370"/>
                  <a:pt x="122997" y="50657"/>
                </a:cubicBezTo>
                <a:lnTo>
                  <a:pt x="102161" y="29821"/>
                </a:lnTo>
                <a:cubicBezTo>
                  <a:pt x="99448" y="27108"/>
                  <a:pt x="95042" y="27108"/>
                  <a:pt x="92329" y="29821"/>
                </a:cubicBezTo>
                <a:close/>
                <a:moveTo>
                  <a:pt x="32708" y="29800"/>
                </a:moveTo>
                <a:cubicBezTo>
                  <a:pt x="29995" y="27087"/>
                  <a:pt x="25589" y="27087"/>
                  <a:pt x="22876" y="29800"/>
                </a:cubicBezTo>
                <a:lnTo>
                  <a:pt x="2040" y="50636"/>
                </a:lnTo>
                <a:cubicBezTo>
                  <a:pt x="-673" y="53349"/>
                  <a:pt x="-673" y="57755"/>
                  <a:pt x="2040" y="60468"/>
                </a:cubicBezTo>
                <a:lnTo>
                  <a:pt x="22876" y="81304"/>
                </a:lnTo>
                <a:cubicBezTo>
                  <a:pt x="25589" y="84017"/>
                  <a:pt x="29995" y="84017"/>
                  <a:pt x="32708" y="81304"/>
                </a:cubicBezTo>
                <a:cubicBezTo>
                  <a:pt x="35421" y="78591"/>
                  <a:pt x="35421" y="74185"/>
                  <a:pt x="32708" y="71472"/>
                </a:cubicBezTo>
                <a:lnTo>
                  <a:pt x="16777" y="55563"/>
                </a:lnTo>
                <a:lnTo>
                  <a:pt x="32686" y="39632"/>
                </a:lnTo>
                <a:cubicBezTo>
                  <a:pt x="35399" y="36919"/>
                  <a:pt x="35399" y="32513"/>
                  <a:pt x="32686" y="2980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9" name="Text 17"/>
          <p:cNvSpPr/>
          <p:nvPr/>
        </p:nvSpPr>
        <p:spPr>
          <a:xfrm>
            <a:off x="719667" y="3227917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6792" y="3481917"/>
            <a:ext cx="5254625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采用MyBatis实现单词CRUD操作，通过状态字段(study/remember/collection)实现学习进度跟踪，支持按等级(grade)查询和随机抽取未学习单词。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146" y="4232012"/>
            <a:ext cx="5712354" cy="2743729"/>
          </a:xfrm>
          <a:custGeom>
            <a:avLst/>
            <a:gdLst/>
            <a:ahLst/>
            <a:cxnLst/>
            <a:rect l="l" t="t" r="r" b="b"/>
            <a:pathLst>
              <a:path w="5712354" h="2743729">
                <a:moveTo>
                  <a:pt x="95262" y="0"/>
                </a:moveTo>
                <a:lnTo>
                  <a:pt x="5617092" y="0"/>
                </a:lnTo>
                <a:cubicBezTo>
                  <a:pt x="5669704" y="0"/>
                  <a:pt x="5712354" y="42650"/>
                  <a:pt x="5712354" y="95262"/>
                </a:cubicBezTo>
                <a:lnTo>
                  <a:pt x="5712354" y="2648467"/>
                </a:lnTo>
                <a:cubicBezTo>
                  <a:pt x="5712354" y="2701079"/>
                  <a:pt x="5669704" y="2743729"/>
                  <a:pt x="5617092" y="2743729"/>
                </a:cubicBezTo>
                <a:lnTo>
                  <a:pt x="95262" y="2743729"/>
                </a:lnTo>
                <a:cubicBezTo>
                  <a:pt x="42650" y="2743729"/>
                  <a:pt x="0" y="2701079"/>
                  <a:pt x="0" y="2648467"/>
                </a:cubicBezTo>
                <a:lnTo>
                  <a:pt x="0" y="95262"/>
                </a:lnTo>
                <a:cubicBezTo>
                  <a:pt x="0" y="42650"/>
                  <a:pt x="42650" y="0"/>
                  <a:pt x="95262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1542" y="43934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23" name="Shape 21"/>
          <p:cNvSpPr/>
          <p:nvPr/>
        </p:nvSpPr>
        <p:spPr>
          <a:xfrm>
            <a:off x="602589" y="4504531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69453"/>
                </a:moveTo>
                <a:cubicBezTo>
                  <a:pt x="19844" y="42044"/>
                  <a:pt x="42044" y="19844"/>
                  <a:pt x="69453" y="19844"/>
                </a:cubicBezTo>
                <a:cubicBezTo>
                  <a:pt x="96862" y="19844"/>
                  <a:pt x="119062" y="42044"/>
                  <a:pt x="119062" y="69453"/>
                </a:cubicBezTo>
                <a:lnTo>
                  <a:pt x="119062" y="81080"/>
                </a:lnTo>
                <a:cubicBezTo>
                  <a:pt x="115962" y="79995"/>
                  <a:pt x="112613" y="79375"/>
                  <a:pt x="109141" y="79375"/>
                </a:cubicBezTo>
                <a:lnTo>
                  <a:pt x="104180" y="79375"/>
                </a:lnTo>
                <a:cubicBezTo>
                  <a:pt x="95963" y="79375"/>
                  <a:pt x="89297" y="86041"/>
                  <a:pt x="89297" y="94258"/>
                </a:cubicBezTo>
                <a:lnTo>
                  <a:pt x="89297" y="133945"/>
                </a:lnTo>
                <a:cubicBezTo>
                  <a:pt x="89297" y="142162"/>
                  <a:pt x="95963" y="148828"/>
                  <a:pt x="104180" y="148828"/>
                </a:cubicBezTo>
                <a:lnTo>
                  <a:pt x="109141" y="148828"/>
                </a:lnTo>
                <a:cubicBezTo>
                  <a:pt x="125574" y="148828"/>
                  <a:pt x="138906" y="135496"/>
                  <a:pt x="138906" y="119062"/>
                </a:cubicBezTo>
                <a:lnTo>
                  <a:pt x="138906" y="69453"/>
                </a:lnTo>
                <a:cubicBezTo>
                  <a:pt x="138906" y="31099"/>
                  <a:pt x="107807" y="0"/>
                  <a:pt x="69453" y="0"/>
                </a:cubicBezTo>
                <a:cubicBezTo>
                  <a:pt x="31099" y="0"/>
                  <a:pt x="0" y="31099"/>
                  <a:pt x="0" y="69453"/>
                </a:cubicBezTo>
                <a:lnTo>
                  <a:pt x="0" y="119062"/>
                </a:lnTo>
                <a:cubicBezTo>
                  <a:pt x="0" y="135496"/>
                  <a:pt x="13333" y="148828"/>
                  <a:pt x="29766" y="148828"/>
                </a:cubicBezTo>
                <a:lnTo>
                  <a:pt x="34727" y="148828"/>
                </a:lnTo>
                <a:cubicBezTo>
                  <a:pt x="42943" y="148828"/>
                  <a:pt x="49609" y="142162"/>
                  <a:pt x="49609" y="133945"/>
                </a:cubicBezTo>
                <a:lnTo>
                  <a:pt x="49609" y="94258"/>
                </a:lnTo>
                <a:cubicBezTo>
                  <a:pt x="49609" y="86041"/>
                  <a:pt x="42943" y="79375"/>
                  <a:pt x="34727" y="79375"/>
                </a:cubicBezTo>
                <a:lnTo>
                  <a:pt x="29766" y="79375"/>
                </a:lnTo>
                <a:cubicBezTo>
                  <a:pt x="26293" y="79375"/>
                  <a:pt x="22944" y="79964"/>
                  <a:pt x="19844" y="81080"/>
                </a:cubicBezTo>
                <a:lnTo>
                  <a:pt x="19844" y="69453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24" name="Text 22"/>
          <p:cNvSpPr/>
          <p:nvPr/>
        </p:nvSpPr>
        <p:spPr>
          <a:xfrm>
            <a:off x="957792" y="4393406"/>
            <a:ext cx="1031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听力训练模块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7792" y="4615656"/>
            <a:ext cx="1008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Listening Practice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1542" y="4869656"/>
            <a:ext cx="5389563" cy="1222375"/>
          </a:xfrm>
          <a:custGeom>
            <a:avLst/>
            <a:gdLst/>
            <a:ahLst/>
            <a:cxnLst/>
            <a:rect l="l" t="t" r="r" b="b"/>
            <a:pathLst>
              <a:path w="5389563" h="1222375">
                <a:moveTo>
                  <a:pt x="63502" y="0"/>
                </a:moveTo>
                <a:lnTo>
                  <a:pt x="5326060" y="0"/>
                </a:lnTo>
                <a:cubicBezTo>
                  <a:pt x="5361132" y="0"/>
                  <a:pt x="5389562" y="28431"/>
                  <a:pt x="5389562" y="63502"/>
                </a:cubicBezTo>
                <a:lnTo>
                  <a:pt x="5389563" y="1158873"/>
                </a:lnTo>
                <a:cubicBezTo>
                  <a:pt x="5389562" y="1193944"/>
                  <a:pt x="5361132" y="1222375"/>
                  <a:pt x="5326060" y="1222375"/>
                </a:cubicBezTo>
                <a:lnTo>
                  <a:pt x="63502" y="1222375"/>
                </a:lnTo>
                <a:cubicBezTo>
                  <a:pt x="28431" y="1222375"/>
                  <a:pt x="0" y="1193944"/>
                  <a:pt x="0" y="115887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585721" y="5004594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28" name="Text 26"/>
          <p:cNvSpPr/>
          <p:nvPr/>
        </p:nvSpPr>
        <p:spPr>
          <a:xfrm>
            <a:off x="719667" y="4964906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6792" y="5218906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分级听力资源（历年真题）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6792" y="5425281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音频流播放与进度控制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6792" y="5631656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听力原文对照显示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6792" y="5838031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配套习题边听边练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1542" y="6187281"/>
            <a:ext cx="5389563" cy="627063"/>
          </a:xfrm>
          <a:custGeom>
            <a:avLst/>
            <a:gdLst/>
            <a:ahLst/>
            <a:cxnLst/>
            <a:rect l="l" t="t" r="r" b="b"/>
            <a:pathLst>
              <a:path w="5389563" h="627063">
                <a:moveTo>
                  <a:pt x="63503" y="0"/>
                </a:moveTo>
                <a:lnTo>
                  <a:pt x="5326060" y="0"/>
                </a:lnTo>
                <a:cubicBezTo>
                  <a:pt x="5361131" y="0"/>
                  <a:pt x="5389563" y="28431"/>
                  <a:pt x="5389563" y="63503"/>
                </a:cubicBezTo>
                <a:lnTo>
                  <a:pt x="5389563" y="563560"/>
                </a:lnTo>
                <a:cubicBezTo>
                  <a:pt x="5389563" y="598631"/>
                  <a:pt x="5361131" y="627063"/>
                  <a:pt x="5326060" y="627063"/>
                </a:cubicBezTo>
                <a:lnTo>
                  <a:pt x="63503" y="627063"/>
                </a:lnTo>
                <a:cubicBezTo>
                  <a:pt x="28431" y="627063"/>
                  <a:pt x="0" y="598631"/>
                  <a:pt x="0" y="563560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585721" y="6322219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78308" y="260"/>
                </a:moveTo>
                <a:cubicBezTo>
                  <a:pt x="74619" y="-803"/>
                  <a:pt x="70777" y="1346"/>
                  <a:pt x="69714" y="5035"/>
                </a:cubicBezTo>
                <a:lnTo>
                  <a:pt x="41932" y="102270"/>
                </a:lnTo>
                <a:cubicBezTo>
                  <a:pt x="40869" y="105959"/>
                  <a:pt x="43018" y="109801"/>
                  <a:pt x="46707" y="110865"/>
                </a:cubicBezTo>
                <a:cubicBezTo>
                  <a:pt x="50397" y="111928"/>
                  <a:pt x="54239" y="109779"/>
                  <a:pt x="55302" y="106090"/>
                </a:cubicBezTo>
                <a:lnTo>
                  <a:pt x="83083" y="8855"/>
                </a:lnTo>
                <a:cubicBezTo>
                  <a:pt x="84147" y="5166"/>
                  <a:pt x="81998" y="1324"/>
                  <a:pt x="78308" y="260"/>
                </a:cubicBezTo>
                <a:close/>
                <a:moveTo>
                  <a:pt x="92329" y="29800"/>
                </a:moveTo>
                <a:cubicBezTo>
                  <a:pt x="89616" y="32513"/>
                  <a:pt x="89616" y="36919"/>
                  <a:pt x="92329" y="39632"/>
                </a:cubicBezTo>
                <a:lnTo>
                  <a:pt x="108260" y="55563"/>
                </a:lnTo>
                <a:lnTo>
                  <a:pt x="92329" y="71493"/>
                </a:lnTo>
                <a:cubicBezTo>
                  <a:pt x="89616" y="74206"/>
                  <a:pt x="89616" y="78612"/>
                  <a:pt x="92329" y="81325"/>
                </a:cubicBezTo>
                <a:cubicBezTo>
                  <a:pt x="95042" y="84038"/>
                  <a:pt x="99448" y="84038"/>
                  <a:pt x="102161" y="81325"/>
                </a:cubicBezTo>
                <a:lnTo>
                  <a:pt x="122997" y="60489"/>
                </a:lnTo>
                <a:cubicBezTo>
                  <a:pt x="125710" y="57776"/>
                  <a:pt x="125710" y="53370"/>
                  <a:pt x="122997" y="50657"/>
                </a:cubicBezTo>
                <a:lnTo>
                  <a:pt x="102161" y="29821"/>
                </a:lnTo>
                <a:cubicBezTo>
                  <a:pt x="99448" y="27108"/>
                  <a:pt x="95042" y="27108"/>
                  <a:pt x="92329" y="29821"/>
                </a:cubicBezTo>
                <a:close/>
                <a:moveTo>
                  <a:pt x="32708" y="29800"/>
                </a:moveTo>
                <a:cubicBezTo>
                  <a:pt x="29995" y="27087"/>
                  <a:pt x="25589" y="27087"/>
                  <a:pt x="22876" y="29800"/>
                </a:cubicBezTo>
                <a:lnTo>
                  <a:pt x="2040" y="50636"/>
                </a:lnTo>
                <a:cubicBezTo>
                  <a:pt x="-673" y="53349"/>
                  <a:pt x="-673" y="57755"/>
                  <a:pt x="2040" y="60468"/>
                </a:cubicBezTo>
                <a:lnTo>
                  <a:pt x="22876" y="81304"/>
                </a:lnTo>
                <a:cubicBezTo>
                  <a:pt x="25589" y="84017"/>
                  <a:pt x="29995" y="84017"/>
                  <a:pt x="32708" y="81304"/>
                </a:cubicBezTo>
                <a:cubicBezTo>
                  <a:pt x="35421" y="78591"/>
                  <a:pt x="35421" y="74185"/>
                  <a:pt x="32708" y="71472"/>
                </a:cubicBezTo>
                <a:lnTo>
                  <a:pt x="16777" y="55563"/>
                </a:lnTo>
                <a:lnTo>
                  <a:pt x="32686" y="39632"/>
                </a:lnTo>
                <a:cubicBezTo>
                  <a:pt x="35399" y="36919"/>
                  <a:pt x="35399" y="32513"/>
                  <a:pt x="32686" y="2980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35" name="Text 33"/>
          <p:cNvSpPr/>
          <p:nvPr/>
        </p:nvSpPr>
        <p:spPr>
          <a:xfrm>
            <a:off x="719667" y="6282531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6792" y="6536531"/>
            <a:ext cx="5254625" cy="182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音频文件存储与流式传输，支持按年份和等级筛选听力资源，前端集成HTML5 Audio API实现播放控制。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62146" y="1177396"/>
            <a:ext cx="5712354" cy="2926292"/>
          </a:xfrm>
          <a:custGeom>
            <a:avLst/>
            <a:gdLst/>
            <a:ahLst/>
            <a:cxnLst/>
            <a:rect l="l" t="t" r="r" b="b"/>
            <a:pathLst>
              <a:path w="5712354" h="2926292">
                <a:moveTo>
                  <a:pt x="95251" y="0"/>
                </a:moveTo>
                <a:lnTo>
                  <a:pt x="5617103" y="0"/>
                </a:lnTo>
                <a:cubicBezTo>
                  <a:pt x="5669709" y="0"/>
                  <a:pt x="5712354" y="42645"/>
                  <a:pt x="5712354" y="95251"/>
                </a:cubicBezTo>
                <a:lnTo>
                  <a:pt x="5712354" y="2831041"/>
                </a:lnTo>
                <a:cubicBezTo>
                  <a:pt x="5712354" y="2883646"/>
                  <a:pt x="5669709" y="2926292"/>
                  <a:pt x="5617103" y="2926292"/>
                </a:cubicBezTo>
                <a:lnTo>
                  <a:pt x="95251" y="2926292"/>
                </a:lnTo>
                <a:cubicBezTo>
                  <a:pt x="42645" y="2926292"/>
                  <a:pt x="0" y="2883646"/>
                  <a:pt x="0" y="2831041"/>
                </a:cubicBezTo>
                <a:lnTo>
                  <a:pt x="0" y="95251"/>
                </a:lnTo>
                <a:cubicBezTo>
                  <a:pt x="0" y="42680"/>
                  <a:pt x="42680" y="0"/>
                  <a:pt x="95251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3542" y="133879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39" name="Shape 37"/>
          <p:cNvSpPr/>
          <p:nvPr/>
        </p:nvSpPr>
        <p:spPr>
          <a:xfrm>
            <a:off x="6444589" y="144991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0" y="66973"/>
                </a:moveTo>
                <a:cubicBezTo>
                  <a:pt x="0" y="46416"/>
                  <a:pt x="16650" y="29766"/>
                  <a:pt x="37207" y="29766"/>
                </a:cubicBezTo>
                <a:lnTo>
                  <a:pt x="39688" y="29766"/>
                </a:lnTo>
                <a:cubicBezTo>
                  <a:pt x="45176" y="29766"/>
                  <a:pt x="49609" y="34199"/>
                  <a:pt x="49609" y="39688"/>
                </a:cubicBezTo>
                <a:cubicBezTo>
                  <a:pt x="49609" y="45176"/>
                  <a:pt x="45176" y="49609"/>
                  <a:pt x="39688" y="49609"/>
                </a:cubicBezTo>
                <a:lnTo>
                  <a:pt x="37207" y="49609"/>
                </a:lnTo>
                <a:cubicBezTo>
                  <a:pt x="27626" y="49609"/>
                  <a:pt x="19844" y="57392"/>
                  <a:pt x="19844" y="66973"/>
                </a:cubicBezTo>
                <a:lnTo>
                  <a:pt x="19844" y="69453"/>
                </a:lnTo>
                <a:lnTo>
                  <a:pt x="39688" y="69453"/>
                </a:lnTo>
                <a:cubicBezTo>
                  <a:pt x="50633" y="69453"/>
                  <a:pt x="59531" y="78352"/>
                  <a:pt x="59531" y="89297"/>
                </a:cubicBezTo>
                <a:lnTo>
                  <a:pt x="59531" y="109141"/>
                </a:lnTo>
                <a:cubicBezTo>
                  <a:pt x="59531" y="120086"/>
                  <a:pt x="50633" y="128984"/>
                  <a:pt x="39688" y="128984"/>
                </a:cubicBezTo>
                <a:lnTo>
                  <a:pt x="19844" y="128984"/>
                </a:lnTo>
                <a:cubicBezTo>
                  <a:pt x="8899" y="128984"/>
                  <a:pt x="0" y="120086"/>
                  <a:pt x="0" y="109141"/>
                </a:cubicBezTo>
                <a:lnTo>
                  <a:pt x="0" y="66973"/>
                </a:lnTo>
                <a:close/>
                <a:moveTo>
                  <a:pt x="79375" y="66973"/>
                </a:moveTo>
                <a:cubicBezTo>
                  <a:pt x="79375" y="46416"/>
                  <a:pt x="96025" y="29766"/>
                  <a:pt x="116582" y="29766"/>
                </a:cubicBezTo>
                <a:lnTo>
                  <a:pt x="119062" y="29766"/>
                </a:lnTo>
                <a:cubicBezTo>
                  <a:pt x="124551" y="29766"/>
                  <a:pt x="128984" y="34199"/>
                  <a:pt x="128984" y="39688"/>
                </a:cubicBezTo>
                <a:cubicBezTo>
                  <a:pt x="128984" y="45176"/>
                  <a:pt x="124551" y="49609"/>
                  <a:pt x="119062" y="49609"/>
                </a:cubicBezTo>
                <a:lnTo>
                  <a:pt x="116582" y="49609"/>
                </a:lnTo>
                <a:cubicBezTo>
                  <a:pt x="107001" y="49609"/>
                  <a:pt x="99219" y="57392"/>
                  <a:pt x="99219" y="66973"/>
                </a:cubicBezTo>
                <a:lnTo>
                  <a:pt x="99219" y="69453"/>
                </a:lnTo>
                <a:lnTo>
                  <a:pt x="119062" y="69453"/>
                </a:lnTo>
                <a:cubicBezTo>
                  <a:pt x="130008" y="69453"/>
                  <a:pt x="138906" y="78352"/>
                  <a:pt x="138906" y="89297"/>
                </a:cubicBezTo>
                <a:lnTo>
                  <a:pt x="138906" y="109141"/>
                </a:lnTo>
                <a:cubicBezTo>
                  <a:pt x="138906" y="120086"/>
                  <a:pt x="130008" y="128984"/>
                  <a:pt x="119062" y="128984"/>
                </a:cubicBezTo>
                <a:lnTo>
                  <a:pt x="99219" y="128984"/>
                </a:lnTo>
                <a:cubicBezTo>
                  <a:pt x="88274" y="128984"/>
                  <a:pt x="79375" y="120086"/>
                  <a:pt x="79375" y="109141"/>
                </a:cubicBezTo>
                <a:lnTo>
                  <a:pt x="79375" y="66973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40" name="Text 38"/>
          <p:cNvSpPr/>
          <p:nvPr/>
        </p:nvSpPr>
        <p:spPr>
          <a:xfrm>
            <a:off x="6799792" y="1338792"/>
            <a:ext cx="1031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每日一句模块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99792" y="1561042"/>
            <a:ext cx="1008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Daily Sentence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23542" y="1815042"/>
            <a:ext cx="5389563" cy="1222375"/>
          </a:xfrm>
          <a:custGeom>
            <a:avLst/>
            <a:gdLst/>
            <a:ahLst/>
            <a:cxnLst/>
            <a:rect l="l" t="t" r="r" b="b"/>
            <a:pathLst>
              <a:path w="5389563" h="1222375">
                <a:moveTo>
                  <a:pt x="63502" y="0"/>
                </a:moveTo>
                <a:lnTo>
                  <a:pt x="5326060" y="0"/>
                </a:lnTo>
                <a:cubicBezTo>
                  <a:pt x="5361132" y="0"/>
                  <a:pt x="5389562" y="28431"/>
                  <a:pt x="5389562" y="63502"/>
                </a:cubicBezTo>
                <a:lnTo>
                  <a:pt x="5389563" y="1158873"/>
                </a:lnTo>
                <a:cubicBezTo>
                  <a:pt x="5389562" y="1193944"/>
                  <a:pt x="5361132" y="1222375"/>
                  <a:pt x="5326060" y="1222375"/>
                </a:cubicBezTo>
                <a:lnTo>
                  <a:pt x="63502" y="1222375"/>
                </a:lnTo>
                <a:cubicBezTo>
                  <a:pt x="28431" y="1222375"/>
                  <a:pt x="0" y="1193944"/>
                  <a:pt x="0" y="115887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427722" y="1949980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44" name="Text 42"/>
          <p:cNvSpPr/>
          <p:nvPr/>
        </p:nvSpPr>
        <p:spPr>
          <a:xfrm>
            <a:off x="6561667" y="1910292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18792" y="2164292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首页随机展示经典句子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18792" y="2370667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中英双语对照显示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18792" y="2577042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定时任务自动更新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18792" y="2783417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句子收藏与分享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23542" y="3132667"/>
            <a:ext cx="5389563" cy="809625"/>
          </a:xfrm>
          <a:custGeom>
            <a:avLst/>
            <a:gdLst/>
            <a:ahLst/>
            <a:cxnLst/>
            <a:rect l="l" t="t" r="r" b="b"/>
            <a:pathLst>
              <a:path w="5389563" h="809625">
                <a:moveTo>
                  <a:pt x="63499" y="0"/>
                </a:moveTo>
                <a:lnTo>
                  <a:pt x="5326064" y="0"/>
                </a:lnTo>
                <a:cubicBezTo>
                  <a:pt x="5361133" y="0"/>
                  <a:pt x="5389563" y="28429"/>
                  <a:pt x="5389563" y="63499"/>
                </a:cubicBezTo>
                <a:lnTo>
                  <a:pt x="5389563" y="746126"/>
                </a:lnTo>
                <a:cubicBezTo>
                  <a:pt x="5389563" y="781196"/>
                  <a:pt x="5361133" y="809625"/>
                  <a:pt x="5326064" y="809625"/>
                </a:cubicBezTo>
                <a:lnTo>
                  <a:pt x="63499" y="809625"/>
                </a:lnTo>
                <a:cubicBezTo>
                  <a:pt x="28429" y="809625"/>
                  <a:pt x="0" y="781196"/>
                  <a:pt x="0" y="74612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6427722" y="326760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78308" y="260"/>
                </a:moveTo>
                <a:cubicBezTo>
                  <a:pt x="74619" y="-803"/>
                  <a:pt x="70777" y="1346"/>
                  <a:pt x="69714" y="5035"/>
                </a:cubicBezTo>
                <a:lnTo>
                  <a:pt x="41932" y="102270"/>
                </a:lnTo>
                <a:cubicBezTo>
                  <a:pt x="40869" y="105959"/>
                  <a:pt x="43018" y="109801"/>
                  <a:pt x="46707" y="110865"/>
                </a:cubicBezTo>
                <a:cubicBezTo>
                  <a:pt x="50397" y="111928"/>
                  <a:pt x="54239" y="109779"/>
                  <a:pt x="55302" y="106090"/>
                </a:cubicBezTo>
                <a:lnTo>
                  <a:pt x="83083" y="8855"/>
                </a:lnTo>
                <a:cubicBezTo>
                  <a:pt x="84147" y="5166"/>
                  <a:pt x="81998" y="1324"/>
                  <a:pt x="78308" y="260"/>
                </a:cubicBezTo>
                <a:close/>
                <a:moveTo>
                  <a:pt x="92329" y="29800"/>
                </a:moveTo>
                <a:cubicBezTo>
                  <a:pt x="89616" y="32513"/>
                  <a:pt x="89616" y="36919"/>
                  <a:pt x="92329" y="39632"/>
                </a:cubicBezTo>
                <a:lnTo>
                  <a:pt x="108260" y="55563"/>
                </a:lnTo>
                <a:lnTo>
                  <a:pt x="92329" y="71493"/>
                </a:lnTo>
                <a:cubicBezTo>
                  <a:pt x="89616" y="74206"/>
                  <a:pt x="89616" y="78612"/>
                  <a:pt x="92329" y="81325"/>
                </a:cubicBezTo>
                <a:cubicBezTo>
                  <a:pt x="95042" y="84038"/>
                  <a:pt x="99448" y="84038"/>
                  <a:pt x="102161" y="81325"/>
                </a:cubicBezTo>
                <a:lnTo>
                  <a:pt x="122997" y="60489"/>
                </a:lnTo>
                <a:cubicBezTo>
                  <a:pt x="125710" y="57776"/>
                  <a:pt x="125710" y="53370"/>
                  <a:pt x="122997" y="50657"/>
                </a:cubicBezTo>
                <a:lnTo>
                  <a:pt x="102161" y="29821"/>
                </a:lnTo>
                <a:cubicBezTo>
                  <a:pt x="99448" y="27108"/>
                  <a:pt x="95042" y="27108"/>
                  <a:pt x="92329" y="29821"/>
                </a:cubicBezTo>
                <a:close/>
                <a:moveTo>
                  <a:pt x="32708" y="29800"/>
                </a:moveTo>
                <a:cubicBezTo>
                  <a:pt x="29995" y="27087"/>
                  <a:pt x="25589" y="27087"/>
                  <a:pt x="22876" y="29800"/>
                </a:cubicBezTo>
                <a:lnTo>
                  <a:pt x="2040" y="50636"/>
                </a:lnTo>
                <a:cubicBezTo>
                  <a:pt x="-673" y="53349"/>
                  <a:pt x="-673" y="57755"/>
                  <a:pt x="2040" y="60468"/>
                </a:cubicBezTo>
                <a:lnTo>
                  <a:pt x="22876" y="81304"/>
                </a:lnTo>
                <a:cubicBezTo>
                  <a:pt x="25589" y="84017"/>
                  <a:pt x="29995" y="84017"/>
                  <a:pt x="32708" y="81304"/>
                </a:cubicBezTo>
                <a:cubicBezTo>
                  <a:pt x="35421" y="78591"/>
                  <a:pt x="35421" y="74185"/>
                  <a:pt x="32708" y="71472"/>
                </a:cubicBezTo>
                <a:lnTo>
                  <a:pt x="16777" y="55563"/>
                </a:lnTo>
                <a:lnTo>
                  <a:pt x="32686" y="39632"/>
                </a:lnTo>
                <a:cubicBezTo>
                  <a:pt x="35399" y="36919"/>
                  <a:pt x="35399" y="32513"/>
                  <a:pt x="32686" y="2980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51" name="Text 49"/>
          <p:cNvSpPr/>
          <p:nvPr/>
        </p:nvSpPr>
        <p:spPr>
          <a:xfrm>
            <a:off x="6561667" y="3227917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18792" y="3481917"/>
            <a:ext cx="5254625" cy="365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集成必应翻译API实现自动翻译，通过Spring定时任务(@Scheduled)每日更新展示内容，数据库存储句子库。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62146" y="4232012"/>
            <a:ext cx="5712354" cy="2743729"/>
          </a:xfrm>
          <a:custGeom>
            <a:avLst/>
            <a:gdLst/>
            <a:ahLst/>
            <a:cxnLst/>
            <a:rect l="l" t="t" r="r" b="b"/>
            <a:pathLst>
              <a:path w="5712354" h="2743729">
                <a:moveTo>
                  <a:pt x="95262" y="0"/>
                </a:moveTo>
                <a:lnTo>
                  <a:pt x="5617092" y="0"/>
                </a:lnTo>
                <a:cubicBezTo>
                  <a:pt x="5669704" y="0"/>
                  <a:pt x="5712354" y="42650"/>
                  <a:pt x="5712354" y="95262"/>
                </a:cubicBezTo>
                <a:lnTo>
                  <a:pt x="5712354" y="2648467"/>
                </a:lnTo>
                <a:cubicBezTo>
                  <a:pt x="5712354" y="2701079"/>
                  <a:pt x="5669704" y="2743729"/>
                  <a:pt x="5617092" y="2743729"/>
                </a:cubicBezTo>
                <a:lnTo>
                  <a:pt x="95262" y="2743729"/>
                </a:lnTo>
                <a:cubicBezTo>
                  <a:pt x="42650" y="2743729"/>
                  <a:pt x="0" y="2701079"/>
                  <a:pt x="0" y="2648467"/>
                </a:cubicBezTo>
                <a:lnTo>
                  <a:pt x="0" y="95262"/>
                </a:lnTo>
                <a:cubicBezTo>
                  <a:pt x="0" y="42650"/>
                  <a:pt x="42650" y="0"/>
                  <a:pt x="95262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3542" y="439340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55" name="Shape 53"/>
          <p:cNvSpPr/>
          <p:nvPr/>
        </p:nvSpPr>
        <p:spPr>
          <a:xfrm>
            <a:off x="6434667" y="450453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43811"/>
                </a:moveTo>
                <a:lnTo>
                  <a:pt x="79375" y="139712"/>
                </a:lnTo>
                <a:lnTo>
                  <a:pt x="79530" y="139650"/>
                </a:lnTo>
                <a:cubicBezTo>
                  <a:pt x="96459" y="132612"/>
                  <a:pt x="114629" y="128984"/>
                  <a:pt x="132953" y="128984"/>
                </a:cubicBezTo>
                <a:lnTo>
                  <a:pt x="138906" y="128984"/>
                </a:lnTo>
                <a:lnTo>
                  <a:pt x="138906" y="29766"/>
                </a:lnTo>
                <a:lnTo>
                  <a:pt x="132953" y="29766"/>
                </a:lnTo>
                <a:cubicBezTo>
                  <a:pt x="119869" y="29766"/>
                  <a:pt x="106877" y="32370"/>
                  <a:pt x="94785" y="37393"/>
                </a:cubicBezTo>
                <a:cubicBezTo>
                  <a:pt x="89576" y="39563"/>
                  <a:pt x="84429" y="41703"/>
                  <a:pt x="79375" y="43811"/>
                </a:cubicBezTo>
                <a:close/>
                <a:moveTo>
                  <a:pt x="71593" y="19069"/>
                </a:moveTo>
                <a:lnTo>
                  <a:pt x="79375" y="22324"/>
                </a:lnTo>
                <a:lnTo>
                  <a:pt x="87157" y="19069"/>
                </a:lnTo>
                <a:cubicBezTo>
                  <a:pt x="101668" y="13022"/>
                  <a:pt x="117233" y="9922"/>
                  <a:pt x="132953" y="9922"/>
                </a:cubicBezTo>
                <a:lnTo>
                  <a:pt x="143867" y="9922"/>
                </a:lnTo>
                <a:cubicBezTo>
                  <a:pt x="152084" y="9922"/>
                  <a:pt x="158750" y="16588"/>
                  <a:pt x="158750" y="24805"/>
                </a:cubicBezTo>
                <a:lnTo>
                  <a:pt x="158750" y="133945"/>
                </a:lnTo>
                <a:cubicBezTo>
                  <a:pt x="158750" y="142162"/>
                  <a:pt x="152084" y="148828"/>
                  <a:pt x="143867" y="148828"/>
                </a:cubicBezTo>
                <a:lnTo>
                  <a:pt x="132953" y="148828"/>
                </a:lnTo>
                <a:cubicBezTo>
                  <a:pt x="117233" y="148828"/>
                  <a:pt x="101668" y="151929"/>
                  <a:pt x="87157" y="157975"/>
                </a:cubicBezTo>
                <a:lnTo>
                  <a:pt x="83189" y="159618"/>
                </a:lnTo>
                <a:cubicBezTo>
                  <a:pt x="80739" y="160641"/>
                  <a:pt x="78011" y="160641"/>
                  <a:pt x="75561" y="159618"/>
                </a:cubicBezTo>
                <a:lnTo>
                  <a:pt x="71593" y="157975"/>
                </a:lnTo>
                <a:cubicBezTo>
                  <a:pt x="57082" y="151929"/>
                  <a:pt x="41517" y="148828"/>
                  <a:pt x="25797" y="148828"/>
                </a:cubicBezTo>
                <a:lnTo>
                  <a:pt x="14883" y="148828"/>
                </a:lnTo>
                <a:cubicBezTo>
                  <a:pt x="6666" y="148828"/>
                  <a:pt x="0" y="142162"/>
                  <a:pt x="0" y="133945"/>
                </a:cubicBezTo>
                <a:lnTo>
                  <a:pt x="0" y="24805"/>
                </a:lnTo>
                <a:cubicBezTo>
                  <a:pt x="0" y="16588"/>
                  <a:pt x="6666" y="9922"/>
                  <a:pt x="14883" y="9922"/>
                </a:cubicBezTo>
                <a:lnTo>
                  <a:pt x="25797" y="9922"/>
                </a:lnTo>
                <a:cubicBezTo>
                  <a:pt x="41517" y="9922"/>
                  <a:pt x="57082" y="13022"/>
                  <a:pt x="71593" y="19069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56" name="Text 54"/>
          <p:cNvSpPr/>
          <p:nvPr/>
        </p:nvSpPr>
        <p:spPr>
          <a:xfrm>
            <a:off x="6799792" y="4393406"/>
            <a:ext cx="1031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阅读书籍模块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99792" y="4615656"/>
            <a:ext cx="1008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Reading Books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23542" y="4869656"/>
            <a:ext cx="5389563" cy="1222375"/>
          </a:xfrm>
          <a:custGeom>
            <a:avLst/>
            <a:gdLst/>
            <a:ahLst/>
            <a:cxnLst/>
            <a:rect l="l" t="t" r="r" b="b"/>
            <a:pathLst>
              <a:path w="5389563" h="1222375">
                <a:moveTo>
                  <a:pt x="63502" y="0"/>
                </a:moveTo>
                <a:lnTo>
                  <a:pt x="5326060" y="0"/>
                </a:lnTo>
                <a:cubicBezTo>
                  <a:pt x="5361132" y="0"/>
                  <a:pt x="5389562" y="28431"/>
                  <a:pt x="5389562" y="63502"/>
                </a:cubicBezTo>
                <a:lnTo>
                  <a:pt x="5389563" y="1158873"/>
                </a:lnTo>
                <a:cubicBezTo>
                  <a:pt x="5389562" y="1193944"/>
                  <a:pt x="5361132" y="1222375"/>
                  <a:pt x="5326060" y="1222375"/>
                </a:cubicBezTo>
                <a:lnTo>
                  <a:pt x="63502" y="1222375"/>
                </a:lnTo>
                <a:cubicBezTo>
                  <a:pt x="28431" y="1222375"/>
                  <a:pt x="0" y="1193944"/>
                  <a:pt x="0" y="115887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9" name="Shape 57"/>
          <p:cNvSpPr/>
          <p:nvPr/>
        </p:nvSpPr>
        <p:spPr>
          <a:xfrm>
            <a:off x="6427722" y="5004594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60" name="Text 58"/>
          <p:cNvSpPr/>
          <p:nvPr/>
        </p:nvSpPr>
        <p:spPr>
          <a:xfrm>
            <a:off x="6561667" y="4964906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18792" y="5218906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名人著作在线阅读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18792" y="5425281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Markdown格式内容渲染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18792" y="5631656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书籍分类与检索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18792" y="5838031"/>
            <a:ext cx="525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阅读进度保存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23542" y="6187281"/>
            <a:ext cx="5389563" cy="627063"/>
          </a:xfrm>
          <a:custGeom>
            <a:avLst/>
            <a:gdLst/>
            <a:ahLst/>
            <a:cxnLst/>
            <a:rect l="l" t="t" r="r" b="b"/>
            <a:pathLst>
              <a:path w="5389563" h="627063">
                <a:moveTo>
                  <a:pt x="63503" y="0"/>
                </a:moveTo>
                <a:lnTo>
                  <a:pt x="5326060" y="0"/>
                </a:lnTo>
                <a:cubicBezTo>
                  <a:pt x="5361131" y="0"/>
                  <a:pt x="5389563" y="28431"/>
                  <a:pt x="5389563" y="63503"/>
                </a:cubicBezTo>
                <a:lnTo>
                  <a:pt x="5389563" y="563560"/>
                </a:lnTo>
                <a:cubicBezTo>
                  <a:pt x="5389563" y="598631"/>
                  <a:pt x="5361131" y="627063"/>
                  <a:pt x="5326060" y="627063"/>
                </a:cubicBezTo>
                <a:lnTo>
                  <a:pt x="63503" y="627063"/>
                </a:lnTo>
                <a:cubicBezTo>
                  <a:pt x="28431" y="627063"/>
                  <a:pt x="0" y="598631"/>
                  <a:pt x="0" y="563560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6" name="Shape 64"/>
          <p:cNvSpPr/>
          <p:nvPr/>
        </p:nvSpPr>
        <p:spPr>
          <a:xfrm>
            <a:off x="6427722" y="6322219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78308" y="260"/>
                </a:moveTo>
                <a:cubicBezTo>
                  <a:pt x="74619" y="-803"/>
                  <a:pt x="70777" y="1346"/>
                  <a:pt x="69714" y="5035"/>
                </a:cubicBezTo>
                <a:lnTo>
                  <a:pt x="41932" y="102270"/>
                </a:lnTo>
                <a:cubicBezTo>
                  <a:pt x="40869" y="105959"/>
                  <a:pt x="43018" y="109801"/>
                  <a:pt x="46707" y="110865"/>
                </a:cubicBezTo>
                <a:cubicBezTo>
                  <a:pt x="50397" y="111928"/>
                  <a:pt x="54239" y="109779"/>
                  <a:pt x="55302" y="106090"/>
                </a:cubicBezTo>
                <a:lnTo>
                  <a:pt x="83083" y="8855"/>
                </a:lnTo>
                <a:cubicBezTo>
                  <a:pt x="84147" y="5166"/>
                  <a:pt x="81998" y="1324"/>
                  <a:pt x="78308" y="260"/>
                </a:cubicBezTo>
                <a:close/>
                <a:moveTo>
                  <a:pt x="92329" y="29800"/>
                </a:moveTo>
                <a:cubicBezTo>
                  <a:pt x="89616" y="32513"/>
                  <a:pt x="89616" y="36919"/>
                  <a:pt x="92329" y="39632"/>
                </a:cubicBezTo>
                <a:lnTo>
                  <a:pt x="108260" y="55563"/>
                </a:lnTo>
                <a:lnTo>
                  <a:pt x="92329" y="71493"/>
                </a:lnTo>
                <a:cubicBezTo>
                  <a:pt x="89616" y="74206"/>
                  <a:pt x="89616" y="78612"/>
                  <a:pt x="92329" y="81325"/>
                </a:cubicBezTo>
                <a:cubicBezTo>
                  <a:pt x="95042" y="84038"/>
                  <a:pt x="99448" y="84038"/>
                  <a:pt x="102161" y="81325"/>
                </a:cubicBezTo>
                <a:lnTo>
                  <a:pt x="122997" y="60489"/>
                </a:lnTo>
                <a:cubicBezTo>
                  <a:pt x="125710" y="57776"/>
                  <a:pt x="125710" y="53370"/>
                  <a:pt x="122997" y="50657"/>
                </a:cubicBezTo>
                <a:lnTo>
                  <a:pt x="102161" y="29821"/>
                </a:lnTo>
                <a:cubicBezTo>
                  <a:pt x="99448" y="27108"/>
                  <a:pt x="95042" y="27108"/>
                  <a:pt x="92329" y="29821"/>
                </a:cubicBezTo>
                <a:close/>
                <a:moveTo>
                  <a:pt x="32708" y="29800"/>
                </a:moveTo>
                <a:cubicBezTo>
                  <a:pt x="29995" y="27087"/>
                  <a:pt x="25589" y="27087"/>
                  <a:pt x="22876" y="29800"/>
                </a:cubicBezTo>
                <a:lnTo>
                  <a:pt x="2040" y="50636"/>
                </a:lnTo>
                <a:cubicBezTo>
                  <a:pt x="-673" y="53349"/>
                  <a:pt x="-673" y="57755"/>
                  <a:pt x="2040" y="60468"/>
                </a:cubicBezTo>
                <a:lnTo>
                  <a:pt x="22876" y="81304"/>
                </a:lnTo>
                <a:cubicBezTo>
                  <a:pt x="25589" y="84017"/>
                  <a:pt x="29995" y="84017"/>
                  <a:pt x="32708" y="81304"/>
                </a:cubicBezTo>
                <a:cubicBezTo>
                  <a:pt x="35421" y="78591"/>
                  <a:pt x="35421" y="74185"/>
                  <a:pt x="32708" y="71472"/>
                </a:cubicBezTo>
                <a:lnTo>
                  <a:pt x="16777" y="55563"/>
                </a:lnTo>
                <a:lnTo>
                  <a:pt x="32686" y="39632"/>
                </a:lnTo>
                <a:cubicBezTo>
                  <a:pt x="35399" y="36919"/>
                  <a:pt x="35399" y="32513"/>
                  <a:pt x="32686" y="2980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67" name="Text 65"/>
          <p:cNvSpPr/>
          <p:nvPr/>
        </p:nvSpPr>
        <p:spPr>
          <a:xfrm>
            <a:off x="6561667" y="6282531"/>
            <a:ext cx="511968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418792" y="6536531"/>
            <a:ext cx="5254625" cy="182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集成Editor.md编辑器实现Markdown渲染，支持书籍内容的分页展示和优雅排版，提供沉浸式阅读体验。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LEARNING MODULES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核心功能模块（一）：</a:t>
            </a:r>
            <a:r>
              <a:rPr lang="zh-CN" alt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用户</a:t>
            </a: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功能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0" y="1383665"/>
            <a:ext cx="5723890" cy="3472180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2494915" y="5109845"/>
            <a:ext cx="1275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登录界面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770" y="1353820"/>
            <a:ext cx="5650230" cy="3502025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8329295" y="5109845"/>
            <a:ext cx="1275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注册</a:t>
            </a:r>
            <a:r>
              <a:rPr lang="zh-CN" altLang="en-US">
                <a:solidFill>
                  <a:schemeClr val="bg1"/>
                </a:solidFill>
              </a:rPr>
              <a:t>界面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LEARNING MODULES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核心功能模块（一）：</a:t>
            </a:r>
            <a:r>
              <a:rPr lang="zh-CN" alt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用户</a:t>
            </a: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功能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1111250"/>
            <a:ext cx="9490710" cy="49129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36770" y="6119495"/>
            <a:ext cx="1320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用户主页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LEARNING MODULES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核心功能模块（一）：</a:t>
            </a:r>
            <a:r>
              <a:rPr lang="zh-CN" alt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用户</a:t>
            </a: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功能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7" name="文本框 6"/>
          <p:cNvSpPr txBox="1"/>
          <p:nvPr/>
        </p:nvSpPr>
        <p:spPr>
          <a:xfrm>
            <a:off x="5093335" y="6344920"/>
            <a:ext cx="1374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背单词</a:t>
            </a:r>
            <a:r>
              <a:rPr lang="zh-CN" altLang="en-US">
                <a:solidFill>
                  <a:schemeClr val="bg1"/>
                </a:solidFill>
              </a:rPr>
              <a:t>模块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3995" y="1257935"/>
            <a:ext cx="8509000" cy="48025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LEARNING MODULES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核心功能模块（一）：</a:t>
            </a:r>
            <a:r>
              <a:rPr lang="zh-CN" alt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用户</a:t>
            </a: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功能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7" name="文本框 6"/>
          <p:cNvSpPr txBox="1"/>
          <p:nvPr/>
        </p:nvSpPr>
        <p:spPr>
          <a:xfrm>
            <a:off x="5287645" y="6143625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听力模块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200" y="1499870"/>
            <a:ext cx="7940675" cy="44754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LEARNING MODULES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核心功能模块（一）：</a:t>
            </a:r>
            <a:r>
              <a:rPr lang="zh-CN" alt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用户</a:t>
            </a: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功能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7" name="文本框 6"/>
          <p:cNvSpPr txBox="1"/>
          <p:nvPr/>
        </p:nvSpPr>
        <p:spPr>
          <a:xfrm>
            <a:off x="5520055" y="6143625"/>
            <a:ext cx="1397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阅读</a:t>
            </a:r>
            <a:r>
              <a:rPr lang="zh-CN" altLang="en-US">
                <a:solidFill>
                  <a:schemeClr val="bg1"/>
                </a:solidFill>
              </a:rPr>
              <a:t>模块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5330" y="1312545"/>
            <a:ext cx="8000365" cy="44716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LEARNING MODULES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核心功能模块（一）：</a:t>
            </a:r>
            <a:r>
              <a:rPr lang="zh-CN" alt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用户</a:t>
            </a: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功能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7" name="文本框 6"/>
          <p:cNvSpPr txBox="1"/>
          <p:nvPr/>
        </p:nvSpPr>
        <p:spPr>
          <a:xfrm>
            <a:off x="5397500" y="5941695"/>
            <a:ext cx="1397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收藏模块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7860" y="1262380"/>
            <a:ext cx="8335645" cy="45827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LEARNING MODULES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核心功能模块（一）：</a:t>
            </a:r>
            <a:r>
              <a:rPr lang="zh-CN" alt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用户</a:t>
            </a: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功能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7" name="文本框 6"/>
          <p:cNvSpPr txBox="1"/>
          <p:nvPr/>
        </p:nvSpPr>
        <p:spPr>
          <a:xfrm>
            <a:off x="5320030" y="5941695"/>
            <a:ext cx="2273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用户</a:t>
            </a:r>
            <a:r>
              <a:rPr lang="zh-CN" altLang="en-US">
                <a:solidFill>
                  <a:schemeClr val="bg1"/>
                </a:solidFill>
              </a:rPr>
              <a:t>信息修改模块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7225" y="1156335"/>
            <a:ext cx="8035290" cy="4518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842" y="320842"/>
            <a:ext cx="11614484" cy="192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0" b="1" kern="0" spc="10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USER &amp;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0842" y="577516"/>
            <a:ext cx="11694695" cy="320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核心功能模块（二）：用户与管理系统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842" y="994611"/>
            <a:ext cx="770021" cy="32084"/>
          </a:xfrm>
          <a:custGeom>
            <a:avLst/>
            <a:gdLst/>
            <a:ahLst/>
            <a:cxnLst/>
            <a:rect l="l" t="t" r="r" b="b"/>
            <a:pathLst>
              <a:path w="770021" h="32084">
                <a:moveTo>
                  <a:pt x="0" y="0"/>
                </a:moveTo>
                <a:lnTo>
                  <a:pt x="770021" y="0"/>
                </a:lnTo>
                <a:lnTo>
                  <a:pt x="770021" y="32084"/>
                </a:lnTo>
                <a:lnTo>
                  <a:pt x="0" y="3208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5" name="Shape 3"/>
          <p:cNvSpPr/>
          <p:nvPr/>
        </p:nvSpPr>
        <p:spPr>
          <a:xfrm>
            <a:off x="323516" y="1189789"/>
            <a:ext cx="5692274" cy="4817979"/>
          </a:xfrm>
          <a:custGeom>
            <a:avLst/>
            <a:gdLst/>
            <a:ahLst/>
            <a:cxnLst/>
            <a:rect l="l" t="t" r="r" b="b"/>
            <a:pathLst>
              <a:path w="5692274" h="4817979">
                <a:moveTo>
                  <a:pt x="96263" y="0"/>
                </a:moveTo>
                <a:lnTo>
                  <a:pt x="5596010" y="0"/>
                </a:lnTo>
                <a:cubicBezTo>
                  <a:pt x="5649175" y="0"/>
                  <a:pt x="5692274" y="43099"/>
                  <a:pt x="5692274" y="96263"/>
                </a:cubicBezTo>
                <a:lnTo>
                  <a:pt x="5692274" y="4721716"/>
                </a:lnTo>
                <a:cubicBezTo>
                  <a:pt x="5692274" y="4774880"/>
                  <a:pt x="5649175" y="4817979"/>
                  <a:pt x="5596010" y="4817979"/>
                </a:cubicBezTo>
                <a:lnTo>
                  <a:pt x="96263" y="4817979"/>
                </a:lnTo>
                <a:cubicBezTo>
                  <a:pt x="43099" y="4817979"/>
                  <a:pt x="0" y="4774880"/>
                  <a:pt x="0" y="4721716"/>
                </a:cubicBezTo>
                <a:lnTo>
                  <a:pt x="0" y="96263"/>
                </a:lnTo>
                <a:cubicBezTo>
                  <a:pt x="0" y="43099"/>
                  <a:pt x="43099" y="0"/>
                  <a:pt x="96263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611" y="1352887"/>
            <a:ext cx="385011" cy="385011"/>
          </a:xfrm>
          <a:custGeom>
            <a:avLst/>
            <a:gdLst/>
            <a:ahLst/>
            <a:cxnLst/>
            <a:rect l="l" t="t" r="r" b="b"/>
            <a:pathLst>
              <a:path w="385011" h="385011">
                <a:moveTo>
                  <a:pt x="64170" y="0"/>
                </a:moveTo>
                <a:lnTo>
                  <a:pt x="320841" y="0"/>
                </a:lnTo>
                <a:cubicBezTo>
                  <a:pt x="356257" y="0"/>
                  <a:pt x="385011" y="28753"/>
                  <a:pt x="385011" y="64170"/>
                </a:cubicBezTo>
                <a:lnTo>
                  <a:pt x="385011" y="320841"/>
                </a:lnTo>
                <a:cubicBezTo>
                  <a:pt x="385011" y="356281"/>
                  <a:pt x="356281" y="385011"/>
                  <a:pt x="320841" y="385011"/>
                </a:cubicBezTo>
                <a:lnTo>
                  <a:pt x="64170" y="385011"/>
                </a:lnTo>
                <a:cubicBezTo>
                  <a:pt x="28730" y="385011"/>
                  <a:pt x="0" y="356281"/>
                  <a:pt x="0" y="320841"/>
                </a:cubicBezTo>
                <a:lnTo>
                  <a:pt x="0" y="64170"/>
                </a:lnTo>
                <a:cubicBezTo>
                  <a:pt x="0" y="28753"/>
                  <a:pt x="28753" y="0"/>
                  <a:pt x="6417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7" name="Shape 5"/>
          <p:cNvSpPr/>
          <p:nvPr/>
        </p:nvSpPr>
        <p:spPr>
          <a:xfrm>
            <a:off x="598905" y="1465182"/>
            <a:ext cx="160421" cy="160421"/>
          </a:xfrm>
          <a:custGeom>
            <a:avLst/>
            <a:gdLst/>
            <a:ahLst/>
            <a:cxnLst/>
            <a:rect l="l" t="t" r="r" b="b"/>
            <a:pathLst>
              <a:path w="160421" h="160421">
                <a:moveTo>
                  <a:pt x="125016" y="120378"/>
                </a:moveTo>
                <a:cubicBezTo>
                  <a:pt x="118091" y="108347"/>
                  <a:pt x="105088" y="100263"/>
                  <a:pt x="90237" y="100263"/>
                </a:cubicBezTo>
                <a:lnTo>
                  <a:pt x="70184" y="100263"/>
                </a:lnTo>
                <a:cubicBezTo>
                  <a:pt x="55333" y="100263"/>
                  <a:pt x="42330" y="108347"/>
                  <a:pt x="35405" y="120378"/>
                </a:cubicBezTo>
                <a:cubicBezTo>
                  <a:pt x="46434" y="132661"/>
                  <a:pt x="62414" y="140368"/>
                  <a:pt x="80211" y="140368"/>
                </a:cubicBezTo>
                <a:cubicBezTo>
                  <a:pt x="98007" y="140368"/>
                  <a:pt x="113987" y="132629"/>
                  <a:pt x="125016" y="120378"/>
                </a:cubicBezTo>
                <a:close/>
                <a:moveTo>
                  <a:pt x="0" y="80211"/>
                </a:moveTo>
                <a:cubicBezTo>
                  <a:pt x="0" y="35941"/>
                  <a:pt x="35941" y="0"/>
                  <a:pt x="80211" y="0"/>
                </a:cubicBezTo>
                <a:cubicBezTo>
                  <a:pt x="124480" y="0"/>
                  <a:pt x="160421" y="35941"/>
                  <a:pt x="160421" y="80211"/>
                </a:cubicBezTo>
                <a:cubicBezTo>
                  <a:pt x="160421" y="124480"/>
                  <a:pt x="124480" y="160421"/>
                  <a:pt x="80211" y="160421"/>
                </a:cubicBezTo>
                <a:cubicBezTo>
                  <a:pt x="35941" y="160421"/>
                  <a:pt x="0" y="124480"/>
                  <a:pt x="0" y="80211"/>
                </a:cubicBezTo>
                <a:close/>
                <a:moveTo>
                  <a:pt x="80211" y="85224"/>
                </a:moveTo>
                <a:cubicBezTo>
                  <a:pt x="92661" y="85224"/>
                  <a:pt x="102770" y="75115"/>
                  <a:pt x="102770" y="62664"/>
                </a:cubicBezTo>
                <a:cubicBezTo>
                  <a:pt x="102770" y="50214"/>
                  <a:pt x="92661" y="40105"/>
                  <a:pt x="80211" y="40105"/>
                </a:cubicBezTo>
                <a:cubicBezTo>
                  <a:pt x="67760" y="40105"/>
                  <a:pt x="57651" y="50214"/>
                  <a:pt x="57651" y="62664"/>
                </a:cubicBezTo>
                <a:cubicBezTo>
                  <a:pt x="57651" y="75115"/>
                  <a:pt x="67760" y="85224"/>
                  <a:pt x="80211" y="85224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967874" y="1417055"/>
            <a:ext cx="1058779" cy="25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用户端功能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653" y="1866234"/>
            <a:ext cx="5350042" cy="1331495"/>
          </a:xfrm>
          <a:custGeom>
            <a:avLst/>
            <a:gdLst/>
            <a:ahLst/>
            <a:cxnLst/>
            <a:rect l="l" t="t" r="r" b="b"/>
            <a:pathLst>
              <a:path w="5350042" h="1331495">
                <a:moveTo>
                  <a:pt x="32084" y="0"/>
                </a:moveTo>
                <a:lnTo>
                  <a:pt x="5285877" y="0"/>
                </a:lnTo>
                <a:cubicBezTo>
                  <a:pt x="5321315" y="0"/>
                  <a:pt x="5350042" y="28728"/>
                  <a:pt x="5350042" y="64165"/>
                </a:cubicBezTo>
                <a:lnTo>
                  <a:pt x="5350042" y="1267330"/>
                </a:lnTo>
                <a:cubicBezTo>
                  <a:pt x="5350042" y="1302767"/>
                  <a:pt x="5321315" y="1331495"/>
                  <a:pt x="5285877" y="1331495"/>
                </a:cubicBezTo>
                <a:lnTo>
                  <a:pt x="32084" y="1331495"/>
                </a:lnTo>
                <a:cubicBezTo>
                  <a:pt x="14365" y="1331495"/>
                  <a:pt x="0" y="1317130"/>
                  <a:pt x="0" y="1299411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02653" y="1866234"/>
            <a:ext cx="32084" cy="1331495"/>
          </a:xfrm>
          <a:custGeom>
            <a:avLst/>
            <a:gdLst/>
            <a:ahLst/>
            <a:cxnLst/>
            <a:rect l="l" t="t" r="r" b="b"/>
            <a:pathLst>
              <a:path w="32084" h="1331495">
                <a:moveTo>
                  <a:pt x="32084" y="0"/>
                </a:moveTo>
                <a:lnTo>
                  <a:pt x="32084" y="0"/>
                </a:lnTo>
                <a:lnTo>
                  <a:pt x="32084" y="1331495"/>
                </a:lnTo>
                <a:lnTo>
                  <a:pt x="32084" y="1331495"/>
                </a:lnTo>
                <a:cubicBezTo>
                  <a:pt x="14365" y="1331495"/>
                  <a:pt x="0" y="1317130"/>
                  <a:pt x="0" y="1299411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1" name="Shape 9"/>
          <p:cNvSpPr/>
          <p:nvPr/>
        </p:nvSpPr>
        <p:spPr>
          <a:xfrm>
            <a:off x="663074" y="2042697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86477" y="68430"/>
                </a:moveTo>
                <a:cubicBezTo>
                  <a:pt x="88833" y="66073"/>
                  <a:pt x="88833" y="62263"/>
                  <a:pt x="86477" y="59932"/>
                </a:cubicBezTo>
                <a:lnTo>
                  <a:pt x="50382" y="23812"/>
                </a:lnTo>
                <a:cubicBezTo>
                  <a:pt x="48653" y="22083"/>
                  <a:pt x="46071" y="21582"/>
                  <a:pt x="43815" y="22509"/>
                </a:cubicBezTo>
                <a:cubicBezTo>
                  <a:pt x="41559" y="23437"/>
                  <a:pt x="40105" y="25642"/>
                  <a:pt x="40105" y="28074"/>
                </a:cubicBezTo>
                <a:lnTo>
                  <a:pt x="40105" y="48126"/>
                </a:lnTo>
                <a:lnTo>
                  <a:pt x="12032" y="48126"/>
                </a:lnTo>
                <a:cubicBezTo>
                  <a:pt x="5389" y="48126"/>
                  <a:pt x="0" y="53515"/>
                  <a:pt x="0" y="60158"/>
                </a:cubicBezTo>
                <a:lnTo>
                  <a:pt x="0" y="68179"/>
                </a:lnTo>
                <a:cubicBezTo>
                  <a:pt x="0" y="74821"/>
                  <a:pt x="5389" y="80211"/>
                  <a:pt x="12032" y="80211"/>
                </a:cubicBezTo>
                <a:lnTo>
                  <a:pt x="40105" y="80211"/>
                </a:lnTo>
                <a:lnTo>
                  <a:pt x="40105" y="100263"/>
                </a:lnTo>
                <a:cubicBezTo>
                  <a:pt x="40105" y="102695"/>
                  <a:pt x="41559" y="104900"/>
                  <a:pt x="43815" y="105828"/>
                </a:cubicBezTo>
                <a:cubicBezTo>
                  <a:pt x="46071" y="106755"/>
                  <a:pt x="48653" y="106254"/>
                  <a:pt x="50382" y="104524"/>
                </a:cubicBezTo>
                <a:lnTo>
                  <a:pt x="86477" y="68430"/>
                </a:lnTo>
                <a:close/>
                <a:moveTo>
                  <a:pt x="88232" y="104274"/>
                </a:moveTo>
                <a:cubicBezTo>
                  <a:pt x="83795" y="104274"/>
                  <a:pt x="80211" y="107858"/>
                  <a:pt x="80211" y="112295"/>
                </a:cubicBezTo>
                <a:cubicBezTo>
                  <a:pt x="80211" y="116731"/>
                  <a:pt x="83795" y="120316"/>
                  <a:pt x="88232" y="120316"/>
                </a:cubicBezTo>
                <a:lnTo>
                  <a:pt x="104274" y="120316"/>
                </a:lnTo>
                <a:cubicBezTo>
                  <a:pt x="117559" y="120316"/>
                  <a:pt x="128337" y="109537"/>
                  <a:pt x="128337" y="96253"/>
                </a:cubicBezTo>
                <a:lnTo>
                  <a:pt x="128337" y="32084"/>
                </a:lnTo>
                <a:cubicBezTo>
                  <a:pt x="128337" y="18799"/>
                  <a:pt x="117559" y="8021"/>
                  <a:pt x="104274" y="8021"/>
                </a:cubicBezTo>
                <a:lnTo>
                  <a:pt x="88232" y="8021"/>
                </a:lnTo>
                <a:cubicBezTo>
                  <a:pt x="83795" y="8021"/>
                  <a:pt x="80211" y="11605"/>
                  <a:pt x="80211" y="16042"/>
                </a:cubicBezTo>
                <a:cubicBezTo>
                  <a:pt x="80211" y="20479"/>
                  <a:pt x="83795" y="24063"/>
                  <a:pt x="88232" y="24063"/>
                </a:cubicBezTo>
                <a:lnTo>
                  <a:pt x="104274" y="24063"/>
                </a:lnTo>
                <a:cubicBezTo>
                  <a:pt x="108710" y="24063"/>
                  <a:pt x="112295" y="27648"/>
                  <a:pt x="112295" y="32084"/>
                </a:cubicBezTo>
                <a:lnTo>
                  <a:pt x="112295" y="96253"/>
                </a:lnTo>
                <a:cubicBezTo>
                  <a:pt x="112295" y="100689"/>
                  <a:pt x="108710" y="104274"/>
                  <a:pt x="104274" y="104274"/>
                </a:cubicBezTo>
                <a:lnTo>
                  <a:pt x="88232" y="104274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12" name="Text 10"/>
          <p:cNvSpPr/>
          <p:nvPr/>
        </p:nvSpPr>
        <p:spPr>
          <a:xfrm>
            <a:off x="871621" y="1994571"/>
            <a:ext cx="938463" cy="2245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注册登录模块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032" y="2283329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邮箱注册：输入邮箱与密码进行注册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032" y="2491876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邮箱激活：系统通过QQ邮箱服务器发送激活邮件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032" y="2700424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用户登录：验证邮箱密码，激活状态校验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032" y="2908971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安全机制：Spring Security实现用户鉴权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653" y="3293982"/>
            <a:ext cx="5350042" cy="1331495"/>
          </a:xfrm>
          <a:custGeom>
            <a:avLst/>
            <a:gdLst/>
            <a:ahLst/>
            <a:cxnLst/>
            <a:rect l="l" t="t" r="r" b="b"/>
            <a:pathLst>
              <a:path w="5350042" h="1331495">
                <a:moveTo>
                  <a:pt x="32084" y="0"/>
                </a:moveTo>
                <a:lnTo>
                  <a:pt x="5285877" y="0"/>
                </a:lnTo>
                <a:cubicBezTo>
                  <a:pt x="5321315" y="0"/>
                  <a:pt x="5350042" y="28728"/>
                  <a:pt x="5350042" y="64165"/>
                </a:cubicBezTo>
                <a:lnTo>
                  <a:pt x="5350042" y="1267330"/>
                </a:lnTo>
                <a:cubicBezTo>
                  <a:pt x="5350042" y="1302767"/>
                  <a:pt x="5321315" y="1331495"/>
                  <a:pt x="5285877" y="1331495"/>
                </a:cubicBezTo>
                <a:lnTo>
                  <a:pt x="32084" y="1331495"/>
                </a:lnTo>
                <a:cubicBezTo>
                  <a:pt x="14365" y="1331495"/>
                  <a:pt x="0" y="1317130"/>
                  <a:pt x="0" y="1299411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502653" y="3293982"/>
            <a:ext cx="32084" cy="1331495"/>
          </a:xfrm>
          <a:custGeom>
            <a:avLst/>
            <a:gdLst/>
            <a:ahLst/>
            <a:cxnLst/>
            <a:rect l="l" t="t" r="r" b="b"/>
            <a:pathLst>
              <a:path w="32084" h="1331495">
                <a:moveTo>
                  <a:pt x="32084" y="0"/>
                </a:moveTo>
                <a:lnTo>
                  <a:pt x="32084" y="0"/>
                </a:lnTo>
                <a:lnTo>
                  <a:pt x="32084" y="1331495"/>
                </a:lnTo>
                <a:lnTo>
                  <a:pt x="32084" y="1331495"/>
                </a:lnTo>
                <a:cubicBezTo>
                  <a:pt x="14365" y="1331495"/>
                  <a:pt x="0" y="1317130"/>
                  <a:pt x="0" y="1299411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9" name="Shape 17"/>
          <p:cNvSpPr/>
          <p:nvPr/>
        </p:nvSpPr>
        <p:spPr>
          <a:xfrm>
            <a:off x="655053" y="3470445"/>
            <a:ext cx="144379" cy="128337"/>
          </a:xfrm>
          <a:custGeom>
            <a:avLst/>
            <a:gdLst/>
            <a:ahLst/>
            <a:cxnLst/>
            <a:rect l="l" t="t" r="r" b="b"/>
            <a:pathLst>
              <a:path w="144379" h="128337">
                <a:moveTo>
                  <a:pt x="0" y="24063"/>
                </a:moveTo>
                <a:cubicBezTo>
                  <a:pt x="0" y="15215"/>
                  <a:pt x="7194" y="8021"/>
                  <a:pt x="16042" y="8021"/>
                </a:cubicBezTo>
                <a:lnTo>
                  <a:pt x="128337" y="8021"/>
                </a:lnTo>
                <a:cubicBezTo>
                  <a:pt x="137185" y="8021"/>
                  <a:pt x="144379" y="15215"/>
                  <a:pt x="144379" y="24063"/>
                </a:cubicBezTo>
                <a:lnTo>
                  <a:pt x="0" y="24063"/>
                </a:lnTo>
                <a:close/>
                <a:moveTo>
                  <a:pt x="0" y="36095"/>
                </a:moveTo>
                <a:lnTo>
                  <a:pt x="144379" y="36095"/>
                </a:lnTo>
                <a:lnTo>
                  <a:pt x="144379" y="104274"/>
                </a:lnTo>
                <a:cubicBezTo>
                  <a:pt x="144379" y="113122"/>
                  <a:pt x="137185" y="120316"/>
                  <a:pt x="128337" y="120316"/>
                </a:cubicBezTo>
                <a:lnTo>
                  <a:pt x="16042" y="120316"/>
                </a:lnTo>
                <a:cubicBezTo>
                  <a:pt x="7194" y="120316"/>
                  <a:pt x="0" y="113122"/>
                  <a:pt x="0" y="104274"/>
                </a:cubicBezTo>
                <a:lnTo>
                  <a:pt x="0" y="36095"/>
                </a:lnTo>
                <a:close/>
                <a:moveTo>
                  <a:pt x="61988" y="104274"/>
                </a:moveTo>
                <a:cubicBezTo>
                  <a:pt x="67051" y="104274"/>
                  <a:pt x="70836" y="99411"/>
                  <a:pt x="67602" y="95501"/>
                </a:cubicBezTo>
                <a:cubicBezTo>
                  <a:pt x="63918" y="91064"/>
                  <a:pt x="58353" y="88232"/>
                  <a:pt x="52137" y="88232"/>
                </a:cubicBezTo>
                <a:lnTo>
                  <a:pt x="36095" y="88232"/>
                </a:lnTo>
                <a:cubicBezTo>
                  <a:pt x="29878" y="88232"/>
                  <a:pt x="24314" y="91064"/>
                  <a:pt x="20629" y="95501"/>
                </a:cubicBezTo>
                <a:cubicBezTo>
                  <a:pt x="17396" y="99411"/>
                  <a:pt x="21181" y="104274"/>
                  <a:pt x="26244" y="104274"/>
                </a:cubicBezTo>
                <a:lnTo>
                  <a:pt x="61963" y="104274"/>
                </a:lnTo>
                <a:close/>
                <a:moveTo>
                  <a:pt x="44116" y="78205"/>
                </a:moveTo>
                <a:cubicBezTo>
                  <a:pt x="51863" y="78205"/>
                  <a:pt x="58153" y="71916"/>
                  <a:pt x="58153" y="64168"/>
                </a:cubicBezTo>
                <a:cubicBezTo>
                  <a:pt x="58153" y="56421"/>
                  <a:pt x="51863" y="50132"/>
                  <a:pt x="44116" y="50132"/>
                </a:cubicBezTo>
                <a:cubicBezTo>
                  <a:pt x="36369" y="50132"/>
                  <a:pt x="30079" y="56421"/>
                  <a:pt x="30079" y="64168"/>
                </a:cubicBezTo>
                <a:cubicBezTo>
                  <a:pt x="30079" y="71916"/>
                  <a:pt x="36369" y="78205"/>
                  <a:pt x="44116" y="78205"/>
                </a:cubicBezTo>
                <a:close/>
                <a:moveTo>
                  <a:pt x="90237" y="52137"/>
                </a:moveTo>
                <a:cubicBezTo>
                  <a:pt x="86903" y="52137"/>
                  <a:pt x="84221" y="54819"/>
                  <a:pt x="84221" y="58153"/>
                </a:cubicBezTo>
                <a:cubicBezTo>
                  <a:pt x="84221" y="61486"/>
                  <a:pt x="86903" y="64168"/>
                  <a:pt x="90237" y="64168"/>
                </a:cubicBezTo>
                <a:lnTo>
                  <a:pt x="118311" y="64168"/>
                </a:lnTo>
                <a:cubicBezTo>
                  <a:pt x="121644" y="64168"/>
                  <a:pt x="124326" y="61486"/>
                  <a:pt x="124326" y="58153"/>
                </a:cubicBezTo>
                <a:cubicBezTo>
                  <a:pt x="124326" y="54819"/>
                  <a:pt x="121644" y="52137"/>
                  <a:pt x="118311" y="52137"/>
                </a:cubicBezTo>
                <a:lnTo>
                  <a:pt x="90237" y="52137"/>
                </a:lnTo>
                <a:close/>
                <a:moveTo>
                  <a:pt x="90237" y="76200"/>
                </a:moveTo>
                <a:cubicBezTo>
                  <a:pt x="86903" y="76200"/>
                  <a:pt x="84221" y="78882"/>
                  <a:pt x="84221" y="82216"/>
                </a:cubicBezTo>
                <a:cubicBezTo>
                  <a:pt x="84221" y="85550"/>
                  <a:pt x="86903" y="88232"/>
                  <a:pt x="90237" y="88232"/>
                </a:cubicBezTo>
                <a:lnTo>
                  <a:pt x="118311" y="88232"/>
                </a:lnTo>
                <a:cubicBezTo>
                  <a:pt x="121644" y="88232"/>
                  <a:pt x="124326" y="85550"/>
                  <a:pt x="124326" y="82216"/>
                </a:cubicBezTo>
                <a:cubicBezTo>
                  <a:pt x="124326" y="78882"/>
                  <a:pt x="121644" y="76200"/>
                  <a:pt x="118311" y="76200"/>
                </a:cubicBezTo>
                <a:lnTo>
                  <a:pt x="90237" y="76200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20" name="Text 18"/>
          <p:cNvSpPr/>
          <p:nvPr/>
        </p:nvSpPr>
        <p:spPr>
          <a:xfrm>
            <a:off x="871621" y="3422318"/>
            <a:ext cx="938463" cy="2245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个人中心模块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032" y="3711076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信息查看：查看个人基本信息和学习数据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032" y="3919624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信息修改：修改用户名、邮箱、密码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7032" y="4128171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学习统计：单词学习进度、听力练习记录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7032" y="4336718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收藏管理：查看收藏的单词和句子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2653" y="4721729"/>
            <a:ext cx="5350042" cy="1122947"/>
          </a:xfrm>
          <a:custGeom>
            <a:avLst/>
            <a:gdLst/>
            <a:ahLst/>
            <a:cxnLst/>
            <a:rect l="l" t="t" r="r" b="b"/>
            <a:pathLst>
              <a:path w="5350042" h="1122947">
                <a:moveTo>
                  <a:pt x="32084" y="0"/>
                </a:moveTo>
                <a:lnTo>
                  <a:pt x="5285877" y="0"/>
                </a:lnTo>
                <a:cubicBezTo>
                  <a:pt x="5321314" y="0"/>
                  <a:pt x="5350042" y="28728"/>
                  <a:pt x="5350042" y="64165"/>
                </a:cubicBezTo>
                <a:lnTo>
                  <a:pt x="5350042" y="1058782"/>
                </a:lnTo>
                <a:cubicBezTo>
                  <a:pt x="5350042" y="1094220"/>
                  <a:pt x="5321314" y="1122947"/>
                  <a:pt x="5285877" y="1122947"/>
                </a:cubicBezTo>
                <a:lnTo>
                  <a:pt x="32084" y="1122947"/>
                </a:lnTo>
                <a:cubicBezTo>
                  <a:pt x="14365" y="1122947"/>
                  <a:pt x="0" y="1108583"/>
                  <a:pt x="0" y="1090863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502653" y="4721729"/>
            <a:ext cx="32084" cy="1122947"/>
          </a:xfrm>
          <a:custGeom>
            <a:avLst/>
            <a:gdLst/>
            <a:ahLst/>
            <a:cxnLst/>
            <a:rect l="l" t="t" r="r" b="b"/>
            <a:pathLst>
              <a:path w="32084" h="1122947">
                <a:moveTo>
                  <a:pt x="32084" y="0"/>
                </a:moveTo>
                <a:lnTo>
                  <a:pt x="32084" y="0"/>
                </a:lnTo>
                <a:lnTo>
                  <a:pt x="32084" y="1122947"/>
                </a:lnTo>
                <a:lnTo>
                  <a:pt x="32084" y="1122947"/>
                </a:lnTo>
                <a:cubicBezTo>
                  <a:pt x="14365" y="1122947"/>
                  <a:pt x="0" y="1108583"/>
                  <a:pt x="0" y="1090863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7" name="Shape 25"/>
          <p:cNvSpPr/>
          <p:nvPr/>
        </p:nvSpPr>
        <p:spPr>
          <a:xfrm>
            <a:off x="663074" y="4898192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115603" y="4737"/>
                </a:moveTo>
                <a:cubicBezTo>
                  <a:pt x="118486" y="6016"/>
                  <a:pt x="120316" y="8873"/>
                  <a:pt x="120316" y="12032"/>
                </a:cubicBezTo>
                <a:lnTo>
                  <a:pt x="120316" y="116305"/>
                </a:lnTo>
                <a:cubicBezTo>
                  <a:pt x="120316" y="119464"/>
                  <a:pt x="118486" y="122321"/>
                  <a:pt x="115603" y="123599"/>
                </a:cubicBezTo>
                <a:cubicBezTo>
                  <a:pt x="112721" y="124878"/>
                  <a:pt x="109387" y="124402"/>
                  <a:pt x="107006" y="122321"/>
                </a:cubicBezTo>
                <a:lnTo>
                  <a:pt x="95325" y="112119"/>
                </a:lnTo>
                <a:cubicBezTo>
                  <a:pt x="84397" y="102569"/>
                  <a:pt x="70585" y="97005"/>
                  <a:pt x="56122" y="96328"/>
                </a:cubicBezTo>
                <a:lnTo>
                  <a:pt x="56122" y="120316"/>
                </a:lnTo>
                <a:cubicBezTo>
                  <a:pt x="56122" y="124752"/>
                  <a:pt x="52538" y="128337"/>
                  <a:pt x="48101" y="128337"/>
                </a:cubicBezTo>
                <a:lnTo>
                  <a:pt x="40080" y="128337"/>
                </a:lnTo>
                <a:cubicBezTo>
                  <a:pt x="35644" y="128337"/>
                  <a:pt x="32059" y="124752"/>
                  <a:pt x="32059" y="120316"/>
                </a:cubicBezTo>
                <a:lnTo>
                  <a:pt x="32059" y="96253"/>
                </a:lnTo>
                <a:cubicBezTo>
                  <a:pt x="14363" y="96253"/>
                  <a:pt x="0" y="81890"/>
                  <a:pt x="0" y="64168"/>
                </a:cubicBezTo>
                <a:cubicBezTo>
                  <a:pt x="0" y="46447"/>
                  <a:pt x="14363" y="32084"/>
                  <a:pt x="32084" y="32084"/>
                </a:cubicBezTo>
                <a:lnTo>
                  <a:pt x="53265" y="32084"/>
                </a:lnTo>
                <a:cubicBezTo>
                  <a:pt x="68755" y="32034"/>
                  <a:pt x="83695" y="26394"/>
                  <a:pt x="95350" y="16218"/>
                </a:cubicBezTo>
                <a:lnTo>
                  <a:pt x="107031" y="6016"/>
                </a:lnTo>
                <a:cubicBezTo>
                  <a:pt x="109387" y="3935"/>
                  <a:pt x="112771" y="3459"/>
                  <a:pt x="115628" y="4737"/>
                </a:cubicBezTo>
                <a:close/>
                <a:moveTo>
                  <a:pt x="56147" y="80211"/>
                </a:moveTo>
                <a:lnTo>
                  <a:pt x="56147" y="80261"/>
                </a:lnTo>
                <a:cubicBezTo>
                  <a:pt x="73769" y="80937"/>
                  <a:pt x="90688" y="87404"/>
                  <a:pt x="104274" y="98659"/>
                </a:cubicBezTo>
                <a:lnTo>
                  <a:pt x="104274" y="29653"/>
                </a:lnTo>
                <a:cubicBezTo>
                  <a:pt x="90688" y="40907"/>
                  <a:pt x="73769" y="47374"/>
                  <a:pt x="56147" y="48051"/>
                </a:cubicBezTo>
                <a:lnTo>
                  <a:pt x="56147" y="80211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28" name="Text 26"/>
          <p:cNvSpPr/>
          <p:nvPr/>
        </p:nvSpPr>
        <p:spPr>
          <a:xfrm>
            <a:off x="871621" y="4850066"/>
            <a:ext cx="938463" cy="2245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公告展示模块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032" y="5138824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首页公告：展示管理员发布的最新公告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7032" y="5347371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历史查看：查看所有历史公告列表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032" y="5555918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分页查询：支持分页浏览公告内容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8884" y="1189789"/>
            <a:ext cx="5692274" cy="4817979"/>
          </a:xfrm>
          <a:custGeom>
            <a:avLst/>
            <a:gdLst/>
            <a:ahLst/>
            <a:cxnLst/>
            <a:rect l="l" t="t" r="r" b="b"/>
            <a:pathLst>
              <a:path w="5692274" h="4817979">
                <a:moveTo>
                  <a:pt x="96263" y="0"/>
                </a:moveTo>
                <a:lnTo>
                  <a:pt x="5596010" y="0"/>
                </a:lnTo>
                <a:cubicBezTo>
                  <a:pt x="5649175" y="0"/>
                  <a:pt x="5692274" y="43099"/>
                  <a:pt x="5692274" y="96263"/>
                </a:cubicBezTo>
                <a:lnTo>
                  <a:pt x="5692274" y="4721716"/>
                </a:lnTo>
                <a:cubicBezTo>
                  <a:pt x="5692274" y="4774880"/>
                  <a:pt x="5649175" y="4817979"/>
                  <a:pt x="5596010" y="4817979"/>
                </a:cubicBezTo>
                <a:lnTo>
                  <a:pt x="96263" y="4817979"/>
                </a:lnTo>
                <a:cubicBezTo>
                  <a:pt x="43099" y="4817979"/>
                  <a:pt x="0" y="4774880"/>
                  <a:pt x="0" y="4721716"/>
                </a:cubicBezTo>
                <a:lnTo>
                  <a:pt x="0" y="96263"/>
                </a:lnTo>
                <a:cubicBezTo>
                  <a:pt x="0" y="43099"/>
                  <a:pt x="43099" y="0"/>
                  <a:pt x="96263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41979" y="1352887"/>
            <a:ext cx="385011" cy="385011"/>
          </a:xfrm>
          <a:custGeom>
            <a:avLst/>
            <a:gdLst/>
            <a:ahLst/>
            <a:cxnLst/>
            <a:rect l="l" t="t" r="r" b="b"/>
            <a:pathLst>
              <a:path w="385011" h="385011">
                <a:moveTo>
                  <a:pt x="64170" y="0"/>
                </a:moveTo>
                <a:lnTo>
                  <a:pt x="320841" y="0"/>
                </a:lnTo>
                <a:cubicBezTo>
                  <a:pt x="356257" y="0"/>
                  <a:pt x="385011" y="28753"/>
                  <a:pt x="385011" y="64170"/>
                </a:cubicBezTo>
                <a:lnTo>
                  <a:pt x="385011" y="320841"/>
                </a:lnTo>
                <a:cubicBezTo>
                  <a:pt x="385011" y="356281"/>
                  <a:pt x="356281" y="385011"/>
                  <a:pt x="320841" y="385011"/>
                </a:cubicBezTo>
                <a:lnTo>
                  <a:pt x="64170" y="385011"/>
                </a:lnTo>
                <a:cubicBezTo>
                  <a:pt x="28730" y="385011"/>
                  <a:pt x="0" y="356281"/>
                  <a:pt x="0" y="320841"/>
                </a:cubicBezTo>
                <a:lnTo>
                  <a:pt x="0" y="64170"/>
                </a:lnTo>
                <a:cubicBezTo>
                  <a:pt x="0" y="28753"/>
                  <a:pt x="28753" y="0"/>
                  <a:pt x="6417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34" name="Shape 32"/>
          <p:cNvSpPr/>
          <p:nvPr/>
        </p:nvSpPr>
        <p:spPr>
          <a:xfrm>
            <a:off x="6454274" y="1465182"/>
            <a:ext cx="160421" cy="160421"/>
          </a:xfrm>
          <a:custGeom>
            <a:avLst/>
            <a:gdLst/>
            <a:ahLst/>
            <a:cxnLst/>
            <a:rect l="l" t="t" r="r" b="b"/>
            <a:pathLst>
              <a:path w="160421" h="160421">
                <a:moveTo>
                  <a:pt x="61129" y="2977"/>
                </a:moveTo>
                <a:cubicBezTo>
                  <a:pt x="62069" y="-1661"/>
                  <a:pt x="66174" y="-5013"/>
                  <a:pt x="70936" y="-5013"/>
                </a:cubicBezTo>
                <a:lnTo>
                  <a:pt x="89673" y="-5013"/>
                </a:lnTo>
                <a:cubicBezTo>
                  <a:pt x="94435" y="-5013"/>
                  <a:pt x="98540" y="-1661"/>
                  <a:pt x="99480" y="2977"/>
                </a:cubicBezTo>
                <a:lnTo>
                  <a:pt x="104023" y="24909"/>
                </a:lnTo>
                <a:cubicBezTo>
                  <a:pt x="108441" y="26789"/>
                  <a:pt x="112577" y="29202"/>
                  <a:pt x="116337" y="32053"/>
                </a:cubicBezTo>
                <a:lnTo>
                  <a:pt x="137580" y="25003"/>
                </a:lnTo>
                <a:cubicBezTo>
                  <a:pt x="142092" y="23499"/>
                  <a:pt x="147042" y="25379"/>
                  <a:pt x="149423" y="29515"/>
                </a:cubicBezTo>
                <a:lnTo>
                  <a:pt x="158792" y="45745"/>
                </a:lnTo>
                <a:cubicBezTo>
                  <a:pt x="161173" y="49881"/>
                  <a:pt x="160327" y="55082"/>
                  <a:pt x="156755" y="58247"/>
                </a:cubicBezTo>
                <a:lnTo>
                  <a:pt x="140055" y="73098"/>
                </a:lnTo>
                <a:cubicBezTo>
                  <a:pt x="140337" y="75417"/>
                  <a:pt x="140462" y="77798"/>
                  <a:pt x="140462" y="80211"/>
                </a:cubicBezTo>
                <a:cubicBezTo>
                  <a:pt x="140462" y="82623"/>
                  <a:pt x="140306" y="85004"/>
                  <a:pt x="140055" y="87323"/>
                </a:cubicBezTo>
                <a:lnTo>
                  <a:pt x="156787" y="102206"/>
                </a:lnTo>
                <a:cubicBezTo>
                  <a:pt x="160358" y="105370"/>
                  <a:pt x="161173" y="110603"/>
                  <a:pt x="158823" y="114707"/>
                </a:cubicBezTo>
                <a:lnTo>
                  <a:pt x="149455" y="130937"/>
                </a:lnTo>
                <a:cubicBezTo>
                  <a:pt x="147074" y="135042"/>
                  <a:pt x="142123" y="136953"/>
                  <a:pt x="137611" y="135449"/>
                </a:cubicBezTo>
                <a:lnTo>
                  <a:pt x="116368" y="128400"/>
                </a:lnTo>
                <a:cubicBezTo>
                  <a:pt x="112577" y="131251"/>
                  <a:pt x="108441" y="133632"/>
                  <a:pt x="104054" y="135543"/>
                </a:cubicBezTo>
                <a:lnTo>
                  <a:pt x="99543" y="157444"/>
                </a:lnTo>
                <a:cubicBezTo>
                  <a:pt x="98571" y="162113"/>
                  <a:pt x="94467" y="165434"/>
                  <a:pt x="89736" y="165434"/>
                </a:cubicBezTo>
                <a:lnTo>
                  <a:pt x="70999" y="165434"/>
                </a:lnTo>
                <a:cubicBezTo>
                  <a:pt x="66236" y="165434"/>
                  <a:pt x="62132" y="162082"/>
                  <a:pt x="61192" y="157444"/>
                </a:cubicBezTo>
                <a:lnTo>
                  <a:pt x="56680" y="135543"/>
                </a:lnTo>
                <a:cubicBezTo>
                  <a:pt x="52262" y="133663"/>
                  <a:pt x="48158" y="131251"/>
                  <a:pt x="44366" y="128400"/>
                </a:cubicBezTo>
                <a:lnTo>
                  <a:pt x="23029" y="135449"/>
                </a:lnTo>
                <a:cubicBezTo>
                  <a:pt x="18517" y="136953"/>
                  <a:pt x="13567" y="135073"/>
                  <a:pt x="11186" y="130937"/>
                </a:cubicBezTo>
                <a:lnTo>
                  <a:pt x="1817" y="114707"/>
                </a:lnTo>
                <a:cubicBezTo>
                  <a:pt x="-564" y="110571"/>
                  <a:pt x="282" y="105370"/>
                  <a:pt x="3854" y="102206"/>
                </a:cubicBezTo>
                <a:lnTo>
                  <a:pt x="20585" y="87323"/>
                </a:lnTo>
                <a:cubicBezTo>
                  <a:pt x="20303" y="85004"/>
                  <a:pt x="20178" y="82623"/>
                  <a:pt x="20178" y="80211"/>
                </a:cubicBezTo>
                <a:cubicBezTo>
                  <a:pt x="20178" y="77798"/>
                  <a:pt x="20335" y="75417"/>
                  <a:pt x="20585" y="73098"/>
                </a:cubicBezTo>
                <a:lnTo>
                  <a:pt x="3854" y="58215"/>
                </a:lnTo>
                <a:cubicBezTo>
                  <a:pt x="282" y="55051"/>
                  <a:pt x="-533" y="49818"/>
                  <a:pt x="1817" y="45714"/>
                </a:cubicBezTo>
                <a:lnTo>
                  <a:pt x="11186" y="29484"/>
                </a:lnTo>
                <a:cubicBezTo>
                  <a:pt x="13567" y="25348"/>
                  <a:pt x="18517" y="23468"/>
                  <a:pt x="23029" y="24972"/>
                </a:cubicBezTo>
                <a:lnTo>
                  <a:pt x="44272" y="32022"/>
                </a:lnTo>
                <a:cubicBezTo>
                  <a:pt x="48064" y="29170"/>
                  <a:pt x="52200" y="26789"/>
                  <a:pt x="56586" y="24878"/>
                </a:cubicBezTo>
                <a:lnTo>
                  <a:pt x="61129" y="2977"/>
                </a:lnTo>
                <a:close/>
                <a:moveTo>
                  <a:pt x="80305" y="105276"/>
                </a:moveTo>
                <a:cubicBezTo>
                  <a:pt x="89260" y="105243"/>
                  <a:pt x="97517" y="100434"/>
                  <a:pt x="101965" y="92662"/>
                </a:cubicBezTo>
                <a:cubicBezTo>
                  <a:pt x="106414" y="84890"/>
                  <a:pt x="106378" y="75335"/>
                  <a:pt x="101871" y="67596"/>
                </a:cubicBezTo>
                <a:cubicBezTo>
                  <a:pt x="97364" y="59858"/>
                  <a:pt x="89072" y="55111"/>
                  <a:pt x="80117" y="55145"/>
                </a:cubicBezTo>
                <a:cubicBezTo>
                  <a:pt x="71161" y="55178"/>
                  <a:pt x="62904" y="59987"/>
                  <a:pt x="58456" y="67759"/>
                </a:cubicBezTo>
                <a:cubicBezTo>
                  <a:pt x="54007" y="75531"/>
                  <a:pt x="54043" y="85086"/>
                  <a:pt x="58550" y="92825"/>
                </a:cubicBezTo>
                <a:cubicBezTo>
                  <a:pt x="63057" y="100563"/>
                  <a:pt x="71349" y="105310"/>
                  <a:pt x="80305" y="105276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35" name="Text 33"/>
          <p:cNvSpPr/>
          <p:nvPr/>
        </p:nvSpPr>
        <p:spPr>
          <a:xfrm>
            <a:off x="6823242" y="1417055"/>
            <a:ext cx="1251284" cy="25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后台管理功能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8021" y="1866234"/>
            <a:ext cx="5350042" cy="1331495"/>
          </a:xfrm>
          <a:custGeom>
            <a:avLst/>
            <a:gdLst/>
            <a:ahLst/>
            <a:cxnLst/>
            <a:rect l="l" t="t" r="r" b="b"/>
            <a:pathLst>
              <a:path w="5350042" h="1331495">
                <a:moveTo>
                  <a:pt x="32084" y="0"/>
                </a:moveTo>
                <a:lnTo>
                  <a:pt x="5285877" y="0"/>
                </a:lnTo>
                <a:cubicBezTo>
                  <a:pt x="5321315" y="0"/>
                  <a:pt x="5350042" y="28728"/>
                  <a:pt x="5350042" y="64165"/>
                </a:cubicBezTo>
                <a:lnTo>
                  <a:pt x="5350042" y="1267330"/>
                </a:lnTo>
                <a:cubicBezTo>
                  <a:pt x="5350042" y="1302767"/>
                  <a:pt x="5321315" y="1331495"/>
                  <a:pt x="5285877" y="1331495"/>
                </a:cubicBezTo>
                <a:lnTo>
                  <a:pt x="32084" y="1331495"/>
                </a:lnTo>
                <a:cubicBezTo>
                  <a:pt x="14365" y="1331495"/>
                  <a:pt x="0" y="1317130"/>
                  <a:pt x="0" y="1299411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358021" y="1866234"/>
            <a:ext cx="32084" cy="1331495"/>
          </a:xfrm>
          <a:custGeom>
            <a:avLst/>
            <a:gdLst/>
            <a:ahLst/>
            <a:cxnLst/>
            <a:rect l="l" t="t" r="r" b="b"/>
            <a:pathLst>
              <a:path w="32084" h="1331495">
                <a:moveTo>
                  <a:pt x="32084" y="0"/>
                </a:moveTo>
                <a:lnTo>
                  <a:pt x="32084" y="0"/>
                </a:lnTo>
                <a:lnTo>
                  <a:pt x="32084" y="1331495"/>
                </a:lnTo>
                <a:lnTo>
                  <a:pt x="32084" y="1331495"/>
                </a:lnTo>
                <a:cubicBezTo>
                  <a:pt x="14365" y="1331495"/>
                  <a:pt x="0" y="1317130"/>
                  <a:pt x="0" y="1299411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38" name="Shape 36"/>
          <p:cNvSpPr/>
          <p:nvPr/>
        </p:nvSpPr>
        <p:spPr>
          <a:xfrm>
            <a:off x="6502400" y="2042697"/>
            <a:ext cx="160421" cy="128337"/>
          </a:xfrm>
          <a:custGeom>
            <a:avLst/>
            <a:gdLst/>
            <a:ahLst/>
            <a:cxnLst/>
            <a:rect l="l" t="t" r="r" b="b"/>
            <a:pathLst>
              <a:path w="160421" h="128337">
                <a:moveTo>
                  <a:pt x="80211" y="4011"/>
                </a:moveTo>
                <a:cubicBezTo>
                  <a:pt x="94598" y="4011"/>
                  <a:pt x="106279" y="15691"/>
                  <a:pt x="106279" y="30079"/>
                </a:cubicBezTo>
                <a:cubicBezTo>
                  <a:pt x="106279" y="44467"/>
                  <a:pt x="94598" y="56147"/>
                  <a:pt x="80211" y="56147"/>
                </a:cubicBezTo>
                <a:cubicBezTo>
                  <a:pt x="65823" y="56147"/>
                  <a:pt x="54142" y="44467"/>
                  <a:pt x="54142" y="30079"/>
                </a:cubicBezTo>
                <a:cubicBezTo>
                  <a:pt x="54142" y="15691"/>
                  <a:pt x="65823" y="4011"/>
                  <a:pt x="80211" y="4011"/>
                </a:cubicBezTo>
                <a:close/>
                <a:moveTo>
                  <a:pt x="24063" y="22058"/>
                </a:moveTo>
                <a:cubicBezTo>
                  <a:pt x="34024" y="22058"/>
                  <a:pt x="42111" y="30145"/>
                  <a:pt x="42111" y="40105"/>
                </a:cubicBezTo>
                <a:cubicBezTo>
                  <a:pt x="42111" y="50066"/>
                  <a:pt x="34024" y="58153"/>
                  <a:pt x="24063" y="58153"/>
                </a:cubicBezTo>
                <a:cubicBezTo>
                  <a:pt x="14103" y="58153"/>
                  <a:pt x="6016" y="50066"/>
                  <a:pt x="6016" y="40105"/>
                </a:cubicBezTo>
                <a:cubicBezTo>
                  <a:pt x="6016" y="30145"/>
                  <a:pt x="14103" y="22058"/>
                  <a:pt x="24063" y="22058"/>
                </a:cubicBezTo>
                <a:close/>
                <a:moveTo>
                  <a:pt x="0" y="104274"/>
                </a:moveTo>
                <a:cubicBezTo>
                  <a:pt x="0" y="86552"/>
                  <a:pt x="14363" y="72189"/>
                  <a:pt x="32084" y="72189"/>
                </a:cubicBezTo>
                <a:cubicBezTo>
                  <a:pt x="35293" y="72189"/>
                  <a:pt x="38401" y="72666"/>
                  <a:pt x="41333" y="73543"/>
                </a:cubicBezTo>
                <a:cubicBezTo>
                  <a:pt x="33087" y="82767"/>
                  <a:pt x="28074" y="94949"/>
                  <a:pt x="28074" y="108284"/>
                </a:cubicBezTo>
                <a:lnTo>
                  <a:pt x="28074" y="112295"/>
                </a:lnTo>
                <a:cubicBezTo>
                  <a:pt x="28074" y="115152"/>
                  <a:pt x="28675" y="117859"/>
                  <a:pt x="29753" y="120316"/>
                </a:cubicBezTo>
                <a:lnTo>
                  <a:pt x="8021" y="120316"/>
                </a:lnTo>
                <a:cubicBezTo>
                  <a:pt x="3584" y="120316"/>
                  <a:pt x="0" y="116731"/>
                  <a:pt x="0" y="112295"/>
                </a:cubicBezTo>
                <a:lnTo>
                  <a:pt x="0" y="104274"/>
                </a:lnTo>
                <a:close/>
                <a:moveTo>
                  <a:pt x="130668" y="120316"/>
                </a:moveTo>
                <a:cubicBezTo>
                  <a:pt x="131746" y="117859"/>
                  <a:pt x="132347" y="115152"/>
                  <a:pt x="132347" y="112295"/>
                </a:cubicBezTo>
                <a:lnTo>
                  <a:pt x="132347" y="108284"/>
                </a:lnTo>
                <a:cubicBezTo>
                  <a:pt x="132347" y="94949"/>
                  <a:pt x="127334" y="82767"/>
                  <a:pt x="119088" y="73543"/>
                </a:cubicBezTo>
                <a:cubicBezTo>
                  <a:pt x="122020" y="72666"/>
                  <a:pt x="125128" y="72189"/>
                  <a:pt x="128337" y="72189"/>
                </a:cubicBezTo>
                <a:cubicBezTo>
                  <a:pt x="146058" y="72189"/>
                  <a:pt x="160421" y="86552"/>
                  <a:pt x="160421" y="104274"/>
                </a:cubicBezTo>
                <a:lnTo>
                  <a:pt x="160421" y="112295"/>
                </a:lnTo>
                <a:cubicBezTo>
                  <a:pt x="160421" y="116731"/>
                  <a:pt x="156837" y="120316"/>
                  <a:pt x="152400" y="120316"/>
                </a:cubicBezTo>
                <a:lnTo>
                  <a:pt x="130668" y="120316"/>
                </a:lnTo>
                <a:close/>
                <a:moveTo>
                  <a:pt x="118311" y="40105"/>
                </a:moveTo>
                <a:cubicBezTo>
                  <a:pt x="118311" y="30145"/>
                  <a:pt x="126397" y="22058"/>
                  <a:pt x="136358" y="22058"/>
                </a:cubicBezTo>
                <a:cubicBezTo>
                  <a:pt x="146319" y="22058"/>
                  <a:pt x="154405" y="30145"/>
                  <a:pt x="154405" y="40105"/>
                </a:cubicBezTo>
                <a:cubicBezTo>
                  <a:pt x="154405" y="50066"/>
                  <a:pt x="146319" y="58153"/>
                  <a:pt x="136358" y="58153"/>
                </a:cubicBezTo>
                <a:cubicBezTo>
                  <a:pt x="126397" y="58153"/>
                  <a:pt x="118311" y="50066"/>
                  <a:pt x="118311" y="40105"/>
                </a:cubicBezTo>
                <a:close/>
                <a:moveTo>
                  <a:pt x="40105" y="108284"/>
                </a:moveTo>
                <a:cubicBezTo>
                  <a:pt x="40105" y="86126"/>
                  <a:pt x="58052" y="68179"/>
                  <a:pt x="80211" y="68179"/>
                </a:cubicBezTo>
                <a:cubicBezTo>
                  <a:pt x="102369" y="68179"/>
                  <a:pt x="120316" y="86126"/>
                  <a:pt x="120316" y="108284"/>
                </a:cubicBezTo>
                <a:lnTo>
                  <a:pt x="120316" y="112295"/>
                </a:lnTo>
                <a:cubicBezTo>
                  <a:pt x="120316" y="116731"/>
                  <a:pt x="116731" y="120316"/>
                  <a:pt x="112295" y="120316"/>
                </a:cubicBezTo>
                <a:lnTo>
                  <a:pt x="48126" y="120316"/>
                </a:lnTo>
                <a:cubicBezTo>
                  <a:pt x="43690" y="120316"/>
                  <a:pt x="40105" y="116731"/>
                  <a:pt x="40105" y="112295"/>
                </a:cubicBezTo>
                <a:lnTo>
                  <a:pt x="40105" y="108284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39" name="Text 37"/>
          <p:cNvSpPr/>
          <p:nvPr/>
        </p:nvSpPr>
        <p:spPr>
          <a:xfrm>
            <a:off x="6726990" y="1994571"/>
            <a:ext cx="649705" cy="2245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用户管理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02400" y="2283329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用户列表：查看所有注册用户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02400" y="2491876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状态监控：查看用户激活状态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02400" y="2700424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角色管理：区分普通用户和管理员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02400" y="2908971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用户操作：编辑、删除用户信息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8021" y="3293982"/>
            <a:ext cx="5350042" cy="1331495"/>
          </a:xfrm>
          <a:custGeom>
            <a:avLst/>
            <a:gdLst/>
            <a:ahLst/>
            <a:cxnLst/>
            <a:rect l="l" t="t" r="r" b="b"/>
            <a:pathLst>
              <a:path w="5350042" h="1331495">
                <a:moveTo>
                  <a:pt x="32084" y="0"/>
                </a:moveTo>
                <a:lnTo>
                  <a:pt x="5285877" y="0"/>
                </a:lnTo>
                <a:cubicBezTo>
                  <a:pt x="5321315" y="0"/>
                  <a:pt x="5350042" y="28728"/>
                  <a:pt x="5350042" y="64165"/>
                </a:cubicBezTo>
                <a:lnTo>
                  <a:pt x="5350042" y="1267330"/>
                </a:lnTo>
                <a:cubicBezTo>
                  <a:pt x="5350042" y="1302767"/>
                  <a:pt x="5321315" y="1331495"/>
                  <a:pt x="5285877" y="1331495"/>
                </a:cubicBezTo>
                <a:lnTo>
                  <a:pt x="32084" y="1331495"/>
                </a:lnTo>
                <a:cubicBezTo>
                  <a:pt x="14365" y="1331495"/>
                  <a:pt x="0" y="1317130"/>
                  <a:pt x="0" y="1299411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6358021" y="3293982"/>
            <a:ext cx="32084" cy="1331495"/>
          </a:xfrm>
          <a:custGeom>
            <a:avLst/>
            <a:gdLst/>
            <a:ahLst/>
            <a:cxnLst/>
            <a:rect l="l" t="t" r="r" b="b"/>
            <a:pathLst>
              <a:path w="32084" h="1331495">
                <a:moveTo>
                  <a:pt x="32084" y="0"/>
                </a:moveTo>
                <a:lnTo>
                  <a:pt x="32084" y="0"/>
                </a:lnTo>
                <a:lnTo>
                  <a:pt x="32084" y="1331495"/>
                </a:lnTo>
                <a:lnTo>
                  <a:pt x="32084" y="1331495"/>
                </a:lnTo>
                <a:cubicBezTo>
                  <a:pt x="14365" y="1331495"/>
                  <a:pt x="0" y="1317130"/>
                  <a:pt x="0" y="1299411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46" name="Shape 44"/>
          <p:cNvSpPr/>
          <p:nvPr/>
        </p:nvSpPr>
        <p:spPr>
          <a:xfrm>
            <a:off x="6526463" y="3470445"/>
            <a:ext cx="112295" cy="128337"/>
          </a:xfrm>
          <a:custGeom>
            <a:avLst/>
            <a:gdLst/>
            <a:ahLst/>
            <a:cxnLst/>
            <a:rect l="l" t="t" r="r" b="b"/>
            <a:pathLst>
              <a:path w="112295" h="128337">
                <a:moveTo>
                  <a:pt x="112295" y="51585"/>
                </a:moveTo>
                <a:cubicBezTo>
                  <a:pt x="108585" y="54042"/>
                  <a:pt x="104324" y="56022"/>
                  <a:pt x="99887" y="57601"/>
                </a:cubicBezTo>
                <a:cubicBezTo>
                  <a:pt x="88106" y="61812"/>
                  <a:pt x="72641" y="64168"/>
                  <a:pt x="56147" y="64168"/>
                </a:cubicBezTo>
                <a:cubicBezTo>
                  <a:pt x="39654" y="64168"/>
                  <a:pt x="24163" y="61787"/>
                  <a:pt x="12408" y="57601"/>
                </a:cubicBezTo>
                <a:cubicBezTo>
                  <a:pt x="7996" y="56022"/>
                  <a:pt x="3710" y="54042"/>
                  <a:pt x="0" y="51585"/>
                </a:cubicBezTo>
                <a:lnTo>
                  <a:pt x="0" y="72189"/>
                </a:lnTo>
                <a:cubicBezTo>
                  <a:pt x="0" y="83269"/>
                  <a:pt x="25141" y="92242"/>
                  <a:pt x="56147" y="92242"/>
                </a:cubicBezTo>
                <a:cubicBezTo>
                  <a:pt x="87154" y="92242"/>
                  <a:pt x="112295" y="83269"/>
                  <a:pt x="112295" y="72189"/>
                </a:cubicBezTo>
                <a:lnTo>
                  <a:pt x="112295" y="51585"/>
                </a:lnTo>
                <a:close/>
                <a:moveTo>
                  <a:pt x="112295" y="32084"/>
                </a:moveTo>
                <a:lnTo>
                  <a:pt x="112295" y="20053"/>
                </a:lnTo>
                <a:cubicBezTo>
                  <a:pt x="112295" y="8974"/>
                  <a:pt x="87154" y="0"/>
                  <a:pt x="56147" y="0"/>
                </a:cubicBezTo>
                <a:cubicBezTo>
                  <a:pt x="25141" y="0"/>
                  <a:pt x="0" y="8974"/>
                  <a:pt x="0" y="20053"/>
                </a:cubicBezTo>
                <a:lnTo>
                  <a:pt x="0" y="32084"/>
                </a:lnTo>
                <a:cubicBezTo>
                  <a:pt x="0" y="43163"/>
                  <a:pt x="25141" y="52137"/>
                  <a:pt x="56147" y="52137"/>
                </a:cubicBezTo>
                <a:cubicBezTo>
                  <a:pt x="87154" y="52137"/>
                  <a:pt x="112295" y="43163"/>
                  <a:pt x="112295" y="32084"/>
                </a:cubicBezTo>
                <a:close/>
                <a:moveTo>
                  <a:pt x="99887" y="97706"/>
                </a:moveTo>
                <a:cubicBezTo>
                  <a:pt x="88131" y="101892"/>
                  <a:pt x="72666" y="104274"/>
                  <a:pt x="56147" y="104274"/>
                </a:cubicBezTo>
                <a:cubicBezTo>
                  <a:pt x="39629" y="104274"/>
                  <a:pt x="24163" y="101892"/>
                  <a:pt x="12408" y="97706"/>
                </a:cubicBezTo>
                <a:cubicBezTo>
                  <a:pt x="7996" y="96127"/>
                  <a:pt x="3710" y="94147"/>
                  <a:pt x="0" y="91691"/>
                </a:cubicBezTo>
                <a:lnTo>
                  <a:pt x="0" y="108284"/>
                </a:lnTo>
                <a:cubicBezTo>
                  <a:pt x="0" y="119363"/>
                  <a:pt x="25141" y="128337"/>
                  <a:pt x="56147" y="128337"/>
                </a:cubicBezTo>
                <a:cubicBezTo>
                  <a:pt x="87154" y="128337"/>
                  <a:pt x="112295" y="119363"/>
                  <a:pt x="112295" y="108284"/>
                </a:cubicBezTo>
                <a:lnTo>
                  <a:pt x="112295" y="91691"/>
                </a:lnTo>
                <a:cubicBezTo>
                  <a:pt x="108585" y="94147"/>
                  <a:pt x="104324" y="96127"/>
                  <a:pt x="99887" y="9770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47" name="Text 45"/>
          <p:cNvSpPr/>
          <p:nvPr/>
        </p:nvSpPr>
        <p:spPr>
          <a:xfrm>
            <a:off x="6726990" y="3422318"/>
            <a:ext cx="649705" cy="2245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内容管理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2400" y="3711076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单词管理：添加、编辑、删除单词数据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02400" y="3919624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听力管理：上传听力资源和原文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02400" y="4128171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书籍管理：发布和编辑阅读书籍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02400" y="4336718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公告管理：发布公告和编辑历史公告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58021" y="4721729"/>
            <a:ext cx="5350042" cy="1122947"/>
          </a:xfrm>
          <a:custGeom>
            <a:avLst/>
            <a:gdLst/>
            <a:ahLst/>
            <a:cxnLst/>
            <a:rect l="l" t="t" r="r" b="b"/>
            <a:pathLst>
              <a:path w="5350042" h="1122947">
                <a:moveTo>
                  <a:pt x="32084" y="0"/>
                </a:moveTo>
                <a:lnTo>
                  <a:pt x="5285877" y="0"/>
                </a:lnTo>
                <a:cubicBezTo>
                  <a:pt x="5321314" y="0"/>
                  <a:pt x="5350042" y="28728"/>
                  <a:pt x="5350042" y="64165"/>
                </a:cubicBezTo>
                <a:lnTo>
                  <a:pt x="5350042" y="1058782"/>
                </a:lnTo>
                <a:cubicBezTo>
                  <a:pt x="5350042" y="1094220"/>
                  <a:pt x="5321314" y="1122947"/>
                  <a:pt x="5285877" y="1122947"/>
                </a:cubicBezTo>
                <a:lnTo>
                  <a:pt x="32084" y="1122947"/>
                </a:lnTo>
                <a:cubicBezTo>
                  <a:pt x="14365" y="1122947"/>
                  <a:pt x="0" y="1108583"/>
                  <a:pt x="0" y="1090863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6358021" y="4721729"/>
            <a:ext cx="32084" cy="1122947"/>
          </a:xfrm>
          <a:custGeom>
            <a:avLst/>
            <a:gdLst/>
            <a:ahLst/>
            <a:cxnLst/>
            <a:rect l="l" t="t" r="r" b="b"/>
            <a:pathLst>
              <a:path w="32084" h="1122947">
                <a:moveTo>
                  <a:pt x="32084" y="0"/>
                </a:moveTo>
                <a:lnTo>
                  <a:pt x="32084" y="0"/>
                </a:lnTo>
                <a:lnTo>
                  <a:pt x="32084" y="1122947"/>
                </a:lnTo>
                <a:lnTo>
                  <a:pt x="32084" y="1122947"/>
                </a:lnTo>
                <a:cubicBezTo>
                  <a:pt x="14365" y="1122947"/>
                  <a:pt x="0" y="1108583"/>
                  <a:pt x="0" y="1090863"/>
                </a:cubicBezTo>
                <a:lnTo>
                  <a:pt x="0" y="32084"/>
                </a:lnTo>
                <a:cubicBezTo>
                  <a:pt x="0" y="14376"/>
                  <a:pt x="14376" y="0"/>
                  <a:pt x="32084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54" name="Shape 52"/>
          <p:cNvSpPr/>
          <p:nvPr/>
        </p:nvSpPr>
        <p:spPr>
          <a:xfrm>
            <a:off x="6518442" y="4898192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16042" y="16042"/>
                </a:moveTo>
                <a:cubicBezTo>
                  <a:pt x="16042" y="11605"/>
                  <a:pt x="12458" y="8021"/>
                  <a:pt x="8021" y="8021"/>
                </a:cubicBezTo>
                <a:cubicBezTo>
                  <a:pt x="3584" y="8021"/>
                  <a:pt x="0" y="11605"/>
                  <a:pt x="0" y="16042"/>
                </a:cubicBezTo>
                <a:lnTo>
                  <a:pt x="0" y="100263"/>
                </a:lnTo>
                <a:cubicBezTo>
                  <a:pt x="0" y="111342"/>
                  <a:pt x="8974" y="120316"/>
                  <a:pt x="20053" y="120316"/>
                </a:cubicBezTo>
                <a:lnTo>
                  <a:pt x="120316" y="120316"/>
                </a:lnTo>
                <a:cubicBezTo>
                  <a:pt x="124752" y="120316"/>
                  <a:pt x="128337" y="116731"/>
                  <a:pt x="128337" y="112295"/>
                </a:cubicBezTo>
                <a:cubicBezTo>
                  <a:pt x="128337" y="107858"/>
                  <a:pt x="124752" y="104274"/>
                  <a:pt x="120316" y="104274"/>
                </a:cubicBezTo>
                <a:lnTo>
                  <a:pt x="20053" y="104274"/>
                </a:lnTo>
                <a:cubicBezTo>
                  <a:pt x="17847" y="104274"/>
                  <a:pt x="16042" y="102469"/>
                  <a:pt x="16042" y="100263"/>
                </a:cubicBezTo>
                <a:lnTo>
                  <a:pt x="16042" y="16042"/>
                </a:lnTo>
                <a:close/>
                <a:moveTo>
                  <a:pt x="117960" y="37749"/>
                </a:moveTo>
                <a:cubicBezTo>
                  <a:pt x="121093" y="34616"/>
                  <a:pt x="121093" y="29527"/>
                  <a:pt x="117960" y="26394"/>
                </a:cubicBezTo>
                <a:cubicBezTo>
                  <a:pt x="114826" y="23261"/>
                  <a:pt x="109738" y="23261"/>
                  <a:pt x="106605" y="26394"/>
                </a:cubicBezTo>
                <a:lnTo>
                  <a:pt x="80211" y="52814"/>
                </a:lnTo>
                <a:lnTo>
                  <a:pt x="65823" y="38451"/>
                </a:lnTo>
                <a:cubicBezTo>
                  <a:pt x="62690" y="35318"/>
                  <a:pt x="57601" y="35318"/>
                  <a:pt x="54468" y="38451"/>
                </a:cubicBezTo>
                <a:lnTo>
                  <a:pt x="30405" y="62514"/>
                </a:lnTo>
                <a:cubicBezTo>
                  <a:pt x="27272" y="65647"/>
                  <a:pt x="27272" y="70736"/>
                  <a:pt x="30405" y="73869"/>
                </a:cubicBezTo>
                <a:cubicBezTo>
                  <a:pt x="33538" y="77002"/>
                  <a:pt x="38626" y="77002"/>
                  <a:pt x="41760" y="73869"/>
                </a:cubicBezTo>
                <a:lnTo>
                  <a:pt x="60158" y="55471"/>
                </a:lnTo>
                <a:lnTo>
                  <a:pt x="74546" y="69858"/>
                </a:lnTo>
                <a:cubicBezTo>
                  <a:pt x="77679" y="72992"/>
                  <a:pt x="82767" y="72992"/>
                  <a:pt x="85900" y="69858"/>
                </a:cubicBezTo>
                <a:lnTo>
                  <a:pt x="117985" y="37774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55" name="Text 53"/>
          <p:cNvSpPr/>
          <p:nvPr/>
        </p:nvSpPr>
        <p:spPr>
          <a:xfrm>
            <a:off x="6726990" y="4850066"/>
            <a:ext cx="1371600" cy="2245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数据分析（待开发）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2400" y="5138824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学习进度统计：用户学习数据分析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502400" y="5347371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活跃度监控：平台使用情况统计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502400" y="5555918"/>
            <a:ext cx="5133474" cy="1604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内容热度：热门单词、书籍排行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23516" y="6141454"/>
            <a:ext cx="11547642" cy="711200"/>
          </a:xfrm>
          <a:custGeom>
            <a:avLst/>
            <a:gdLst/>
            <a:ahLst/>
            <a:cxnLst/>
            <a:rect l="l" t="t" r="r" b="b"/>
            <a:pathLst>
              <a:path w="11547642" h="711200">
                <a:moveTo>
                  <a:pt x="96254" y="0"/>
                </a:moveTo>
                <a:lnTo>
                  <a:pt x="11451388" y="0"/>
                </a:lnTo>
                <a:cubicBezTo>
                  <a:pt x="11504548" y="0"/>
                  <a:pt x="11547642" y="43094"/>
                  <a:pt x="11547642" y="96254"/>
                </a:cubicBezTo>
                <a:lnTo>
                  <a:pt x="11547642" y="614946"/>
                </a:lnTo>
                <a:cubicBezTo>
                  <a:pt x="11547642" y="668106"/>
                  <a:pt x="11504548" y="711200"/>
                  <a:pt x="11451388" y="711200"/>
                </a:cubicBezTo>
                <a:lnTo>
                  <a:pt x="96254" y="711200"/>
                </a:lnTo>
                <a:cubicBezTo>
                  <a:pt x="43094" y="711200"/>
                  <a:pt x="0" y="668106"/>
                  <a:pt x="0" y="614946"/>
                </a:cubicBezTo>
                <a:lnTo>
                  <a:pt x="0" y="96254"/>
                </a:lnTo>
                <a:cubicBezTo>
                  <a:pt x="0" y="43130"/>
                  <a:pt x="43130" y="0"/>
                  <a:pt x="96254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>
                  <a:alpha val="20000"/>
                </a:srgbClr>
              </a:gs>
              <a:gs pos="100000">
                <a:srgbClr val="3A5F7A">
                  <a:alpha val="20000"/>
                </a:srgbClr>
              </a:gs>
            </a:gsLst>
            <a:lin ang="0" scaled="1"/>
          </a:gradFill>
          <a:ln w="8467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6611" y="6376737"/>
            <a:ext cx="240632" cy="240632"/>
          </a:xfrm>
          <a:custGeom>
            <a:avLst/>
            <a:gdLst/>
            <a:ahLst/>
            <a:cxnLst/>
            <a:rect l="l" t="t" r="r" b="b"/>
            <a:pathLst>
              <a:path w="240632" h="240632">
                <a:moveTo>
                  <a:pt x="120316" y="0"/>
                </a:moveTo>
                <a:cubicBezTo>
                  <a:pt x="122478" y="0"/>
                  <a:pt x="124640" y="470"/>
                  <a:pt x="126614" y="1363"/>
                </a:cubicBezTo>
                <a:lnTo>
                  <a:pt x="215158" y="38915"/>
                </a:lnTo>
                <a:cubicBezTo>
                  <a:pt x="225498" y="43285"/>
                  <a:pt x="233206" y="53484"/>
                  <a:pt x="233159" y="65798"/>
                </a:cubicBezTo>
                <a:cubicBezTo>
                  <a:pt x="232924" y="112420"/>
                  <a:pt x="213749" y="197722"/>
                  <a:pt x="132770" y="236496"/>
                </a:cubicBezTo>
                <a:cubicBezTo>
                  <a:pt x="124922" y="240256"/>
                  <a:pt x="115804" y="240256"/>
                  <a:pt x="107955" y="236496"/>
                </a:cubicBezTo>
                <a:cubicBezTo>
                  <a:pt x="26930" y="197722"/>
                  <a:pt x="7802" y="112420"/>
                  <a:pt x="7567" y="65798"/>
                </a:cubicBezTo>
                <a:cubicBezTo>
                  <a:pt x="7520" y="53484"/>
                  <a:pt x="15227" y="43285"/>
                  <a:pt x="25567" y="38915"/>
                </a:cubicBezTo>
                <a:lnTo>
                  <a:pt x="114065" y="1363"/>
                </a:lnTo>
                <a:cubicBezTo>
                  <a:pt x="116039" y="470"/>
                  <a:pt x="118154" y="0"/>
                  <a:pt x="120316" y="0"/>
                </a:cubicBezTo>
                <a:close/>
                <a:moveTo>
                  <a:pt x="120316" y="31395"/>
                </a:moveTo>
                <a:lnTo>
                  <a:pt x="120316" y="209096"/>
                </a:lnTo>
                <a:cubicBezTo>
                  <a:pt x="185174" y="177701"/>
                  <a:pt x="202610" y="108143"/>
                  <a:pt x="203033" y="66503"/>
                </a:cubicBezTo>
                <a:lnTo>
                  <a:pt x="120316" y="31442"/>
                </a:lnTo>
                <a:lnTo>
                  <a:pt x="120316" y="31442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61" name="Text 59"/>
          <p:cNvSpPr/>
          <p:nvPr/>
        </p:nvSpPr>
        <p:spPr>
          <a:xfrm>
            <a:off x="883653" y="6272463"/>
            <a:ext cx="7202905" cy="2245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权限控制机制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83653" y="6529137"/>
            <a:ext cx="7194884" cy="192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采用基于角色的访问控制（RBAC），区分普通用户(role=0)和管理员(role=1)，通过Spring Security实现安全认证和授权管理。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842" y="320842"/>
            <a:ext cx="11614484" cy="192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0" b="1" kern="0" spc="10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USER &amp;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0842" y="577516"/>
            <a:ext cx="11694695" cy="320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核心功能模块（二）：用户与管理系统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842" y="994611"/>
            <a:ext cx="770021" cy="32084"/>
          </a:xfrm>
          <a:custGeom>
            <a:avLst/>
            <a:gdLst/>
            <a:ahLst/>
            <a:cxnLst/>
            <a:rect l="l" t="t" r="r" b="b"/>
            <a:pathLst>
              <a:path w="770021" h="32084">
                <a:moveTo>
                  <a:pt x="0" y="0"/>
                </a:moveTo>
                <a:lnTo>
                  <a:pt x="770021" y="0"/>
                </a:lnTo>
                <a:lnTo>
                  <a:pt x="770021" y="32084"/>
                </a:lnTo>
                <a:lnTo>
                  <a:pt x="0" y="3208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805" y="1360170"/>
            <a:ext cx="8371840" cy="4711065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5335905" y="6250940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管理员主页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842" y="320842"/>
            <a:ext cx="11614484" cy="192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0" b="1" kern="0" spc="10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USER &amp;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0842" y="577516"/>
            <a:ext cx="11694695" cy="320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核心功能模块（二）：用户与管理系统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842" y="994611"/>
            <a:ext cx="770021" cy="32084"/>
          </a:xfrm>
          <a:custGeom>
            <a:avLst/>
            <a:gdLst/>
            <a:ahLst/>
            <a:cxnLst/>
            <a:rect l="l" t="t" r="r" b="b"/>
            <a:pathLst>
              <a:path w="770021" h="32084">
                <a:moveTo>
                  <a:pt x="0" y="0"/>
                </a:moveTo>
                <a:lnTo>
                  <a:pt x="770021" y="0"/>
                </a:lnTo>
                <a:lnTo>
                  <a:pt x="770021" y="32084"/>
                </a:lnTo>
                <a:lnTo>
                  <a:pt x="0" y="3208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64" name="文本框 63"/>
          <p:cNvSpPr txBox="1"/>
          <p:nvPr/>
        </p:nvSpPr>
        <p:spPr>
          <a:xfrm>
            <a:off x="5335905" y="6250940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单词管理</a:t>
            </a:r>
            <a:r>
              <a:rPr lang="zh-CN" altLang="en-US">
                <a:solidFill>
                  <a:schemeClr val="bg1"/>
                </a:solidFill>
              </a:rPr>
              <a:t>界面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955" y="1239520"/>
            <a:ext cx="8216900" cy="46202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842" y="320842"/>
            <a:ext cx="11614484" cy="192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0" b="1" kern="0" spc="10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USER &amp;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0842" y="577516"/>
            <a:ext cx="11694695" cy="320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核心功能模块（二）：用户与管理系统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842" y="994611"/>
            <a:ext cx="770021" cy="32084"/>
          </a:xfrm>
          <a:custGeom>
            <a:avLst/>
            <a:gdLst/>
            <a:ahLst/>
            <a:cxnLst/>
            <a:rect l="l" t="t" r="r" b="b"/>
            <a:pathLst>
              <a:path w="770021" h="32084">
                <a:moveTo>
                  <a:pt x="0" y="0"/>
                </a:moveTo>
                <a:lnTo>
                  <a:pt x="770021" y="0"/>
                </a:lnTo>
                <a:lnTo>
                  <a:pt x="770021" y="32084"/>
                </a:lnTo>
                <a:lnTo>
                  <a:pt x="0" y="3208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64" name="文本框 63"/>
          <p:cNvSpPr txBox="1"/>
          <p:nvPr/>
        </p:nvSpPr>
        <p:spPr>
          <a:xfrm>
            <a:off x="5335905" y="6250940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阅读管理</a:t>
            </a:r>
            <a:r>
              <a:rPr lang="zh-CN" altLang="en-US">
                <a:solidFill>
                  <a:schemeClr val="bg1"/>
                </a:solidFill>
              </a:rPr>
              <a:t>界面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940" y="1033780"/>
            <a:ext cx="8936990" cy="50355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842" y="320842"/>
            <a:ext cx="11614484" cy="192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0" b="1" kern="0" spc="10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FUNCTIONS - USER &amp;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0842" y="577516"/>
            <a:ext cx="11694695" cy="3208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7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核心功能模块（二）：用户与管理系统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842" y="994611"/>
            <a:ext cx="770021" cy="32084"/>
          </a:xfrm>
          <a:custGeom>
            <a:avLst/>
            <a:gdLst/>
            <a:ahLst/>
            <a:cxnLst/>
            <a:rect l="l" t="t" r="r" b="b"/>
            <a:pathLst>
              <a:path w="770021" h="32084">
                <a:moveTo>
                  <a:pt x="0" y="0"/>
                </a:moveTo>
                <a:lnTo>
                  <a:pt x="770021" y="0"/>
                </a:lnTo>
                <a:lnTo>
                  <a:pt x="770021" y="32084"/>
                </a:lnTo>
                <a:lnTo>
                  <a:pt x="0" y="3208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64" name="文本框 63"/>
          <p:cNvSpPr txBox="1"/>
          <p:nvPr/>
        </p:nvSpPr>
        <p:spPr>
          <a:xfrm>
            <a:off x="5335905" y="6250940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用户管理</a:t>
            </a:r>
            <a:r>
              <a:rPr lang="zh-CN" altLang="en-US">
                <a:solidFill>
                  <a:schemeClr val="bg1"/>
                </a:solidFill>
              </a:rPr>
              <a:t>界面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" y="962660"/>
            <a:ext cx="9417050" cy="53079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901" y="321901"/>
            <a:ext cx="11612578" cy="193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kern="0" spc="101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901" y="579422"/>
            <a:ext cx="11693053" cy="3219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数据库设计与数据模型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901" y="997893"/>
            <a:ext cx="772562" cy="32190"/>
          </a:xfrm>
          <a:custGeom>
            <a:avLst/>
            <a:gdLst/>
            <a:ahLst/>
            <a:cxnLst/>
            <a:rect l="l" t="t" r="r" b="b"/>
            <a:pathLst>
              <a:path w="772562" h="32190">
                <a:moveTo>
                  <a:pt x="0" y="0"/>
                </a:moveTo>
                <a:lnTo>
                  <a:pt x="772562" y="0"/>
                </a:lnTo>
                <a:lnTo>
                  <a:pt x="772562" y="32190"/>
                </a:lnTo>
                <a:lnTo>
                  <a:pt x="0" y="3219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5" name="Shape 3"/>
          <p:cNvSpPr/>
          <p:nvPr/>
        </p:nvSpPr>
        <p:spPr>
          <a:xfrm>
            <a:off x="324583" y="1193716"/>
            <a:ext cx="3755512" cy="2129912"/>
          </a:xfrm>
          <a:custGeom>
            <a:avLst/>
            <a:gdLst/>
            <a:ahLst/>
            <a:cxnLst/>
            <a:rect l="l" t="t" r="r" b="b"/>
            <a:pathLst>
              <a:path w="3755512" h="2129912">
                <a:moveTo>
                  <a:pt x="96570" y="0"/>
                </a:moveTo>
                <a:lnTo>
                  <a:pt x="3658941" y="0"/>
                </a:lnTo>
                <a:cubicBezTo>
                  <a:pt x="3712276" y="0"/>
                  <a:pt x="3755512" y="43236"/>
                  <a:pt x="3755512" y="96570"/>
                </a:cubicBezTo>
                <a:lnTo>
                  <a:pt x="3755512" y="2033341"/>
                </a:lnTo>
                <a:cubicBezTo>
                  <a:pt x="3755512" y="2086676"/>
                  <a:pt x="3712276" y="2129912"/>
                  <a:pt x="3658941" y="2129912"/>
                </a:cubicBezTo>
                <a:lnTo>
                  <a:pt x="96570" y="2129912"/>
                </a:lnTo>
                <a:cubicBezTo>
                  <a:pt x="43236" y="2129912"/>
                  <a:pt x="0" y="2086676"/>
                  <a:pt x="0" y="2033341"/>
                </a:cubicBezTo>
                <a:lnTo>
                  <a:pt x="0" y="96570"/>
                </a:lnTo>
                <a:cubicBezTo>
                  <a:pt x="0" y="43272"/>
                  <a:pt x="43272" y="0"/>
                  <a:pt x="96570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6026" y="1341257"/>
            <a:ext cx="321901" cy="321901"/>
          </a:xfrm>
          <a:custGeom>
            <a:avLst/>
            <a:gdLst/>
            <a:ahLst/>
            <a:cxnLst/>
            <a:rect l="l" t="t" r="r" b="b"/>
            <a:pathLst>
              <a:path w="321901" h="321901">
                <a:moveTo>
                  <a:pt x="64380" y="0"/>
                </a:moveTo>
                <a:lnTo>
                  <a:pt x="257521" y="0"/>
                </a:lnTo>
                <a:cubicBezTo>
                  <a:pt x="293053" y="0"/>
                  <a:pt x="321901" y="28848"/>
                  <a:pt x="321901" y="64380"/>
                </a:cubicBezTo>
                <a:lnTo>
                  <a:pt x="321901" y="257521"/>
                </a:lnTo>
                <a:cubicBezTo>
                  <a:pt x="321901" y="293077"/>
                  <a:pt x="293077" y="321901"/>
                  <a:pt x="257521" y="321901"/>
                </a:cubicBezTo>
                <a:lnTo>
                  <a:pt x="64380" y="321901"/>
                </a:lnTo>
                <a:cubicBezTo>
                  <a:pt x="28848" y="321901"/>
                  <a:pt x="0" y="293053"/>
                  <a:pt x="0" y="257521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7" name="Shape 5"/>
          <p:cNvSpPr/>
          <p:nvPr/>
        </p:nvSpPr>
        <p:spPr>
          <a:xfrm>
            <a:off x="555615" y="1429780"/>
            <a:ext cx="126749" cy="144855"/>
          </a:xfrm>
          <a:custGeom>
            <a:avLst/>
            <a:gdLst/>
            <a:ahLst/>
            <a:cxnLst/>
            <a:rect l="l" t="t" r="r" b="b"/>
            <a:pathLst>
              <a:path w="126749" h="144855">
                <a:moveTo>
                  <a:pt x="63374" y="70164"/>
                </a:moveTo>
                <a:cubicBezTo>
                  <a:pt x="82112" y="70164"/>
                  <a:pt x="97325" y="54952"/>
                  <a:pt x="97325" y="36214"/>
                </a:cubicBezTo>
                <a:cubicBezTo>
                  <a:pt x="97325" y="17476"/>
                  <a:pt x="82112" y="2263"/>
                  <a:pt x="63374" y="2263"/>
                </a:cubicBezTo>
                <a:cubicBezTo>
                  <a:pt x="44636" y="2263"/>
                  <a:pt x="29424" y="17476"/>
                  <a:pt x="29424" y="36214"/>
                </a:cubicBezTo>
                <a:cubicBezTo>
                  <a:pt x="29424" y="54952"/>
                  <a:pt x="44636" y="70164"/>
                  <a:pt x="63374" y="70164"/>
                </a:cubicBezTo>
                <a:close/>
                <a:moveTo>
                  <a:pt x="54972" y="86008"/>
                </a:moveTo>
                <a:cubicBezTo>
                  <a:pt x="27104" y="86008"/>
                  <a:pt x="4527" y="108585"/>
                  <a:pt x="4527" y="136453"/>
                </a:cubicBezTo>
                <a:cubicBezTo>
                  <a:pt x="4527" y="141093"/>
                  <a:pt x="8290" y="144855"/>
                  <a:pt x="12929" y="144855"/>
                </a:cubicBezTo>
                <a:lnTo>
                  <a:pt x="113819" y="144855"/>
                </a:lnTo>
                <a:cubicBezTo>
                  <a:pt x="118459" y="144855"/>
                  <a:pt x="122222" y="141093"/>
                  <a:pt x="122222" y="136453"/>
                </a:cubicBezTo>
                <a:cubicBezTo>
                  <a:pt x="122222" y="108585"/>
                  <a:pt x="99645" y="86008"/>
                  <a:pt x="71777" y="86008"/>
                </a:cubicBezTo>
                <a:lnTo>
                  <a:pt x="54972" y="86008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8" name="Text 6"/>
          <p:cNvSpPr/>
          <p:nvPr/>
        </p:nvSpPr>
        <p:spPr>
          <a:xfrm>
            <a:off x="842308" y="1325162"/>
            <a:ext cx="506994" cy="2253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用户表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2308" y="1550492"/>
            <a:ext cx="482851" cy="12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6B7D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6026" y="1775823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id: 用户ID（主键）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6026" y="1985059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name: 用户名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026" y="2194294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email: 邮箱（唯一）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6026" y="2403530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password: 密码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6026" y="2612766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active_status: 激活状态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6026" y="2822001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role: 角色（0用户/1管理员）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15981" y="1193716"/>
            <a:ext cx="3755512" cy="2129912"/>
          </a:xfrm>
          <a:custGeom>
            <a:avLst/>
            <a:gdLst/>
            <a:ahLst/>
            <a:cxnLst/>
            <a:rect l="l" t="t" r="r" b="b"/>
            <a:pathLst>
              <a:path w="3755512" h="2129912">
                <a:moveTo>
                  <a:pt x="96570" y="0"/>
                </a:moveTo>
                <a:lnTo>
                  <a:pt x="3658941" y="0"/>
                </a:lnTo>
                <a:cubicBezTo>
                  <a:pt x="3712276" y="0"/>
                  <a:pt x="3755512" y="43236"/>
                  <a:pt x="3755512" y="96570"/>
                </a:cubicBezTo>
                <a:lnTo>
                  <a:pt x="3755512" y="2033341"/>
                </a:lnTo>
                <a:cubicBezTo>
                  <a:pt x="3755512" y="2086676"/>
                  <a:pt x="3712276" y="2129912"/>
                  <a:pt x="3658941" y="2129912"/>
                </a:cubicBezTo>
                <a:lnTo>
                  <a:pt x="96570" y="2129912"/>
                </a:lnTo>
                <a:cubicBezTo>
                  <a:pt x="43236" y="2129912"/>
                  <a:pt x="0" y="2086676"/>
                  <a:pt x="0" y="2033341"/>
                </a:cubicBezTo>
                <a:lnTo>
                  <a:pt x="0" y="96570"/>
                </a:lnTo>
                <a:cubicBezTo>
                  <a:pt x="0" y="43272"/>
                  <a:pt x="43272" y="0"/>
                  <a:pt x="96570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7424" y="1341257"/>
            <a:ext cx="321901" cy="321901"/>
          </a:xfrm>
          <a:custGeom>
            <a:avLst/>
            <a:gdLst/>
            <a:ahLst/>
            <a:cxnLst/>
            <a:rect l="l" t="t" r="r" b="b"/>
            <a:pathLst>
              <a:path w="321901" h="321901">
                <a:moveTo>
                  <a:pt x="64380" y="0"/>
                </a:moveTo>
                <a:lnTo>
                  <a:pt x="257521" y="0"/>
                </a:lnTo>
                <a:cubicBezTo>
                  <a:pt x="293053" y="0"/>
                  <a:pt x="321901" y="28848"/>
                  <a:pt x="321901" y="64380"/>
                </a:cubicBezTo>
                <a:lnTo>
                  <a:pt x="321901" y="257521"/>
                </a:lnTo>
                <a:cubicBezTo>
                  <a:pt x="321901" y="293077"/>
                  <a:pt x="293077" y="321901"/>
                  <a:pt x="257521" y="321901"/>
                </a:cubicBezTo>
                <a:lnTo>
                  <a:pt x="64380" y="321901"/>
                </a:lnTo>
                <a:cubicBezTo>
                  <a:pt x="28848" y="321901"/>
                  <a:pt x="0" y="293053"/>
                  <a:pt x="0" y="257521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18" name="Shape 16"/>
          <p:cNvSpPr/>
          <p:nvPr/>
        </p:nvSpPr>
        <p:spPr>
          <a:xfrm>
            <a:off x="4437958" y="1429780"/>
            <a:ext cx="144855" cy="144855"/>
          </a:xfrm>
          <a:custGeom>
            <a:avLst/>
            <a:gdLst/>
            <a:ahLst/>
            <a:cxnLst/>
            <a:rect l="l" t="t" r="r" b="b"/>
            <a:pathLst>
              <a:path w="144855" h="144855">
                <a:moveTo>
                  <a:pt x="80661" y="14344"/>
                </a:moveTo>
                <a:cubicBezTo>
                  <a:pt x="79190" y="11119"/>
                  <a:pt x="75964" y="9053"/>
                  <a:pt x="72428" y="9053"/>
                </a:cubicBezTo>
                <a:cubicBezTo>
                  <a:pt x="68891" y="9053"/>
                  <a:pt x="65666" y="11119"/>
                  <a:pt x="64195" y="14344"/>
                </a:cubicBezTo>
                <a:lnTo>
                  <a:pt x="16834" y="117695"/>
                </a:lnTo>
                <a:lnTo>
                  <a:pt x="13580" y="117695"/>
                </a:lnTo>
                <a:cubicBezTo>
                  <a:pt x="8573" y="117695"/>
                  <a:pt x="4527" y="121741"/>
                  <a:pt x="4527" y="126749"/>
                </a:cubicBezTo>
                <a:cubicBezTo>
                  <a:pt x="4527" y="131756"/>
                  <a:pt x="8573" y="135802"/>
                  <a:pt x="13580" y="135802"/>
                </a:cubicBezTo>
                <a:lnTo>
                  <a:pt x="38477" y="135802"/>
                </a:lnTo>
                <a:cubicBezTo>
                  <a:pt x="43485" y="135802"/>
                  <a:pt x="47531" y="131756"/>
                  <a:pt x="47531" y="126749"/>
                </a:cubicBezTo>
                <a:cubicBezTo>
                  <a:pt x="47531" y="121741"/>
                  <a:pt x="43485" y="117695"/>
                  <a:pt x="38477" y="117695"/>
                </a:cubicBezTo>
                <a:lnTo>
                  <a:pt x="36751" y="117695"/>
                </a:lnTo>
                <a:lnTo>
                  <a:pt x="42976" y="104115"/>
                </a:lnTo>
                <a:lnTo>
                  <a:pt x="101908" y="104115"/>
                </a:lnTo>
                <a:lnTo>
                  <a:pt x="108132" y="117695"/>
                </a:lnTo>
                <a:lnTo>
                  <a:pt x="106407" y="117695"/>
                </a:lnTo>
                <a:cubicBezTo>
                  <a:pt x="101399" y="117695"/>
                  <a:pt x="97353" y="121741"/>
                  <a:pt x="97353" y="126749"/>
                </a:cubicBezTo>
                <a:cubicBezTo>
                  <a:pt x="97353" y="131756"/>
                  <a:pt x="101399" y="135802"/>
                  <a:pt x="106407" y="135802"/>
                </a:cubicBezTo>
                <a:lnTo>
                  <a:pt x="131304" y="135802"/>
                </a:lnTo>
                <a:cubicBezTo>
                  <a:pt x="136311" y="135802"/>
                  <a:pt x="140357" y="131756"/>
                  <a:pt x="140357" y="126749"/>
                </a:cubicBezTo>
                <a:cubicBezTo>
                  <a:pt x="140357" y="121741"/>
                  <a:pt x="136311" y="117695"/>
                  <a:pt x="131304" y="117695"/>
                </a:cubicBezTo>
                <a:lnTo>
                  <a:pt x="128050" y="117695"/>
                </a:lnTo>
                <a:lnTo>
                  <a:pt x="80689" y="14344"/>
                </a:lnTo>
                <a:close/>
                <a:moveTo>
                  <a:pt x="93590" y="86008"/>
                </a:moveTo>
                <a:lnTo>
                  <a:pt x="51265" y="86008"/>
                </a:lnTo>
                <a:lnTo>
                  <a:pt x="72428" y="39835"/>
                </a:lnTo>
                <a:lnTo>
                  <a:pt x="93590" y="86008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19" name="Text 17"/>
          <p:cNvSpPr/>
          <p:nvPr/>
        </p:nvSpPr>
        <p:spPr>
          <a:xfrm>
            <a:off x="4733705" y="1325162"/>
            <a:ext cx="506994" cy="2253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单词表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33705" y="1550492"/>
            <a:ext cx="482851" cy="12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6B7D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47424" y="1775823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word_id: 单词ID（主键）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47424" y="1985059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english: 英文单词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47424" y="2194294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chinese: 中文释义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7424" y="2403530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grade: 等级（4/6级）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47424" y="2612766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study: 学习状态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47424" y="2822001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remember: 记住状态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47424" y="3031237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collection: 收藏状态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07378" y="1193716"/>
            <a:ext cx="3755512" cy="2129912"/>
          </a:xfrm>
          <a:custGeom>
            <a:avLst/>
            <a:gdLst/>
            <a:ahLst/>
            <a:cxnLst/>
            <a:rect l="l" t="t" r="r" b="b"/>
            <a:pathLst>
              <a:path w="3755512" h="2129912">
                <a:moveTo>
                  <a:pt x="96570" y="0"/>
                </a:moveTo>
                <a:lnTo>
                  <a:pt x="3658941" y="0"/>
                </a:lnTo>
                <a:cubicBezTo>
                  <a:pt x="3712276" y="0"/>
                  <a:pt x="3755512" y="43236"/>
                  <a:pt x="3755512" y="96570"/>
                </a:cubicBezTo>
                <a:lnTo>
                  <a:pt x="3755512" y="2033341"/>
                </a:lnTo>
                <a:cubicBezTo>
                  <a:pt x="3755512" y="2086676"/>
                  <a:pt x="3712276" y="2129912"/>
                  <a:pt x="3658941" y="2129912"/>
                </a:cubicBezTo>
                <a:lnTo>
                  <a:pt x="96570" y="2129912"/>
                </a:lnTo>
                <a:cubicBezTo>
                  <a:pt x="43236" y="2129912"/>
                  <a:pt x="0" y="2086676"/>
                  <a:pt x="0" y="2033341"/>
                </a:cubicBezTo>
                <a:lnTo>
                  <a:pt x="0" y="96570"/>
                </a:lnTo>
                <a:cubicBezTo>
                  <a:pt x="0" y="43272"/>
                  <a:pt x="43272" y="0"/>
                  <a:pt x="96570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38821" y="1341257"/>
            <a:ext cx="321901" cy="321901"/>
          </a:xfrm>
          <a:custGeom>
            <a:avLst/>
            <a:gdLst/>
            <a:ahLst/>
            <a:cxnLst/>
            <a:rect l="l" t="t" r="r" b="b"/>
            <a:pathLst>
              <a:path w="321901" h="321901">
                <a:moveTo>
                  <a:pt x="64380" y="0"/>
                </a:moveTo>
                <a:lnTo>
                  <a:pt x="257521" y="0"/>
                </a:lnTo>
                <a:cubicBezTo>
                  <a:pt x="293053" y="0"/>
                  <a:pt x="321901" y="28848"/>
                  <a:pt x="321901" y="64380"/>
                </a:cubicBezTo>
                <a:lnTo>
                  <a:pt x="321901" y="257521"/>
                </a:lnTo>
                <a:cubicBezTo>
                  <a:pt x="321901" y="293077"/>
                  <a:pt x="293077" y="321901"/>
                  <a:pt x="257521" y="321901"/>
                </a:cubicBezTo>
                <a:lnTo>
                  <a:pt x="64380" y="321901"/>
                </a:lnTo>
                <a:cubicBezTo>
                  <a:pt x="28848" y="321901"/>
                  <a:pt x="0" y="293053"/>
                  <a:pt x="0" y="257521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30" name="Shape 28"/>
          <p:cNvSpPr/>
          <p:nvPr/>
        </p:nvSpPr>
        <p:spPr>
          <a:xfrm>
            <a:off x="8338410" y="1429780"/>
            <a:ext cx="126749" cy="144855"/>
          </a:xfrm>
          <a:custGeom>
            <a:avLst/>
            <a:gdLst/>
            <a:ahLst/>
            <a:cxnLst/>
            <a:rect l="l" t="t" r="r" b="b"/>
            <a:pathLst>
              <a:path w="126749" h="144855">
                <a:moveTo>
                  <a:pt x="18107" y="63374"/>
                </a:moveTo>
                <a:cubicBezTo>
                  <a:pt x="18107" y="38364"/>
                  <a:pt x="38364" y="18107"/>
                  <a:pt x="63374" y="18107"/>
                </a:cubicBezTo>
                <a:cubicBezTo>
                  <a:pt x="88384" y="18107"/>
                  <a:pt x="108642" y="38364"/>
                  <a:pt x="108642" y="63374"/>
                </a:cubicBezTo>
                <a:lnTo>
                  <a:pt x="108642" y="73984"/>
                </a:lnTo>
                <a:cubicBezTo>
                  <a:pt x="105812" y="72994"/>
                  <a:pt x="102757" y="72428"/>
                  <a:pt x="99588" y="72428"/>
                </a:cubicBezTo>
                <a:lnTo>
                  <a:pt x="95061" y="72428"/>
                </a:lnTo>
                <a:cubicBezTo>
                  <a:pt x="87564" y="72428"/>
                  <a:pt x="81481" y="78511"/>
                  <a:pt x="81481" y="86008"/>
                </a:cubicBezTo>
                <a:lnTo>
                  <a:pt x="81481" y="122222"/>
                </a:lnTo>
                <a:cubicBezTo>
                  <a:pt x="81481" y="129719"/>
                  <a:pt x="87564" y="135802"/>
                  <a:pt x="95061" y="135802"/>
                </a:cubicBezTo>
                <a:lnTo>
                  <a:pt x="99588" y="135802"/>
                </a:lnTo>
                <a:cubicBezTo>
                  <a:pt x="114583" y="135802"/>
                  <a:pt x="126749" y="123636"/>
                  <a:pt x="126749" y="108642"/>
                </a:cubicBezTo>
                <a:lnTo>
                  <a:pt x="126749" y="63374"/>
                </a:lnTo>
                <a:cubicBezTo>
                  <a:pt x="126749" y="28377"/>
                  <a:pt x="98372" y="0"/>
                  <a:pt x="63374" y="0"/>
                </a:cubicBezTo>
                <a:cubicBezTo>
                  <a:pt x="28377" y="0"/>
                  <a:pt x="0" y="28377"/>
                  <a:pt x="0" y="63374"/>
                </a:cubicBezTo>
                <a:lnTo>
                  <a:pt x="0" y="108642"/>
                </a:lnTo>
                <a:cubicBezTo>
                  <a:pt x="0" y="123636"/>
                  <a:pt x="12166" y="135802"/>
                  <a:pt x="27160" y="135802"/>
                </a:cubicBezTo>
                <a:lnTo>
                  <a:pt x="31687" y="135802"/>
                </a:lnTo>
                <a:cubicBezTo>
                  <a:pt x="39185" y="135802"/>
                  <a:pt x="45267" y="129719"/>
                  <a:pt x="45267" y="122222"/>
                </a:cubicBezTo>
                <a:lnTo>
                  <a:pt x="45267" y="86008"/>
                </a:lnTo>
                <a:cubicBezTo>
                  <a:pt x="45267" y="78511"/>
                  <a:pt x="39185" y="72428"/>
                  <a:pt x="31687" y="72428"/>
                </a:cubicBezTo>
                <a:lnTo>
                  <a:pt x="27160" y="72428"/>
                </a:lnTo>
                <a:cubicBezTo>
                  <a:pt x="23992" y="72428"/>
                  <a:pt x="20936" y="72965"/>
                  <a:pt x="18107" y="73984"/>
                </a:cubicBezTo>
                <a:lnTo>
                  <a:pt x="18107" y="63374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31" name="Text 29"/>
          <p:cNvSpPr/>
          <p:nvPr/>
        </p:nvSpPr>
        <p:spPr>
          <a:xfrm>
            <a:off x="8625103" y="1325162"/>
            <a:ext cx="506994" cy="2253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听力表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25103" y="1550492"/>
            <a:ext cx="482851" cy="12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6B7D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38821" y="1775823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listen_id: 听力ID（主键）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38821" y="1985059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title: 听力标题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38821" y="2194294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year: 年份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38821" y="2403530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grade: 等级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38821" y="2612766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audio_url: 音频文件路径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38821" y="2822001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content: 听力原文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4583" y="3457754"/>
            <a:ext cx="3755512" cy="1711440"/>
          </a:xfrm>
          <a:custGeom>
            <a:avLst/>
            <a:gdLst/>
            <a:ahLst/>
            <a:cxnLst/>
            <a:rect l="l" t="t" r="r" b="b"/>
            <a:pathLst>
              <a:path w="3755512" h="1711440">
                <a:moveTo>
                  <a:pt x="96577" y="0"/>
                </a:moveTo>
                <a:lnTo>
                  <a:pt x="3658935" y="0"/>
                </a:lnTo>
                <a:cubicBezTo>
                  <a:pt x="3712273" y="0"/>
                  <a:pt x="3755512" y="43239"/>
                  <a:pt x="3755512" y="96577"/>
                </a:cubicBezTo>
                <a:lnTo>
                  <a:pt x="3755512" y="1614864"/>
                </a:lnTo>
                <a:cubicBezTo>
                  <a:pt x="3755512" y="1668201"/>
                  <a:pt x="3712273" y="1711440"/>
                  <a:pt x="3658935" y="1711440"/>
                </a:cubicBezTo>
                <a:lnTo>
                  <a:pt x="96577" y="1711440"/>
                </a:lnTo>
                <a:cubicBezTo>
                  <a:pt x="43239" y="1711440"/>
                  <a:pt x="0" y="1668201"/>
                  <a:pt x="0" y="1614864"/>
                </a:cubicBezTo>
                <a:lnTo>
                  <a:pt x="0" y="96577"/>
                </a:lnTo>
                <a:cubicBezTo>
                  <a:pt x="0" y="43275"/>
                  <a:pt x="43275" y="0"/>
                  <a:pt x="96577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6026" y="3605291"/>
            <a:ext cx="321901" cy="321901"/>
          </a:xfrm>
          <a:custGeom>
            <a:avLst/>
            <a:gdLst/>
            <a:ahLst/>
            <a:cxnLst/>
            <a:rect l="l" t="t" r="r" b="b"/>
            <a:pathLst>
              <a:path w="321901" h="321901">
                <a:moveTo>
                  <a:pt x="64380" y="0"/>
                </a:moveTo>
                <a:lnTo>
                  <a:pt x="257521" y="0"/>
                </a:lnTo>
                <a:cubicBezTo>
                  <a:pt x="293053" y="0"/>
                  <a:pt x="321901" y="28848"/>
                  <a:pt x="321901" y="64380"/>
                </a:cubicBezTo>
                <a:lnTo>
                  <a:pt x="321901" y="257521"/>
                </a:lnTo>
                <a:cubicBezTo>
                  <a:pt x="321901" y="293077"/>
                  <a:pt x="293077" y="321901"/>
                  <a:pt x="257521" y="321901"/>
                </a:cubicBezTo>
                <a:lnTo>
                  <a:pt x="64380" y="321901"/>
                </a:lnTo>
                <a:cubicBezTo>
                  <a:pt x="28848" y="321901"/>
                  <a:pt x="0" y="293053"/>
                  <a:pt x="0" y="257521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41" name="Shape 39"/>
          <p:cNvSpPr/>
          <p:nvPr/>
        </p:nvSpPr>
        <p:spPr>
          <a:xfrm>
            <a:off x="555615" y="3693814"/>
            <a:ext cx="126749" cy="144855"/>
          </a:xfrm>
          <a:custGeom>
            <a:avLst/>
            <a:gdLst/>
            <a:ahLst/>
            <a:cxnLst/>
            <a:rect l="l" t="t" r="r" b="b"/>
            <a:pathLst>
              <a:path w="126749" h="144855">
                <a:moveTo>
                  <a:pt x="108642" y="144855"/>
                </a:moveTo>
                <a:lnTo>
                  <a:pt x="27160" y="144855"/>
                </a:lnTo>
                <a:cubicBezTo>
                  <a:pt x="12166" y="144855"/>
                  <a:pt x="0" y="132690"/>
                  <a:pt x="0" y="117695"/>
                </a:cubicBezTo>
                <a:lnTo>
                  <a:pt x="0" y="27160"/>
                </a:lnTo>
                <a:cubicBezTo>
                  <a:pt x="0" y="12166"/>
                  <a:pt x="12166" y="0"/>
                  <a:pt x="27160" y="0"/>
                </a:cubicBezTo>
                <a:lnTo>
                  <a:pt x="113168" y="0"/>
                </a:lnTo>
                <a:cubicBezTo>
                  <a:pt x="120666" y="0"/>
                  <a:pt x="126749" y="6083"/>
                  <a:pt x="126749" y="13580"/>
                </a:cubicBezTo>
                <a:lnTo>
                  <a:pt x="126749" y="95061"/>
                </a:lnTo>
                <a:cubicBezTo>
                  <a:pt x="126749" y="100974"/>
                  <a:pt x="122957" y="106010"/>
                  <a:pt x="117695" y="107878"/>
                </a:cubicBezTo>
                <a:lnTo>
                  <a:pt x="117695" y="126749"/>
                </a:lnTo>
                <a:cubicBezTo>
                  <a:pt x="122703" y="126749"/>
                  <a:pt x="126749" y="130794"/>
                  <a:pt x="126749" y="135802"/>
                </a:cubicBezTo>
                <a:cubicBezTo>
                  <a:pt x="126749" y="140810"/>
                  <a:pt x="122703" y="144855"/>
                  <a:pt x="117695" y="144855"/>
                </a:cubicBezTo>
                <a:lnTo>
                  <a:pt x="108642" y="144855"/>
                </a:lnTo>
                <a:close/>
                <a:moveTo>
                  <a:pt x="27160" y="108642"/>
                </a:moveTo>
                <a:cubicBezTo>
                  <a:pt x="22153" y="108642"/>
                  <a:pt x="18107" y="112687"/>
                  <a:pt x="18107" y="117695"/>
                </a:cubicBezTo>
                <a:cubicBezTo>
                  <a:pt x="18107" y="122703"/>
                  <a:pt x="22153" y="126749"/>
                  <a:pt x="27160" y="126749"/>
                </a:cubicBezTo>
                <a:lnTo>
                  <a:pt x="99588" y="126749"/>
                </a:lnTo>
                <a:lnTo>
                  <a:pt x="99588" y="108642"/>
                </a:lnTo>
                <a:lnTo>
                  <a:pt x="27160" y="108642"/>
                </a:lnTo>
                <a:close/>
                <a:moveTo>
                  <a:pt x="36214" y="43004"/>
                </a:moveTo>
                <a:cubicBezTo>
                  <a:pt x="36214" y="46767"/>
                  <a:pt x="39241" y="49794"/>
                  <a:pt x="43004" y="49794"/>
                </a:cubicBezTo>
                <a:lnTo>
                  <a:pt x="92798" y="49794"/>
                </a:lnTo>
                <a:cubicBezTo>
                  <a:pt x="96561" y="49794"/>
                  <a:pt x="99588" y="46767"/>
                  <a:pt x="99588" y="43004"/>
                </a:cubicBezTo>
                <a:cubicBezTo>
                  <a:pt x="99588" y="39241"/>
                  <a:pt x="96561" y="36214"/>
                  <a:pt x="92798" y="36214"/>
                </a:cubicBezTo>
                <a:lnTo>
                  <a:pt x="43004" y="36214"/>
                </a:lnTo>
                <a:cubicBezTo>
                  <a:pt x="39241" y="36214"/>
                  <a:pt x="36214" y="39241"/>
                  <a:pt x="36214" y="43004"/>
                </a:cubicBezTo>
                <a:close/>
                <a:moveTo>
                  <a:pt x="43004" y="63374"/>
                </a:moveTo>
                <a:cubicBezTo>
                  <a:pt x="39241" y="63374"/>
                  <a:pt x="36214" y="66402"/>
                  <a:pt x="36214" y="70164"/>
                </a:cubicBezTo>
                <a:cubicBezTo>
                  <a:pt x="36214" y="73927"/>
                  <a:pt x="39241" y="76954"/>
                  <a:pt x="43004" y="76954"/>
                </a:cubicBezTo>
                <a:lnTo>
                  <a:pt x="92798" y="76954"/>
                </a:lnTo>
                <a:cubicBezTo>
                  <a:pt x="96561" y="76954"/>
                  <a:pt x="99588" y="73927"/>
                  <a:pt x="99588" y="70164"/>
                </a:cubicBezTo>
                <a:cubicBezTo>
                  <a:pt x="99588" y="66402"/>
                  <a:pt x="96561" y="63374"/>
                  <a:pt x="92798" y="63374"/>
                </a:cubicBezTo>
                <a:lnTo>
                  <a:pt x="43004" y="63374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42" name="Text 40"/>
          <p:cNvSpPr/>
          <p:nvPr/>
        </p:nvSpPr>
        <p:spPr>
          <a:xfrm>
            <a:off x="842308" y="3589196"/>
            <a:ext cx="506994" cy="2253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书籍表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2308" y="3814527"/>
            <a:ext cx="482851" cy="12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6B7D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6026" y="4039857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book_id: 书籍ID（主键）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6026" y="4249093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title: 书名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56026" y="4458329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author: 作者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6026" y="4667564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content: 书籍内容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56026" y="4876800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cover_url: 封面图片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15981" y="3457754"/>
            <a:ext cx="3755512" cy="1711440"/>
          </a:xfrm>
          <a:custGeom>
            <a:avLst/>
            <a:gdLst/>
            <a:ahLst/>
            <a:cxnLst/>
            <a:rect l="l" t="t" r="r" b="b"/>
            <a:pathLst>
              <a:path w="3755512" h="1711440">
                <a:moveTo>
                  <a:pt x="96577" y="0"/>
                </a:moveTo>
                <a:lnTo>
                  <a:pt x="3658935" y="0"/>
                </a:lnTo>
                <a:cubicBezTo>
                  <a:pt x="3712273" y="0"/>
                  <a:pt x="3755512" y="43239"/>
                  <a:pt x="3755512" y="96577"/>
                </a:cubicBezTo>
                <a:lnTo>
                  <a:pt x="3755512" y="1614864"/>
                </a:lnTo>
                <a:cubicBezTo>
                  <a:pt x="3755512" y="1668201"/>
                  <a:pt x="3712273" y="1711440"/>
                  <a:pt x="3658935" y="1711440"/>
                </a:cubicBezTo>
                <a:lnTo>
                  <a:pt x="96577" y="1711440"/>
                </a:lnTo>
                <a:cubicBezTo>
                  <a:pt x="43239" y="1711440"/>
                  <a:pt x="0" y="1668201"/>
                  <a:pt x="0" y="1614864"/>
                </a:cubicBezTo>
                <a:lnTo>
                  <a:pt x="0" y="96577"/>
                </a:lnTo>
                <a:cubicBezTo>
                  <a:pt x="0" y="43275"/>
                  <a:pt x="43275" y="0"/>
                  <a:pt x="96577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47424" y="3605291"/>
            <a:ext cx="321901" cy="321901"/>
          </a:xfrm>
          <a:custGeom>
            <a:avLst/>
            <a:gdLst/>
            <a:ahLst/>
            <a:cxnLst/>
            <a:rect l="l" t="t" r="r" b="b"/>
            <a:pathLst>
              <a:path w="321901" h="321901">
                <a:moveTo>
                  <a:pt x="64380" y="0"/>
                </a:moveTo>
                <a:lnTo>
                  <a:pt x="257521" y="0"/>
                </a:lnTo>
                <a:cubicBezTo>
                  <a:pt x="293053" y="0"/>
                  <a:pt x="321901" y="28848"/>
                  <a:pt x="321901" y="64380"/>
                </a:cubicBezTo>
                <a:lnTo>
                  <a:pt x="321901" y="257521"/>
                </a:lnTo>
                <a:cubicBezTo>
                  <a:pt x="321901" y="293077"/>
                  <a:pt x="293077" y="321901"/>
                  <a:pt x="257521" y="321901"/>
                </a:cubicBezTo>
                <a:lnTo>
                  <a:pt x="64380" y="321901"/>
                </a:lnTo>
                <a:cubicBezTo>
                  <a:pt x="28848" y="321901"/>
                  <a:pt x="0" y="293053"/>
                  <a:pt x="0" y="257521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51" name="Shape 49"/>
          <p:cNvSpPr/>
          <p:nvPr/>
        </p:nvSpPr>
        <p:spPr>
          <a:xfrm>
            <a:off x="4447012" y="3693814"/>
            <a:ext cx="126749" cy="144855"/>
          </a:xfrm>
          <a:custGeom>
            <a:avLst/>
            <a:gdLst/>
            <a:ahLst/>
            <a:cxnLst/>
            <a:rect l="l" t="t" r="r" b="b"/>
            <a:pathLst>
              <a:path w="126749" h="144855">
                <a:moveTo>
                  <a:pt x="0" y="61111"/>
                </a:moveTo>
                <a:cubicBezTo>
                  <a:pt x="0" y="42353"/>
                  <a:pt x="15193" y="27160"/>
                  <a:pt x="33950" y="27160"/>
                </a:cubicBezTo>
                <a:lnTo>
                  <a:pt x="36214" y="27160"/>
                </a:lnTo>
                <a:cubicBezTo>
                  <a:pt x="41222" y="27160"/>
                  <a:pt x="45267" y="31206"/>
                  <a:pt x="45267" y="36214"/>
                </a:cubicBezTo>
                <a:cubicBezTo>
                  <a:pt x="45267" y="41222"/>
                  <a:pt x="41222" y="45267"/>
                  <a:pt x="36214" y="45267"/>
                </a:cubicBezTo>
                <a:lnTo>
                  <a:pt x="33950" y="45267"/>
                </a:lnTo>
                <a:cubicBezTo>
                  <a:pt x="25208" y="45267"/>
                  <a:pt x="18107" y="52369"/>
                  <a:pt x="18107" y="61111"/>
                </a:cubicBezTo>
                <a:lnTo>
                  <a:pt x="18107" y="63374"/>
                </a:lnTo>
                <a:lnTo>
                  <a:pt x="36214" y="63374"/>
                </a:lnTo>
                <a:cubicBezTo>
                  <a:pt x="46201" y="63374"/>
                  <a:pt x="54321" y="71494"/>
                  <a:pt x="54321" y="81481"/>
                </a:cubicBezTo>
                <a:lnTo>
                  <a:pt x="54321" y="99588"/>
                </a:lnTo>
                <a:cubicBezTo>
                  <a:pt x="54321" y="109575"/>
                  <a:pt x="46201" y="117695"/>
                  <a:pt x="36214" y="117695"/>
                </a:cubicBezTo>
                <a:lnTo>
                  <a:pt x="18107" y="117695"/>
                </a:lnTo>
                <a:cubicBezTo>
                  <a:pt x="8120" y="117695"/>
                  <a:pt x="0" y="109575"/>
                  <a:pt x="0" y="99588"/>
                </a:cubicBezTo>
                <a:lnTo>
                  <a:pt x="0" y="61111"/>
                </a:lnTo>
                <a:close/>
                <a:moveTo>
                  <a:pt x="72428" y="61111"/>
                </a:moveTo>
                <a:cubicBezTo>
                  <a:pt x="72428" y="42353"/>
                  <a:pt x="87621" y="27160"/>
                  <a:pt x="106378" y="27160"/>
                </a:cubicBezTo>
                <a:lnTo>
                  <a:pt x="108642" y="27160"/>
                </a:lnTo>
                <a:cubicBezTo>
                  <a:pt x="113649" y="27160"/>
                  <a:pt x="117695" y="31206"/>
                  <a:pt x="117695" y="36214"/>
                </a:cubicBezTo>
                <a:cubicBezTo>
                  <a:pt x="117695" y="41222"/>
                  <a:pt x="113649" y="45267"/>
                  <a:pt x="108642" y="45267"/>
                </a:cubicBezTo>
                <a:lnTo>
                  <a:pt x="106378" y="45267"/>
                </a:lnTo>
                <a:cubicBezTo>
                  <a:pt x="97636" y="45267"/>
                  <a:pt x="90535" y="52369"/>
                  <a:pt x="90535" y="61111"/>
                </a:cubicBezTo>
                <a:lnTo>
                  <a:pt x="90535" y="63374"/>
                </a:lnTo>
                <a:lnTo>
                  <a:pt x="108642" y="63374"/>
                </a:lnTo>
                <a:cubicBezTo>
                  <a:pt x="118629" y="63374"/>
                  <a:pt x="126749" y="71494"/>
                  <a:pt x="126749" y="81481"/>
                </a:cubicBezTo>
                <a:lnTo>
                  <a:pt x="126749" y="99588"/>
                </a:lnTo>
                <a:cubicBezTo>
                  <a:pt x="126749" y="109575"/>
                  <a:pt x="118629" y="117695"/>
                  <a:pt x="108642" y="117695"/>
                </a:cubicBezTo>
                <a:lnTo>
                  <a:pt x="90535" y="117695"/>
                </a:lnTo>
                <a:cubicBezTo>
                  <a:pt x="80548" y="117695"/>
                  <a:pt x="72428" y="109575"/>
                  <a:pt x="72428" y="99588"/>
                </a:cubicBezTo>
                <a:lnTo>
                  <a:pt x="72428" y="61111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52" name="Text 50"/>
          <p:cNvSpPr/>
          <p:nvPr/>
        </p:nvSpPr>
        <p:spPr>
          <a:xfrm>
            <a:off x="4733705" y="3589196"/>
            <a:ext cx="506994" cy="2253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句子表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733705" y="3814527"/>
            <a:ext cx="482851" cy="12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6B7D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sentence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347424" y="4039857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sentence_id: 句子ID（主键）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347424" y="4249093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english: 英文句子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347424" y="4458329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chinese: 中文翻译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347424" y="4667564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source: 出处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107378" y="3457754"/>
            <a:ext cx="3755512" cy="1711440"/>
          </a:xfrm>
          <a:custGeom>
            <a:avLst/>
            <a:gdLst/>
            <a:ahLst/>
            <a:cxnLst/>
            <a:rect l="l" t="t" r="r" b="b"/>
            <a:pathLst>
              <a:path w="3755512" h="1711440">
                <a:moveTo>
                  <a:pt x="96577" y="0"/>
                </a:moveTo>
                <a:lnTo>
                  <a:pt x="3658935" y="0"/>
                </a:lnTo>
                <a:cubicBezTo>
                  <a:pt x="3712273" y="0"/>
                  <a:pt x="3755512" y="43239"/>
                  <a:pt x="3755512" y="96577"/>
                </a:cubicBezTo>
                <a:lnTo>
                  <a:pt x="3755512" y="1614864"/>
                </a:lnTo>
                <a:cubicBezTo>
                  <a:pt x="3755512" y="1668201"/>
                  <a:pt x="3712273" y="1711440"/>
                  <a:pt x="3658935" y="1711440"/>
                </a:cubicBezTo>
                <a:lnTo>
                  <a:pt x="96577" y="1711440"/>
                </a:lnTo>
                <a:cubicBezTo>
                  <a:pt x="43239" y="1711440"/>
                  <a:pt x="0" y="1668201"/>
                  <a:pt x="0" y="1614864"/>
                </a:cubicBezTo>
                <a:lnTo>
                  <a:pt x="0" y="96577"/>
                </a:lnTo>
                <a:cubicBezTo>
                  <a:pt x="0" y="43275"/>
                  <a:pt x="43275" y="0"/>
                  <a:pt x="96577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38821" y="3605291"/>
            <a:ext cx="321901" cy="321901"/>
          </a:xfrm>
          <a:custGeom>
            <a:avLst/>
            <a:gdLst/>
            <a:ahLst/>
            <a:cxnLst/>
            <a:rect l="l" t="t" r="r" b="b"/>
            <a:pathLst>
              <a:path w="321901" h="321901">
                <a:moveTo>
                  <a:pt x="64380" y="0"/>
                </a:moveTo>
                <a:lnTo>
                  <a:pt x="257521" y="0"/>
                </a:lnTo>
                <a:cubicBezTo>
                  <a:pt x="293053" y="0"/>
                  <a:pt x="321901" y="28848"/>
                  <a:pt x="321901" y="64380"/>
                </a:cubicBezTo>
                <a:lnTo>
                  <a:pt x="321901" y="257521"/>
                </a:lnTo>
                <a:cubicBezTo>
                  <a:pt x="321901" y="293077"/>
                  <a:pt x="293077" y="321901"/>
                  <a:pt x="257521" y="321901"/>
                </a:cubicBezTo>
                <a:lnTo>
                  <a:pt x="64380" y="321901"/>
                </a:lnTo>
                <a:cubicBezTo>
                  <a:pt x="28848" y="321901"/>
                  <a:pt x="0" y="293053"/>
                  <a:pt x="0" y="257521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60" name="Shape 58"/>
          <p:cNvSpPr/>
          <p:nvPr/>
        </p:nvSpPr>
        <p:spPr>
          <a:xfrm>
            <a:off x="8329356" y="3693814"/>
            <a:ext cx="144855" cy="144855"/>
          </a:xfrm>
          <a:custGeom>
            <a:avLst/>
            <a:gdLst/>
            <a:ahLst/>
            <a:cxnLst/>
            <a:rect l="l" t="t" r="r" b="b"/>
            <a:pathLst>
              <a:path w="144855" h="144855">
                <a:moveTo>
                  <a:pt x="130483" y="5347"/>
                </a:moveTo>
                <a:cubicBezTo>
                  <a:pt x="133737" y="6790"/>
                  <a:pt x="135802" y="10015"/>
                  <a:pt x="135802" y="13580"/>
                </a:cubicBezTo>
                <a:lnTo>
                  <a:pt x="135802" y="131275"/>
                </a:lnTo>
                <a:cubicBezTo>
                  <a:pt x="135802" y="134840"/>
                  <a:pt x="133737" y="138065"/>
                  <a:pt x="130483" y="139508"/>
                </a:cubicBezTo>
                <a:cubicBezTo>
                  <a:pt x="127229" y="140951"/>
                  <a:pt x="123467" y="140414"/>
                  <a:pt x="120779" y="138065"/>
                </a:cubicBezTo>
                <a:lnTo>
                  <a:pt x="107595" y="126550"/>
                </a:lnTo>
                <a:cubicBezTo>
                  <a:pt x="95259" y="115771"/>
                  <a:pt x="79670" y="109490"/>
                  <a:pt x="63346" y="108726"/>
                </a:cubicBezTo>
                <a:lnTo>
                  <a:pt x="63346" y="135802"/>
                </a:lnTo>
                <a:cubicBezTo>
                  <a:pt x="63346" y="140810"/>
                  <a:pt x="59300" y="144855"/>
                  <a:pt x="54292" y="144855"/>
                </a:cubicBezTo>
                <a:lnTo>
                  <a:pt x="45239" y="144855"/>
                </a:lnTo>
                <a:cubicBezTo>
                  <a:pt x="40231" y="144855"/>
                  <a:pt x="36186" y="140810"/>
                  <a:pt x="36186" y="135802"/>
                </a:cubicBezTo>
                <a:lnTo>
                  <a:pt x="36186" y="108642"/>
                </a:lnTo>
                <a:cubicBezTo>
                  <a:pt x="16211" y="108642"/>
                  <a:pt x="0" y="92430"/>
                  <a:pt x="0" y="72428"/>
                </a:cubicBezTo>
                <a:cubicBezTo>
                  <a:pt x="0" y="52425"/>
                  <a:pt x="16211" y="36214"/>
                  <a:pt x="36214" y="36214"/>
                </a:cubicBezTo>
                <a:lnTo>
                  <a:pt x="60121" y="36214"/>
                </a:lnTo>
                <a:cubicBezTo>
                  <a:pt x="77605" y="36157"/>
                  <a:pt x="94467" y="29792"/>
                  <a:pt x="107623" y="18305"/>
                </a:cubicBezTo>
                <a:lnTo>
                  <a:pt x="120807" y="6790"/>
                </a:lnTo>
                <a:cubicBezTo>
                  <a:pt x="123467" y="4442"/>
                  <a:pt x="127286" y="3904"/>
                  <a:pt x="130511" y="5347"/>
                </a:cubicBezTo>
                <a:close/>
                <a:moveTo>
                  <a:pt x="63374" y="90535"/>
                </a:moveTo>
                <a:lnTo>
                  <a:pt x="63374" y="90591"/>
                </a:lnTo>
                <a:cubicBezTo>
                  <a:pt x="83264" y="91355"/>
                  <a:pt x="102361" y="98654"/>
                  <a:pt x="117695" y="111358"/>
                </a:cubicBezTo>
                <a:lnTo>
                  <a:pt x="117695" y="33470"/>
                </a:lnTo>
                <a:cubicBezTo>
                  <a:pt x="102361" y="46173"/>
                  <a:pt x="83264" y="53472"/>
                  <a:pt x="63374" y="54236"/>
                </a:cubicBezTo>
                <a:lnTo>
                  <a:pt x="63374" y="90535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61" name="Text 59"/>
          <p:cNvSpPr/>
          <p:nvPr/>
        </p:nvSpPr>
        <p:spPr>
          <a:xfrm>
            <a:off x="8625103" y="3589196"/>
            <a:ext cx="506994" cy="2253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公告表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625103" y="3814527"/>
            <a:ext cx="482851" cy="12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60" dirty="0">
                <a:solidFill>
                  <a:srgbClr val="6B7D8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notice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238821" y="4039857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notice_id: 公告ID（主键）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238821" y="4249093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title: 公告标题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238821" y="4458329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content: 公告内容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238821" y="4667564"/>
            <a:ext cx="3548958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create_time: 创建时间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24583" y="5303321"/>
            <a:ext cx="11537468" cy="1550490"/>
          </a:xfrm>
          <a:custGeom>
            <a:avLst/>
            <a:gdLst/>
            <a:ahLst/>
            <a:cxnLst/>
            <a:rect l="l" t="t" r="r" b="b"/>
            <a:pathLst>
              <a:path w="11537468" h="1550490">
                <a:moveTo>
                  <a:pt x="96565" y="0"/>
                </a:moveTo>
                <a:lnTo>
                  <a:pt x="11440903" y="0"/>
                </a:lnTo>
                <a:cubicBezTo>
                  <a:pt x="11494235" y="0"/>
                  <a:pt x="11537468" y="43233"/>
                  <a:pt x="11537468" y="96565"/>
                </a:cubicBezTo>
                <a:lnTo>
                  <a:pt x="11537468" y="1453925"/>
                </a:lnTo>
                <a:cubicBezTo>
                  <a:pt x="11537468" y="1507256"/>
                  <a:pt x="11494235" y="1550490"/>
                  <a:pt x="11440903" y="1550490"/>
                </a:cubicBezTo>
                <a:lnTo>
                  <a:pt x="96565" y="1550490"/>
                </a:lnTo>
                <a:cubicBezTo>
                  <a:pt x="43233" y="1550490"/>
                  <a:pt x="0" y="1507256"/>
                  <a:pt x="0" y="1453925"/>
                </a:cubicBezTo>
                <a:lnTo>
                  <a:pt x="0" y="96565"/>
                </a:lnTo>
                <a:cubicBezTo>
                  <a:pt x="0" y="43269"/>
                  <a:pt x="43269" y="0"/>
                  <a:pt x="96565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>
                  <a:alpha val="20000"/>
                </a:srgbClr>
              </a:gs>
              <a:gs pos="100000">
                <a:srgbClr val="3A5F7A">
                  <a:alpha val="20000"/>
                </a:srgbClr>
              </a:gs>
            </a:gsLst>
            <a:lin ang="0" scaled="1"/>
          </a:gradFill>
          <a:ln w="8467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28454" y="5499143"/>
            <a:ext cx="120713" cy="160950"/>
          </a:xfrm>
          <a:custGeom>
            <a:avLst/>
            <a:gdLst/>
            <a:ahLst/>
            <a:cxnLst/>
            <a:rect l="l" t="t" r="r" b="b"/>
            <a:pathLst>
              <a:path w="120713" h="160950">
                <a:moveTo>
                  <a:pt x="92075" y="120713"/>
                </a:moveTo>
                <a:cubicBezTo>
                  <a:pt x="94370" y="113703"/>
                  <a:pt x="98959" y="107353"/>
                  <a:pt x="104146" y="101883"/>
                </a:cubicBezTo>
                <a:cubicBezTo>
                  <a:pt x="114426" y="91069"/>
                  <a:pt x="120713" y="76451"/>
                  <a:pt x="120713" y="60356"/>
                </a:cubicBezTo>
                <a:cubicBezTo>
                  <a:pt x="120713" y="27035"/>
                  <a:pt x="93678" y="0"/>
                  <a:pt x="60356" y="0"/>
                </a:cubicBezTo>
                <a:cubicBezTo>
                  <a:pt x="27035" y="0"/>
                  <a:pt x="0" y="27035"/>
                  <a:pt x="0" y="60356"/>
                </a:cubicBezTo>
                <a:cubicBezTo>
                  <a:pt x="0" y="76451"/>
                  <a:pt x="6287" y="91069"/>
                  <a:pt x="16567" y="101883"/>
                </a:cubicBezTo>
                <a:cubicBezTo>
                  <a:pt x="21753" y="107353"/>
                  <a:pt x="26375" y="113703"/>
                  <a:pt x="28638" y="120713"/>
                </a:cubicBezTo>
                <a:lnTo>
                  <a:pt x="92044" y="120713"/>
                </a:lnTo>
                <a:close/>
                <a:moveTo>
                  <a:pt x="90535" y="135802"/>
                </a:moveTo>
                <a:lnTo>
                  <a:pt x="30178" y="135802"/>
                </a:lnTo>
                <a:lnTo>
                  <a:pt x="30178" y="140832"/>
                </a:lnTo>
                <a:cubicBezTo>
                  <a:pt x="30178" y="154726"/>
                  <a:pt x="41432" y="165980"/>
                  <a:pt x="55327" y="165980"/>
                </a:cubicBezTo>
                <a:lnTo>
                  <a:pt x="65386" y="165980"/>
                </a:lnTo>
                <a:cubicBezTo>
                  <a:pt x="79281" y="165980"/>
                  <a:pt x="90535" y="154726"/>
                  <a:pt x="90535" y="140832"/>
                </a:cubicBezTo>
                <a:lnTo>
                  <a:pt x="90535" y="135802"/>
                </a:lnTo>
                <a:close/>
                <a:moveTo>
                  <a:pt x="57842" y="35208"/>
                </a:moveTo>
                <a:cubicBezTo>
                  <a:pt x="45330" y="35208"/>
                  <a:pt x="35208" y="45330"/>
                  <a:pt x="35208" y="57842"/>
                </a:cubicBezTo>
                <a:cubicBezTo>
                  <a:pt x="35208" y="62023"/>
                  <a:pt x="31844" y="65386"/>
                  <a:pt x="27663" y="65386"/>
                </a:cubicBezTo>
                <a:cubicBezTo>
                  <a:pt x="23482" y="65386"/>
                  <a:pt x="20119" y="62023"/>
                  <a:pt x="20119" y="57842"/>
                </a:cubicBezTo>
                <a:cubicBezTo>
                  <a:pt x="20119" y="37000"/>
                  <a:pt x="37000" y="20119"/>
                  <a:pt x="57842" y="20119"/>
                </a:cubicBezTo>
                <a:cubicBezTo>
                  <a:pt x="62023" y="20119"/>
                  <a:pt x="65386" y="23482"/>
                  <a:pt x="65386" y="27663"/>
                </a:cubicBezTo>
                <a:cubicBezTo>
                  <a:pt x="65386" y="31844"/>
                  <a:pt x="62023" y="35208"/>
                  <a:pt x="57842" y="35208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69" name="Text 67"/>
          <p:cNvSpPr/>
          <p:nvPr/>
        </p:nvSpPr>
        <p:spPr>
          <a:xfrm>
            <a:off x="689405" y="5466953"/>
            <a:ext cx="11089489" cy="2253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设计亮点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88217" y="5837139"/>
            <a:ext cx="257521" cy="257521"/>
          </a:xfrm>
          <a:custGeom>
            <a:avLst/>
            <a:gdLst/>
            <a:ahLst/>
            <a:cxnLst/>
            <a:rect l="l" t="t" r="r" b="b"/>
            <a:pathLst>
              <a:path w="257521" h="257521">
                <a:moveTo>
                  <a:pt x="64380" y="0"/>
                </a:moveTo>
                <a:lnTo>
                  <a:pt x="193141" y="0"/>
                </a:lnTo>
                <a:cubicBezTo>
                  <a:pt x="228673" y="0"/>
                  <a:pt x="257521" y="28848"/>
                  <a:pt x="257521" y="64380"/>
                </a:cubicBezTo>
                <a:lnTo>
                  <a:pt x="257521" y="193141"/>
                </a:lnTo>
                <a:cubicBezTo>
                  <a:pt x="257521" y="228697"/>
                  <a:pt x="228697" y="257521"/>
                  <a:pt x="193141" y="257521"/>
                </a:cubicBezTo>
                <a:lnTo>
                  <a:pt x="64380" y="257521"/>
                </a:lnTo>
                <a:cubicBezTo>
                  <a:pt x="28848" y="257521"/>
                  <a:pt x="0" y="228673"/>
                  <a:pt x="0" y="193141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</p:spPr>
      </p:sp>
      <p:sp>
        <p:nvSpPr>
          <p:cNvPr id="71" name="Shape 69"/>
          <p:cNvSpPr/>
          <p:nvPr/>
        </p:nvSpPr>
        <p:spPr>
          <a:xfrm>
            <a:off x="560644" y="5901519"/>
            <a:ext cx="112665" cy="128760"/>
          </a:xfrm>
          <a:custGeom>
            <a:avLst/>
            <a:gdLst/>
            <a:ahLst/>
            <a:cxnLst/>
            <a:rect l="l" t="t" r="r" b="b"/>
            <a:pathLst>
              <a:path w="112665" h="128760">
                <a:moveTo>
                  <a:pt x="109346" y="17629"/>
                </a:moveTo>
                <a:cubicBezTo>
                  <a:pt x="112942" y="20245"/>
                  <a:pt x="113747" y="25274"/>
                  <a:pt x="111131" y="28870"/>
                </a:cubicBezTo>
                <a:lnTo>
                  <a:pt x="46751" y="117393"/>
                </a:lnTo>
                <a:cubicBezTo>
                  <a:pt x="45368" y="119305"/>
                  <a:pt x="43230" y="120487"/>
                  <a:pt x="40866" y="120688"/>
                </a:cubicBezTo>
                <a:cubicBezTo>
                  <a:pt x="38502" y="120889"/>
                  <a:pt x="36214" y="120009"/>
                  <a:pt x="34554" y="118349"/>
                </a:cubicBezTo>
                <a:lnTo>
                  <a:pt x="2364" y="86159"/>
                </a:lnTo>
                <a:cubicBezTo>
                  <a:pt x="-780" y="83015"/>
                  <a:pt x="-780" y="77910"/>
                  <a:pt x="2364" y="74767"/>
                </a:cubicBezTo>
                <a:cubicBezTo>
                  <a:pt x="5508" y="71623"/>
                  <a:pt x="10613" y="71623"/>
                  <a:pt x="13756" y="74767"/>
                </a:cubicBezTo>
                <a:lnTo>
                  <a:pt x="39282" y="100292"/>
                </a:lnTo>
                <a:lnTo>
                  <a:pt x="98130" y="19390"/>
                </a:lnTo>
                <a:cubicBezTo>
                  <a:pt x="100745" y="15793"/>
                  <a:pt x="105775" y="14989"/>
                  <a:pt x="109371" y="17604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2" name="Text 70"/>
          <p:cNvSpPr/>
          <p:nvPr/>
        </p:nvSpPr>
        <p:spPr>
          <a:xfrm>
            <a:off x="842308" y="5821044"/>
            <a:ext cx="3951335" cy="193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状态字段设计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42308" y="6046375"/>
            <a:ext cx="3943287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单词表通过study/remember/collection三个状态字段实现学习进度精细化管理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191229" y="5837139"/>
            <a:ext cx="257521" cy="257521"/>
          </a:xfrm>
          <a:custGeom>
            <a:avLst/>
            <a:gdLst/>
            <a:ahLst/>
            <a:cxnLst/>
            <a:rect l="l" t="t" r="r" b="b"/>
            <a:pathLst>
              <a:path w="257521" h="257521">
                <a:moveTo>
                  <a:pt x="64380" y="0"/>
                </a:moveTo>
                <a:lnTo>
                  <a:pt x="193141" y="0"/>
                </a:lnTo>
                <a:cubicBezTo>
                  <a:pt x="228673" y="0"/>
                  <a:pt x="257521" y="28848"/>
                  <a:pt x="257521" y="64380"/>
                </a:cubicBezTo>
                <a:lnTo>
                  <a:pt x="257521" y="193141"/>
                </a:lnTo>
                <a:cubicBezTo>
                  <a:pt x="257521" y="228697"/>
                  <a:pt x="228697" y="257521"/>
                  <a:pt x="193141" y="257521"/>
                </a:cubicBezTo>
                <a:lnTo>
                  <a:pt x="64380" y="257521"/>
                </a:lnTo>
                <a:cubicBezTo>
                  <a:pt x="28848" y="257521"/>
                  <a:pt x="0" y="228673"/>
                  <a:pt x="0" y="193141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</p:spPr>
      </p:sp>
      <p:sp>
        <p:nvSpPr>
          <p:cNvPr id="75" name="Shape 73"/>
          <p:cNvSpPr/>
          <p:nvPr/>
        </p:nvSpPr>
        <p:spPr>
          <a:xfrm>
            <a:off x="6263657" y="5901519"/>
            <a:ext cx="112665" cy="128760"/>
          </a:xfrm>
          <a:custGeom>
            <a:avLst/>
            <a:gdLst/>
            <a:ahLst/>
            <a:cxnLst/>
            <a:rect l="l" t="t" r="r" b="b"/>
            <a:pathLst>
              <a:path w="112665" h="128760">
                <a:moveTo>
                  <a:pt x="109346" y="17629"/>
                </a:moveTo>
                <a:cubicBezTo>
                  <a:pt x="112942" y="20245"/>
                  <a:pt x="113747" y="25274"/>
                  <a:pt x="111131" y="28870"/>
                </a:cubicBezTo>
                <a:lnTo>
                  <a:pt x="46751" y="117393"/>
                </a:lnTo>
                <a:cubicBezTo>
                  <a:pt x="45368" y="119305"/>
                  <a:pt x="43230" y="120487"/>
                  <a:pt x="40866" y="120688"/>
                </a:cubicBezTo>
                <a:cubicBezTo>
                  <a:pt x="38502" y="120889"/>
                  <a:pt x="36214" y="120009"/>
                  <a:pt x="34554" y="118349"/>
                </a:cubicBezTo>
                <a:lnTo>
                  <a:pt x="2364" y="86159"/>
                </a:lnTo>
                <a:cubicBezTo>
                  <a:pt x="-780" y="83015"/>
                  <a:pt x="-780" y="77910"/>
                  <a:pt x="2364" y="74767"/>
                </a:cubicBezTo>
                <a:cubicBezTo>
                  <a:pt x="5508" y="71623"/>
                  <a:pt x="10613" y="71623"/>
                  <a:pt x="13756" y="74767"/>
                </a:cubicBezTo>
                <a:lnTo>
                  <a:pt x="39282" y="100292"/>
                </a:lnTo>
                <a:lnTo>
                  <a:pt x="98130" y="19390"/>
                </a:lnTo>
                <a:cubicBezTo>
                  <a:pt x="100745" y="15793"/>
                  <a:pt x="105775" y="14989"/>
                  <a:pt x="109371" y="17604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6" name="Text 74"/>
          <p:cNvSpPr/>
          <p:nvPr/>
        </p:nvSpPr>
        <p:spPr>
          <a:xfrm>
            <a:off x="6545320" y="5821044"/>
            <a:ext cx="3565053" cy="193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分级管理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545320" y="6046375"/>
            <a:ext cx="3557006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单词和听力表通过grade字段实现四级/六级内容分级，支持按等级查询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488217" y="6319991"/>
            <a:ext cx="257521" cy="257521"/>
          </a:xfrm>
          <a:custGeom>
            <a:avLst/>
            <a:gdLst/>
            <a:ahLst/>
            <a:cxnLst/>
            <a:rect l="l" t="t" r="r" b="b"/>
            <a:pathLst>
              <a:path w="257521" h="257521">
                <a:moveTo>
                  <a:pt x="64380" y="0"/>
                </a:moveTo>
                <a:lnTo>
                  <a:pt x="193141" y="0"/>
                </a:lnTo>
                <a:cubicBezTo>
                  <a:pt x="228673" y="0"/>
                  <a:pt x="257521" y="28848"/>
                  <a:pt x="257521" y="64380"/>
                </a:cubicBezTo>
                <a:lnTo>
                  <a:pt x="257521" y="193141"/>
                </a:lnTo>
                <a:cubicBezTo>
                  <a:pt x="257521" y="228697"/>
                  <a:pt x="228697" y="257521"/>
                  <a:pt x="193141" y="257521"/>
                </a:cubicBezTo>
                <a:lnTo>
                  <a:pt x="64380" y="257521"/>
                </a:lnTo>
                <a:cubicBezTo>
                  <a:pt x="28848" y="257521"/>
                  <a:pt x="0" y="228673"/>
                  <a:pt x="0" y="193141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</p:spPr>
      </p:sp>
      <p:sp>
        <p:nvSpPr>
          <p:cNvPr id="79" name="Shape 77"/>
          <p:cNvSpPr/>
          <p:nvPr/>
        </p:nvSpPr>
        <p:spPr>
          <a:xfrm>
            <a:off x="560644" y="6384371"/>
            <a:ext cx="112665" cy="128760"/>
          </a:xfrm>
          <a:custGeom>
            <a:avLst/>
            <a:gdLst/>
            <a:ahLst/>
            <a:cxnLst/>
            <a:rect l="l" t="t" r="r" b="b"/>
            <a:pathLst>
              <a:path w="112665" h="128760">
                <a:moveTo>
                  <a:pt x="109346" y="17629"/>
                </a:moveTo>
                <a:cubicBezTo>
                  <a:pt x="112942" y="20245"/>
                  <a:pt x="113747" y="25274"/>
                  <a:pt x="111131" y="28870"/>
                </a:cubicBezTo>
                <a:lnTo>
                  <a:pt x="46751" y="117393"/>
                </a:lnTo>
                <a:cubicBezTo>
                  <a:pt x="45368" y="119305"/>
                  <a:pt x="43230" y="120487"/>
                  <a:pt x="40866" y="120688"/>
                </a:cubicBezTo>
                <a:cubicBezTo>
                  <a:pt x="38502" y="120889"/>
                  <a:pt x="36214" y="120009"/>
                  <a:pt x="34554" y="118349"/>
                </a:cubicBezTo>
                <a:lnTo>
                  <a:pt x="2364" y="86159"/>
                </a:lnTo>
                <a:cubicBezTo>
                  <a:pt x="-780" y="83015"/>
                  <a:pt x="-780" y="77910"/>
                  <a:pt x="2364" y="74767"/>
                </a:cubicBezTo>
                <a:cubicBezTo>
                  <a:pt x="5508" y="71623"/>
                  <a:pt x="10613" y="71623"/>
                  <a:pt x="13756" y="74767"/>
                </a:cubicBezTo>
                <a:lnTo>
                  <a:pt x="39282" y="100292"/>
                </a:lnTo>
                <a:lnTo>
                  <a:pt x="98130" y="19390"/>
                </a:lnTo>
                <a:cubicBezTo>
                  <a:pt x="100745" y="15793"/>
                  <a:pt x="105775" y="14989"/>
                  <a:pt x="109371" y="17604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80" name="Text 78"/>
          <p:cNvSpPr/>
          <p:nvPr/>
        </p:nvSpPr>
        <p:spPr>
          <a:xfrm>
            <a:off x="842308" y="6303896"/>
            <a:ext cx="3210962" cy="193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激活机制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42308" y="6529226"/>
            <a:ext cx="3202915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用户表通过active_status字段实现邮箱激活验证，保障账号安全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191229" y="6319991"/>
            <a:ext cx="257521" cy="257521"/>
          </a:xfrm>
          <a:custGeom>
            <a:avLst/>
            <a:gdLst/>
            <a:ahLst/>
            <a:cxnLst/>
            <a:rect l="l" t="t" r="r" b="b"/>
            <a:pathLst>
              <a:path w="257521" h="257521">
                <a:moveTo>
                  <a:pt x="64380" y="0"/>
                </a:moveTo>
                <a:lnTo>
                  <a:pt x="193141" y="0"/>
                </a:lnTo>
                <a:cubicBezTo>
                  <a:pt x="228673" y="0"/>
                  <a:pt x="257521" y="28848"/>
                  <a:pt x="257521" y="64380"/>
                </a:cubicBezTo>
                <a:lnTo>
                  <a:pt x="257521" y="193141"/>
                </a:lnTo>
                <a:cubicBezTo>
                  <a:pt x="257521" y="228697"/>
                  <a:pt x="228697" y="257521"/>
                  <a:pt x="193141" y="257521"/>
                </a:cubicBezTo>
                <a:lnTo>
                  <a:pt x="64380" y="257521"/>
                </a:lnTo>
                <a:cubicBezTo>
                  <a:pt x="28848" y="257521"/>
                  <a:pt x="0" y="228673"/>
                  <a:pt x="0" y="193141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</p:spPr>
      </p:sp>
      <p:sp>
        <p:nvSpPr>
          <p:cNvPr id="83" name="Shape 81"/>
          <p:cNvSpPr/>
          <p:nvPr/>
        </p:nvSpPr>
        <p:spPr>
          <a:xfrm>
            <a:off x="6263657" y="6384371"/>
            <a:ext cx="112665" cy="128760"/>
          </a:xfrm>
          <a:custGeom>
            <a:avLst/>
            <a:gdLst/>
            <a:ahLst/>
            <a:cxnLst/>
            <a:rect l="l" t="t" r="r" b="b"/>
            <a:pathLst>
              <a:path w="112665" h="128760">
                <a:moveTo>
                  <a:pt x="109346" y="17629"/>
                </a:moveTo>
                <a:cubicBezTo>
                  <a:pt x="112942" y="20245"/>
                  <a:pt x="113747" y="25274"/>
                  <a:pt x="111131" y="28870"/>
                </a:cubicBezTo>
                <a:lnTo>
                  <a:pt x="46751" y="117393"/>
                </a:lnTo>
                <a:cubicBezTo>
                  <a:pt x="45368" y="119305"/>
                  <a:pt x="43230" y="120487"/>
                  <a:pt x="40866" y="120688"/>
                </a:cubicBezTo>
                <a:cubicBezTo>
                  <a:pt x="38502" y="120889"/>
                  <a:pt x="36214" y="120009"/>
                  <a:pt x="34554" y="118349"/>
                </a:cubicBezTo>
                <a:lnTo>
                  <a:pt x="2364" y="86159"/>
                </a:lnTo>
                <a:cubicBezTo>
                  <a:pt x="-780" y="83015"/>
                  <a:pt x="-780" y="77910"/>
                  <a:pt x="2364" y="74767"/>
                </a:cubicBezTo>
                <a:cubicBezTo>
                  <a:pt x="5508" y="71623"/>
                  <a:pt x="10613" y="71623"/>
                  <a:pt x="13756" y="74767"/>
                </a:cubicBezTo>
                <a:lnTo>
                  <a:pt x="39282" y="100292"/>
                </a:lnTo>
                <a:lnTo>
                  <a:pt x="98130" y="19390"/>
                </a:lnTo>
                <a:cubicBezTo>
                  <a:pt x="100745" y="15793"/>
                  <a:pt x="105775" y="14989"/>
                  <a:pt x="109371" y="17604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84" name="Text 82"/>
          <p:cNvSpPr/>
          <p:nvPr/>
        </p:nvSpPr>
        <p:spPr>
          <a:xfrm>
            <a:off x="6545320" y="6303896"/>
            <a:ext cx="2848824" cy="1931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角色分离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545320" y="6529226"/>
            <a:ext cx="2840776" cy="160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通过role字段区分普通用户和管理员，实现权限控制基础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099" y="336099"/>
            <a:ext cx="11587021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kern="0" spc="106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 &amp; SOLUTIONS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6099" y="604979"/>
            <a:ext cx="11671046" cy="3360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面临挑战与解决方案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6099" y="1041908"/>
            <a:ext cx="806638" cy="33610"/>
          </a:xfrm>
          <a:custGeom>
            <a:avLst/>
            <a:gdLst/>
            <a:ahLst/>
            <a:cxnLst/>
            <a:rect l="l" t="t" r="r" b="b"/>
            <a:pathLst>
              <a:path w="806638" h="33610">
                <a:moveTo>
                  <a:pt x="0" y="0"/>
                </a:moveTo>
                <a:lnTo>
                  <a:pt x="806638" y="0"/>
                </a:lnTo>
                <a:lnTo>
                  <a:pt x="806638" y="33610"/>
                </a:lnTo>
                <a:lnTo>
                  <a:pt x="0" y="3361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5" name="Shape 3"/>
          <p:cNvSpPr/>
          <p:nvPr/>
        </p:nvSpPr>
        <p:spPr>
          <a:xfrm>
            <a:off x="338900" y="1246368"/>
            <a:ext cx="3744706" cy="4500929"/>
          </a:xfrm>
          <a:custGeom>
            <a:avLst/>
            <a:gdLst/>
            <a:ahLst/>
            <a:cxnLst/>
            <a:rect l="l" t="t" r="r" b="b"/>
            <a:pathLst>
              <a:path w="3744706" h="4500929">
                <a:moveTo>
                  <a:pt x="100845" y="0"/>
                </a:moveTo>
                <a:lnTo>
                  <a:pt x="3643861" y="0"/>
                </a:lnTo>
                <a:cubicBezTo>
                  <a:pt x="3699556" y="0"/>
                  <a:pt x="3744706" y="45150"/>
                  <a:pt x="3744706" y="100845"/>
                </a:cubicBezTo>
                <a:lnTo>
                  <a:pt x="3744706" y="4400084"/>
                </a:lnTo>
                <a:cubicBezTo>
                  <a:pt x="3744706" y="4455779"/>
                  <a:pt x="3699556" y="4500929"/>
                  <a:pt x="3643861" y="4500929"/>
                </a:cubicBezTo>
                <a:lnTo>
                  <a:pt x="100845" y="4500929"/>
                </a:lnTo>
                <a:cubicBezTo>
                  <a:pt x="45150" y="4500929"/>
                  <a:pt x="0" y="4455779"/>
                  <a:pt x="0" y="4400084"/>
                </a:cubicBezTo>
                <a:lnTo>
                  <a:pt x="0" y="100845"/>
                </a:lnTo>
                <a:cubicBezTo>
                  <a:pt x="0" y="45187"/>
                  <a:pt x="45187" y="0"/>
                  <a:pt x="100845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9751" y="1417221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67221" y="0"/>
                </a:moveTo>
                <a:lnTo>
                  <a:pt x="336098" y="0"/>
                </a:lnTo>
                <a:cubicBezTo>
                  <a:pt x="373198" y="0"/>
                  <a:pt x="403319" y="30121"/>
                  <a:pt x="403319" y="67221"/>
                </a:cubicBezTo>
                <a:lnTo>
                  <a:pt x="403319" y="336098"/>
                </a:lnTo>
                <a:cubicBezTo>
                  <a:pt x="403319" y="373198"/>
                  <a:pt x="373198" y="403319"/>
                  <a:pt x="336098" y="403319"/>
                </a:cubicBezTo>
                <a:lnTo>
                  <a:pt x="67221" y="403319"/>
                </a:lnTo>
                <a:cubicBezTo>
                  <a:pt x="30121" y="403319"/>
                  <a:pt x="0" y="373198"/>
                  <a:pt x="0" y="336098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gradFill flip="none" rotWithShape="1">
            <a:gsLst>
              <a:gs pos="0">
                <a:srgbClr val="EF4444"/>
              </a:gs>
              <a:gs pos="100000">
                <a:srgbClr val="DC2626"/>
              </a:gs>
            </a:gsLst>
            <a:lin ang="2700000" scaled="1"/>
          </a:gradFill>
        </p:spPr>
      </p:sp>
      <p:sp>
        <p:nvSpPr>
          <p:cNvPr id="7" name="Shape 5"/>
          <p:cNvSpPr/>
          <p:nvPr/>
        </p:nvSpPr>
        <p:spPr>
          <a:xfrm>
            <a:off x="616882" y="1534856"/>
            <a:ext cx="189056" cy="168050"/>
          </a:xfrm>
          <a:custGeom>
            <a:avLst/>
            <a:gdLst/>
            <a:ahLst/>
            <a:cxnLst/>
            <a:rect l="l" t="t" r="r" b="b"/>
            <a:pathLst>
              <a:path w="189056" h="168050">
                <a:moveTo>
                  <a:pt x="157711" y="3381"/>
                </a:moveTo>
                <a:lnTo>
                  <a:pt x="85042" y="51859"/>
                </a:lnTo>
                <a:cubicBezTo>
                  <a:pt x="75491" y="58227"/>
                  <a:pt x="69419" y="68566"/>
                  <a:pt x="68434" y="79856"/>
                </a:cubicBezTo>
                <a:cubicBezTo>
                  <a:pt x="88882" y="84058"/>
                  <a:pt x="104998" y="100173"/>
                  <a:pt x="109232" y="120654"/>
                </a:cubicBezTo>
                <a:cubicBezTo>
                  <a:pt x="120556" y="119670"/>
                  <a:pt x="130862" y="113598"/>
                  <a:pt x="137230" y="104046"/>
                </a:cubicBezTo>
                <a:lnTo>
                  <a:pt x="185675" y="31345"/>
                </a:lnTo>
                <a:cubicBezTo>
                  <a:pt x="187874" y="28030"/>
                  <a:pt x="189056" y="24157"/>
                  <a:pt x="189056" y="20153"/>
                </a:cubicBezTo>
                <a:cubicBezTo>
                  <a:pt x="189056" y="9026"/>
                  <a:pt x="180030" y="0"/>
                  <a:pt x="168903" y="0"/>
                </a:cubicBezTo>
                <a:cubicBezTo>
                  <a:pt x="164932" y="0"/>
                  <a:pt x="161026" y="1182"/>
                  <a:pt x="157711" y="3381"/>
                </a:cubicBezTo>
                <a:close/>
                <a:moveTo>
                  <a:pt x="94528" y="131289"/>
                </a:moveTo>
                <a:cubicBezTo>
                  <a:pt x="94528" y="110972"/>
                  <a:pt x="78084" y="94528"/>
                  <a:pt x="57767" y="94528"/>
                </a:cubicBezTo>
                <a:cubicBezTo>
                  <a:pt x="37450" y="94528"/>
                  <a:pt x="21006" y="110972"/>
                  <a:pt x="21006" y="131289"/>
                </a:cubicBezTo>
                <a:cubicBezTo>
                  <a:pt x="21006" y="132569"/>
                  <a:pt x="21072" y="133849"/>
                  <a:pt x="21203" y="135096"/>
                </a:cubicBezTo>
                <a:cubicBezTo>
                  <a:pt x="21794" y="140840"/>
                  <a:pt x="17855" y="147043"/>
                  <a:pt x="12079" y="147043"/>
                </a:cubicBezTo>
                <a:lnTo>
                  <a:pt x="10503" y="147043"/>
                </a:lnTo>
                <a:cubicBezTo>
                  <a:pt x="4694" y="147043"/>
                  <a:pt x="0" y="151737"/>
                  <a:pt x="0" y="157547"/>
                </a:cubicBezTo>
                <a:cubicBezTo>
                  <a:pt x="0" y="163356"/>
                  <a:pt x="4694" y="168050"/>
                  <a:pt x="10503" y="168050"/>
                </a:cubicBezTo>
                <a:lnTo>
                  <a:pt x="57767" y="168050"/>
                </a:lnTo>
                <a:cubicBezTo>
                  <a:pt x="78084" y="168050"/>
                  <a:pt x="94528" y="151606"/>
                  <a:pt x="94528" y="13128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13899" y="1501246"/>
            <a:ext cx="588174" cy="23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挑战一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6555" y="1954980"/>
            <a:ext cx="3386200" cy="2151035"/>
          </a:xfrm>
          <a:custGeom>
            <a:avLst/>
            <a:gdLst/>
            <a:ahLst/>
            <a:cxnLst/>
            <a:rect l="l" t="t" r="r" b="b"/>
            <a:pathLst>
              <a:path w="3386200" h="2151035">
                <a:moveTo>
                  <a:pt x="33610" y="0"/>
                </a:moveTo>
                <a:lnTo>
                  <a:pt x="3318980" y="0"/>
                </a:lnTo>
                <a:cubicBezTo>
                  <a:pt x="3356105" y="0"/>
                  <a:pt x="3386200" y="30095"/>
                  <a:pt x="3386200" y="67220"/>
                </a:cubicBezTo>
                <a:lnTo>
                  <a:pt x="3386200" y="2083815"/>
                </a:lnTo>
                <a:cubicBezTo>
                  <a:pt x="3386200" y="2120940"/>
                  <a:pt x="3356105" y="2151035"/>
                  <a:pt x="3318980" y="2151035"/>
                </a:cubicBezTo>
                <a:lnTo>
                  <a:pt x="33610" y="2151035"/>
                </a:lnTo>
                <a:cubicBezTo>
                  <a:pt x="15048" y="2151035"/>
                  <a:pt x="0" y="2135987"/>
                  <a:pt x="0" y="2117425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26555" y="1954980"/>
            <a:ext cx="33610" cy="2151035"/>
          </a:xfrm>
          <a:custGeom>
            <a:avLst/>
            <a:gdLst/>
            <a:ahLst/>
            <a:cxnLst/>
            <a:rect l="l" t="t" r="r" b="b"/>
            <a:pathLst>
              <a:path w="33610" h="2151035">
                <a:moveTo>
                  <a:pt x="33610" y="0"/>
                </a:moveTo>
                <a:lnTo>
                  <a:pt x="33610" y="0"/>
                </a:lnTo>
                <a:lnTo>
                  <a:pt x="33610" y="2151035"/>
                </a:lnTo>
                <a:lnTo>
                  <a:pt x="33610" y="2151035"/>
                </a:lnTo>
                <a:cubicBezTo>
                  <a:pt x="15048" y="2151035"/>
                  <a:pt x="0" y="2135987"/>
                  <a:pt x="0" y="2117425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EF4444"/>
          </a:solidFill>
        </p:spPr>
      </p:sp>
      <p:sp>
        <p:nvSpPr>
          <p:cNvPr id="11" name="Text 9"/>
          <p:cNvSpPr/>
          <p:nvPr/>
        </p:nvSpPr>
        <p:spPr>
          <a:xfrm>
            <a:off x="677800" y="2089420"/>
            <a:ext cx="3176138" cy="23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F444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前端页面UI设计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7800" y="2391909"/>
            <a:ext cx="3167735" cy="655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缺乏前端开发经验，对响应式布局、CSS样式、JavaScript交互等技术掌握不够深入，难以设计出美观、易用且适配多设备的用户界面。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7800" y="3148132"/>
            <a:ext cx="315933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HTML/CSS基础薄弱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7800" y="3366597"/>
            <a:ext cx="315933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缺乏UI/UX设计思维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7800" y="3585061"/>
            <a:ext cx="315933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响应式布局实现困难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7800" y="3803526"/>
            <a:ext cx="315933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浏览器兼容性处理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551" y="4209646"/>
            <a:ext cx="3400204" cy="1366804"/>
          </a:xfrm>
          <a:custGeom>
            <a:avLst/>
            <a:gdLst/>
            <a:ahLst/>
            <a:cxnLst/>
            <a:rect l="l" t="t" r="r" b="b"/>
            <a:pathLst>
              <a:path w="3400204" h="1366804">
                <a:moveTo>
                  <a:pt x="67219" y="0"/>
                </a:moveTo>
                <a:lnTo>
                  <a:pt x="3332985" y="0"/>
                </a:lnTo>
                <a:cubicBezTo>
                  <a:pt x="3370109" y="0"/>
                  <a:pt x="3400204" y="30095"/>
                  <a:pt x="3400204" y="67219"/>
                </a:cubicBezTo>
                <a:lnTo>
                  <a:pt x="3400204" y="1299584"/>
                </a:lnTo>
                <a:cubicBezTo>
                  <a:pt x="3400204" y="1336708"/>
                  <a:pt x="3370109" y="1366804"/>
                  <a:pt x="3332985" y="1366804"/>
                </a:cubicBezTo>
                <a:lnTo>
                  <a:pt x="67219" y="1366804"/>
                </a:lnTo>
                <a:cubicBezTo>
                  <a:pt x="30095" y="1366804"/>
                  <a:pt x="0" y="1336708"/>
                  <a:pt x="0" y="1299584"/>
                </a:cubicBezTo>
                <a:lnTo>
                  <a:pt x="0" y="67219"/>
                </a:lnTo>
                <a:cubicBezTo>
                  <a:pt x="0" y="30095"/>
                  <a:pt x="30095" y="0"/>
                  <a:pt x="67219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>
                  <a:alpha val="20000"/>
                </a:srgbClr>
              </a:gs>
              <a:gs pos="100000">
                <a:srgbClr val="3A5F7A">
                  <a:alpha val="20000"/>
                </a:srgbClr>
              </a:gs>
            </a:gsLst>
            <a:lin ang="0" scaled="1"/>
          </a:gradFill>
          <a:ln w="8467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6597" y="4380499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9" name="Text 17"/>
          <p:cNvSpPr/>
          <p:nvPr/>
        </p:nvSpPr>
        <p:spPr>
          <a:xfrm>
            <a:off x="817842" y="4346885"/>
            <a:ext cx="3024893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792" y="4615768"/>
            <a:ext cx="3184540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引入Bootstrap组件库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792" y="4834233"/>
            <a:ext cx="3184540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参考优秀开源项目模板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792" y="5052697"/>
            <a:ext cx="3184540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学习Flex/Grid布局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792" y="5271162"/>
            <a:ext cx="3184540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使用Thymeleaf简化模板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22684" y="1246368"/>
            <a:ext cx="3744706" cy="4500929"/>
          </a:xfrm>
          <a:custGeom>
            <a:avLst/>
            <a:gdLst/>
            <a:ahLst/>
            <a:cxnLst/>
            <a:rect l="l" t="t" r="r" b="b"/>
            <a:pathLst>
              <a:path w="3744706" h="4500929">
                <a:moveTo>
                  <a:pt x="100845" y="0"/>
                </a:moveTo>
                <a:lnTo>
                  <a:pt x="3643861" y="0"/>
                </a:lnTo>
                <a:cubicBezTo>
                  <a:pt x="3699556" y="0"/>
                  <a:pt x="3744706" y="45150"/>
                  <a:pt x="3744706" y="100845"/>
                </a:cubicBezTo>
                <a:lnTo>
                  <a:pt x="3744706" y="4400084"/>
                </a:lnTo>
                <a:cubicBezTo>
                  <a:pt x="3744706" y="4455779"/>
                  <a:pt x="3699556" y="4500929"/>
                  <a:pt x="3643861" y="4500929"/>
                </a:cubicBezTo>
                <a:lnTo>
                  <a:pt x="100845" y="4500929"/>
                </a:lnTo>
                <a:cubicBezTo>
                  <a:pt x="45150" y="4500929"/>
                  <a:pt x="0" y="4455779"/>
                  <a:pt x="0" y="4400084"/>
                </a:cubicBezTo>
                <a:lnTo>
                  <a:pt x="0" y="100845"/>
                </a:lnTo>
                <a:cubicBezTo>
                  <a:pt x="0" y="45187"/>
                  <a:pt x="45187" y="0"/>
                  <a:pt x="100845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93535" y="1417221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67221" y="0"/>
                </a:moveTo>
                <a:lnTo>
                  <a:pt x="336098" y="0"/>
                </a:lnTo>
                <a:cubicBezTo>
                  <a:pt x="373198" y="0"/>
                  <a:pt x="403319" y="30121"/>
                  <a:pt x="403319" y="67221"/>
                </a:cubicBezTo>
                <a:lnTo>
                  <a:pt x="403319" y="336098"/>
                </a:lnTo>
                <a:cubicBezTo>
                  <a:pt x="403319" y="373198"/>
                  <a:pt x="373198" y="403319"/>
                  <a:pt x="336098" y="403319"/>
                </a:cubicBezTo>
                <a:lnTo>
                  <a:pt x="67221" y="403319"/>
                </a:lnTo>
                <a:cubicBezTo>
                  <a:pt x="30121" y="403319"/>
                  <a:pt x="0" y="373198"/>
                  <a:pt x="0" y="336098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/>
              </a:gs>
              <a:gs pos="100000">
                <a:srgbClr val="D97706"/>
              </a:gs>
            </a:gsLst>
            <a:lin ang="2700000" scaled="1"/>
          </a:gradFill>
        </p:spPr>
      </p:sp>
      <p:sp>
        <p:nvSpPr>
          <p:cNvPr id="26" name="Shape 24"/>
          <p:cNvSpPr/>
          <p:nvPr/>
        </p:nvSpPr>
        <p:spPr>
          <a:xfrm>
            <a:off x="4511170" y="1534856"/>
            <a:ext cx="168050" cy="168050"/>
          </a:xfrm>
          <a:custGeom>
            <a:avLst/>
            <a:gdLst/>
            <a:ahLst/>
            <a:cxnLst/>
            <a:rect l="l" t="t" r="r" b="b"/>
            <a:pathLst>
              <a:path w="168050" h="168050">
                <a:moveTo>
                  <a:pt x="15755" y="21006"/>
                </a:moveTo>
                <a:cubicBezTo>
                  <a:pt x="7057" y="21006"/>
                  <a:pt x="0" y="28063"/>
                  <a:pt x="0" y="36761"/>
                </a:cubicBezTo>
                <a:cubicBezTo>
                  <a:pt x="0" y="41717"/>
                  <a:pt x="2330" y="46378"/>
                  <a:pt x="6302" y="49365"/>
                </a:cubicBezTo>
                <a:lnTo>
                  <a:pt x="74572" y="100567"/>
                </a:lnTo>
                <a:cubicBezTo>
                  <a:pt x="80185" y="104768"/>
                  <a:pt x="87865" y="104768"/>
                  <a:pt x="93478" y="100567"/>
                </a:cubicBezTo>
                <a:lnTo>
                  <a:pt x="161748" y="49365"/>
                </a:lnTo>
                <a:cubicBezTo>
                  <a:pt x="165719" y="46378"/>
                  <a:pt x="168050" y="41717"/>
                  <a:pt x="168050" y="36761"/>
                </a:cubicBezTo>
                <a:cubicBezTo>
                  <a:pt x="168050" y="28063"/>
                  <a:pt x="160993" y="21006"/>
                  <a:pt x="152295" y="21006"/>
                </a:cubicBezTo>
                <a:lnTo>
                  <a:pt x="15755" y="21006"/>
                </a:lnTo>
                <a:close/>
                <a:moveTo>
                  <a:pt x="0" y="64331"/>
                </a:moveTo>
                <a:lnTo>
                  <a:pt x="0" y="126037"/>
                </a:lnTo>
                <a:cubicBezTo>
                  <a:pt x="0" y="137623"/>
                  <a:pt x="9420" y="147043"/>
                  <a:pt x="21006" y="147043"/>
                </a:cubicBezTo>
                <a:lnTo>
                  <a:pt x="147043" y="147043"/>
                </a:lnTo>
                <a:cubicBezTo>
                  <a:pt x="158630" y="147043"/>
                  <a:pt x="168050" y="137623"/>
                  <a:pt x="168050" y="126037"/>
                </a:cubicBezTo>
                <a:lnTo>
                  <a:pt x="168050" y="64331"/>
                </a:lnTo>
                <a:lnTo>
                  <a:pt x="102930" y="113171"/>
                </a:lnTo>
                <a:cubicBezTo>
                  <a:pt x="91738" y="121573"/>
                  <a:pt x="76312" y="121573"/>
                  <a:pt x="65119" y="113171"/>
                </a:cubicBezTo>
                <a:lnTo>
                  <a:pt x="0" y="64331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4897684" y="1501246"/>
            <a:ext cx="588174" cy="23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挑战二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10340" y="1954980"/>
            <a:ext cx="3386200" cy="2151035"/>
          </a:xfrm>
          <a:custGeom>
            <a:avLst/>
            <a:gdLst/>
            <a:ahLst/>
            <a:cxnLst/>
            <a:rect l="l" t="t" r="r" b="b"/>
            <a:pathLst>
              <a:path w="3386200" h="2151035">
                <a:moveTo>
                  <a:pt x="33610" y="0"/>
                </a:moveTo>
                <a:lnTo>
                  <a:pt x="3318980" y="0"/>
                </a:lnTo>
                <a:cubicBezTo>
                  <a:pt x="3356105" y="0"/>
                  <a:pt x="3386200" y="30095"/>
                  <a:pt x="3386200" y="67220"/>
                </a:cubicBezTo>
                <a:lnTo>
                  <a:pt x="3386200" y="2083815"/>
                </a:lnTo>
                <a:cubicBezTo>
                  <a:pt x="3386200" y="2120940"/>
                  <a:pt x="3356105" y="2151035"/>
                  <a:pt x="3318980" y="2151035"/>
                </a:cubicBezTo>
                <a:lnTo>
                  <a:pt x="33610" y="2151035"/>
                </a:lnTo>
                <a:cubicBezTo>
                  <a:pt x="15048" y="2151035"/>
                  <a:pt x="0" y="2135987"/>
                  <a:pt x="0" y="2117425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4410340" y="1954980"/>
            <a:ext cx="33610" cy="2151035"/>
          </a:xfrm>
          <a:custGeom>
            <a:avLst/>
            <a:gdLst/>
            <a:ahLst/>
            <a:cxnLst/>
            <a:rect l="l" t="t" r="r" b="b"/>
            <a:pathLst>
              <a:path w="33610" h="2151035">
                <a:moveTo>
                  <a:pt x="33610" y="0"/>
                </a:moveTo>
                <a:lnTo>
                  <a:pt x="33610" y="0"/>
                </a:lnTo>
                <a:lnTo>
                  <a:pt x="33610" y="2151035"/>
                </a:lnTo>
                <a:lnTo>
                  <a:pt x="33610" y="2151035"/>
                </a:lnTo>
                <a:cubicBezTo>
                  <a:pt x="15048" y="2151035"/>
                  <a:pt x="0" y="2135987"/>
                  <a:pt x="0" y="2117425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F59E0B"/>
          </a:solidFill>
        </p:spPr>
      </p:sp>
      <p:sp>
        <p:nvSpPr>
          <p:cNvPr id="30" name="Text 28"/>
          <p:cNvSpPr/>
          <p:nvPr/>
        </p:nvSpPr>
        <p:spPr>
          <a:xfrm>
            <a:off x="4561585" y="2089420"/>
            <a:ext cx="3176138" cy="23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邮箱注册激活功能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61585" y="2391909"/>
            <a:ext cx="3167735" cy="655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邮箱激活涉及SMTP协议配置、邮件模板设计、激活码生成与验证、异步任务处理等多个技术点，实现复杂度较高。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61585" y="3148132"/>
            <a:ext cx="315933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邮件服务器配置复杂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61585" y="3366597"/>
            <a:ext cx="315933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激活码安全生成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61585" y="3585061"/>
            <a:ext cx="315933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异步邮件发送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61585" y="3803526"/>
            <a:ext cx="315933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激活链接有效期控制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96336" y="4209646"/>
            <a:ext cx="3400204" cy="1366804"/>
          </a:xfrm>
          <a:custGeom>
            <a:avLst/>
            <a:gdLst/>
            <a:ahLst/>
            <a:cxnLst/>
            <a:rect l="l" t="t" r="r" b="b"/>
            <a:pathLst>
              <a:path w="3400204" h="1366804">
                <a:moveTo>
                  <a:pt x="67219" y="0"/>
                </a:moveTo>
                <a:lnTo>
                  <a:pt x="3332985" y="0"/>
                </a:lnTo>
                <a:cubicBezTo>
                  <a:pt x="3370109" y="0"/>
                  <a:pt x="3400204" y="30095"/>
                  <a:pt x="3400204" y="67219"/>
                </a:cubicBezTo>
                <a:lnTo>
                  <a:pt x="3400204" y="1299584"/>
                </a:lnTo>
                <a:cubicBezTo>
                  <a:pt x="3400204" y="1336708"/>
                  <a:pt x="3370109" y="1366804"/>
                  <a:pt x="3332985" y="1366804"/>
                </a:cubicBezTo>
                <a:lnTo>
                  <a:pt x="67219" y="1366804"/>
                </a:lnTo>
                <a:cubicBezTo>
                  <a:pt x="30095" y="1366804"/>
                  <a:pt x="0" y="1336708"/>
                  <a:pt x="0" y="1299584"/>
                </a:cubicBezTo>
                <a:lnTo>
                  <a:pt x="0" y="67219"/>
                </a:lnTo>
                <a:cubicBezTo>
                  <a:pt x="0" y="30095"/>
                  <a:pt x="30095" y="0"/>
                  <a:pt x="67219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>
                  <a:alpha val="20000"/>
                </a:srgbClr>
              </a:gs>
              <a:gs pos="100000">
                <a:srgbClr val="3A5F7A">
                  <a:alpha val="20000"/>
                </a:srgbClr>
              </a:gs>
            </a:gsLst>
            <a:lin ang="0" scaled="1"/>
          </a:gradFill>
          <a:ln w="8467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50381" y="4380499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38" name="Text 36"/>
          <p:cNvSpPr/>
          <p:nvPr/>
        </p:nvSpPr>
        <p:spPr>
          <a:xfrm>
            <a:off x="4701626" y="4346885"/>
            <a:ext cx="3024893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18336" y="4615768"/>
            <a:ext cx="3184540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zh-CN" altLang="en-US" sz="92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暂时舍弃这个功能，等待后续</a:t>
            </a:r>
            <a:r>
              <a:rPr lang="zh-CN" altLang="en-US" sz="92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加入</a:t>
            </a:r>
            <a:endParaRPr lang="zh-CN" altLang="en-US" sz="925" dirty="0">
              <a:solidFill>
                <a:srgbClr val="E0E2E5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106469" y="1246368"/>
            <a:ext cx="3744706" cy="4500929"/>
          </a:xfrm>
          <a:custGeom>
            <a:avLst/>
            <a:gdLst/>
            <a:ahLst/>
            <a:cxnLst/>
            <a:rect l="l" t="t" r="r" b="b"/>
            <a:pathLst>
              <a:path w="3744706" h="4500929">
                <a:moveTo>
                  <a:pt x="100845" y="0"/>
                </a:moveTo>
                <a:lnTo>
                  <a:pt x="3643861" y="0"/>
                </a:lnTo>
                <a:cubicBezTo>
                  <a:pt x="3699556" y="0"/>
                  <a:pt x="3744706" y="45150"/>
                  <a:pt x="3744706" y="100845"/>
                </a:cubicBezTo>
                <a:lnTo>
                  <a:pt x="3744706" y="4400084"/>
                </a:lnTo>
                <a:cubicBezTo>
                  <a:pt x="3744706" y="4455779"/>
                  <a:pt x="3699556" y="4500929"/>
                  <a:pt x="3643861" y="4500929"/>
                </a:cubicBezTo>
                <a:lnTo>
                  <a:pt x="100845" y="4500929"/>
                </a:lnTo>
                <a:cubicBezTo>
                  <a:pt x="45150" y="4500929"/>
                  <a:pt x="0" y="4455779"/>
                  <a:pt x="0" y="4400084"/>
                </a:cubicBezTo>
                <a:lnTo>
                  <a:pt x="0" y="100845"/>
                </a:lnTo>
                <a:cubicBezTo>
                  <a:pt x="0" y="45187"/>
                  <a:pt x="45187" y="0"/>
                  <a:pt x="100845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77319" y="1417221"/>
            <a:ext cx="403319" cy="403319"/>
          </a:xfrm>
          <a:custGeom>
            <a:avLst/>
            <a:gdLst/>
            <a:ahLst/>
            <a:cxnLst/>
            <a:rect l="l" t="t" r="r" b="b"/>
            <a:pathLst>
              <a:path w="403319" h="403319">
                <a:moveTo>
                  <a:pt x="67221" y="0"/>
                </a:moveTo>
                <a:lnTo>
                  <a:pt x="336098" y="0"/>
                </a:lnTo>
                <a:cubicBezTo>
                  <a:pt x="373198" y="0"/>
                  <a:pt x="403319" y="30121"/>
                  <a:pt x="403319" y="67221"/>
                </a:cubicBezTo>
                <a:lnTo>
                  <a:pt x="403319" y="336098"/>
                </a:lnTo>
                <a:cubicBezTo>
                  <a:pt x="403319" y="373198"/>
                  <a:pt x="373198" y="403319"/>
                  <a:pt x="336098" y="403319"/>
                </a:cubicBezTo>
                <a:lnTo>
                  <a:pt x="67221" y="403319"/>
                </a:lnTo>
                <a:cubicBezTo>
                  <a:pt x="30121" y="403319"/>
                  <a:pt x="0" y="373198"/>
                  <a:pt x="0" y="336098"/>
                </a:cubicBezTo>
                <a:lnTo>
                  <a:pt x="0" y="67221"/>
                </a:lnTo>
                <a:cubicBezTo>
                  <a:pt x="0" y="30121"/>
                  <a:pt x="30121" y="0"/>
                  <a:pt x="67221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7C3AED"/>
              </a:gs>
            </a:gsLst>
            <a:lin ang="2700000" scaled="1"/>
          </a:gradFill>
        </p:spPr>
      </p:sp>
      <p:sp>
        <p:nvSpPr>
          <p:cNvPr id="45" name="Shape 43"/>
          <p:cNvSpPr/>
          <p:nvPr/>
        </p:nvSpPr>
        <p:spPr>
          <a:xfrm>
            <a:off x="8384451" y="1534856"/>
            <a:ext cx="189056" cy="168050"/>
          </a:xfrm>
          <a:custGeom>
            <a:avLst/>
            <a:gdLst/>
            <a:ahLst/>
            <a:cxnLst/>
            <a:rect l="l" t="t" r="r" b="b"/>
            <a:pathLst>
              <a:path w="189056" h="168050">
                <a:moveTo>
                  <a:pt x="118422" y="394"/>
                </a:moveTo>
                <a:cubicBezTo>
                  <a:pt x="112843" y="-1214"/>
                  <a:pt x="107033" y="2035"/>
                  <a:pt x="105425" y="7615"/>
                </a:cubicBezTo>
                <a:lnTo>
                  <a:pt x="63412" y="154658"/>
                </a:lnTo>
                <a:cubicBezTo>
                  <a:pt x="61804" y="160238"/>
                  <a:pt x="65054" y="166047"/>
                  <a:pt x="70633" y="167656"/>
                </a:cubicBezTo>
                <a:cubicBezTo>
                  <a:pt x="76213" y="169264"/>
                  <a:pt x="82023" y="166015"/>
                  <a:pt x="83631" y="160435"/>
                </a:cubicBezTo>
                <a:lnTo>
                  <a:pt x="125643" y="13391"/>
                </a:lnTo>
                <a:cubicBezTo>
                  <a:pt x="127252" y="7812"/>
                  <a:pt x="124002" y="2002"/>
                  <a:pt x="118422" y="394"/>
                </a:cubicBezTo>
                <a:close/>
                <a:moveTo>
                  <a:pt x="139626" y="45065"/>
                </a:moveTo>
                <a:cubicBezTo>
                  <a:pt x="135523" y="49168"/>
                  <a:pt x="135523" y="55831"/>
                  <a:pt x="139626" y="59933"/>
                </a:cubicBezTo>
                <a:lnTo>
                  <a:pt x="163717" y="84025"/>
                </a:lnTo>
                <a:lnTo>
                  <a:pt x="139626" y="108116"/>
                </a:lnTo>
                <a:cubicBezTo>
                  <a:pt x="135523" y="112219"/>
                  <a:pt x="135523" y="118882"/>
                  <a:pt x="139626" y="122985"/>
                </a:cubicBezTo>
                <a:cubicBezTo>
                  <a:pt x="143728" y="127088"/>
                  <a:pt x="150391" y="127088"/>
                  <a:pt x="154494" y="122985"/>
                </a:cubicBezTo>
                <a:lnTo>
                  <a:pt x="186003" y="91475"/>
                </a:lnTo>
                <a:cubicBezTo>
                  <a:pt x="190106" y="87373"/>
                  <a:pt x="190106" y="80710"/>
                  <a:pt x="186003" y="76607"/>
                </a:cubicBezTo>
                <a:lnTo>
                  <a:pt x="154494" y="45098"/>
                </a:lnTo>
                <a:cubicBezTo>
                  <a:pt x="150391" y="40995"/>
                  <a:pt x="143728" y="40995"/>
                  <a:pt x="139626" y="45098"/>
                </a:cubicBezTo>
                <a:close/>
                <a:moveTo>
                  <a:pt x="49463" y="45065"/>
                </a:moveTo>
                <a:cubicBezTo>
                  <a:pt x="45360" y="40962"/>
                  <a:pt x="38697" y="40962"/>
                  <a:pt x="34595" y="45065"/>
                </a:cubicBezTo>
                <a:lnTo>
                  <a:pt x="3085" y="76574"/>
                </a:lnTo>
                <a:cubicBezTo>
                  <a:pt x="-1017" y="80677"/>
                  <a:pt x="-1017" y="87340"/>
                  <a:pt x="3085" y="91443"/>
                </a:cubicBezTo>
                <a:lnTo>
                  <a:pt x="34595" y="122952"/>
                </a:lnTo>
                <a:cubicBezTo>
                  <a:pt x="38697" y="127055"/>
                  <a:pt x="45360" y="127055"/>
                  <a:pt x="49463" y="122952"/>
                </a:cubicBezTo>
                <a:cubicBezTo>
                  <a:pt x="53566" y="118849"/>
                  <a:pt x="53566" y="112186"/>
                  <a:pt x="49463" y="108083"/>
                </a:cubicBezTo>
                <a:lnTo>
                  <a:pt x="25372" y="84025"/>
                </a:lnTo>
                <a:lnTo>
                  <a:pt x="49430" y="59933"/>
                </a:lnTo>
                <a:cubicBezTo>
                  <a:pt x="53533" y="55831"/>
                  <a:pt x="53533" y="49168"/>
                  <a:pt x="49430" y="4506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8781469" y="1501246"/>
            <a:ext cx="588174" cy="23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挑战三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94124" y="1954980"/>
            <a:ext cx="3386200" cy="2151035"/>
          </a:xfrm>
          <a:custGeom>
            <a:avLst/>
            <a:gdLst/>
            <a:ahLst/>
            <a:cxnLst/>
            <a:rect l="l" t="t" r="r" b="b"/>
            <a:pathLst>
              <a:path w="3386200" h="2151035">
                <a:moveTo>
                  <a:pt x="33610" y="0"/>
                </a:moveTo>
                <a:lnTo>
                  <a:pt x="3318980" y="0"/>
                </a:lnTo>
                <a:cubicBezTo>
                  <a:pt x="3356105" y="0"/>
                  <a:pt x="3386200" y="30095"/>
                  <a:pt x="3386200" y="67220"/>
                </a:cubicBezTo>
                <a:lnTo>
                  <a:pt x="3386200" y="2083815"/>
                </a:lnTo>
                <a:cubicBezTo>
                  <a:pt x="3386200" y="2120940"/>
                  <a:pt x="3356105" y="2151035"/>
                  <a:pt x="3318980" y="2151035"/>
                </a:cubicBezTo>
                <a:lnTo>
                  <a:pt x="33610" y="2151035"/>
                </a:lnTo>
                <a:cubicBezTo>
                  <a:pt x="15048" y="2151035"/>
                  <a:pt x="0" y="2135987"/>
                  <a:pt x="0" y="2117425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8294124" y="1954980"/>
            <a:ext cx="33610" cy="2151035"/>
          </a:xfrm>
          <a:custGeom>
            <a:avLst/>
            <a:gdLst/>
            <a:ahLst/>
            <a:cxnLst/>
            <a:rect l="l" t="t" r="r" b="b"/>
            <a:pathLst>
              <a:path w="33610" h="2151035">
                <a:moveTo>
                  <a:pt x="33610" y="0"/>
                </a:moveTo>
                <a:lnTo>
                  <a:pt x="33610" y="0"/>
                </a:lnTo>
                <a:lnTo>
                  <a:pt x="33610" y="2151035"/>
                </a:lnTo>
                <a:lnTo>
                  <a:pt x="33610" y="2151035"/>
                </a:lnTo>
                <a:cubicBezTo>
                  <a:pt x="15048" y="2151035"/>
                  <a:pt x="0" y="2135987"/>
                  <a:pt x="0" y="2117425"/>
                </a:cubicBezTo>
                <a:lnTo>
                  <a:pt x="0" y="33610"/>
                </a:lnTo>
                <a:cubicBezTo>
                  <a:pt x="0" y="15048"/>
                  <a:pt x="15048" y="0"/>
                  <a:pt x="33610" y="0"/>
                </a:cubicBezTo>
                <a:close/>
              </a:path>
            </a:pathLst>
          </a:custGeom>
          <a:solidFill>
            <a:srgbClr val="8B5CF6"/>
          </a:solidFill>
        </p:spPr>
      </p:sp>
      <p:sp>
        <p:nvSpPr>
          <p:cNvPr id="49" name="Text 47"/>
          <p:cNvSpPr/>
          <p:nvPr/>
        </p:nvSpPr>
        <p:spPr>
          <a:xfrm>
            <a:off x="8445369" y="2089420"/>
            <a:ext cx="3176138" cy="23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8B5CF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控制器层逻辑编写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45369" y="2391909"/>
            <a:ext cx="3167735" cy="655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Controller层需要处理HTTP请求、参数校验、业务调用、异常处理、视图渲染等多个职责，代码组织和服务调用逻辑需要精心设计。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45369" y="3148132"/>
            <a:ext cx="315933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RESTful API设计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45369" y="3366597"/>
            <a:ext cx="315933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请求参数校验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45369" y="3585061"/>
            <a:ext cx="315933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统一异常处理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45369" y="3803526"/>
            <a:ext cx="3159333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会话状态管理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80120" y="4209646"/>
            <a:ext cx="3400204" cy="1366804"/>
          </a:xfrm>
          <a:custGeom>
            <a:avLst/>
            <a:gdLst/>
            <a:ahLst/>
            <a:cxnLst/>
            <a:rect l="l" t="t" r="r" b="b"/>
            <a:pathLst>
              <a:path w="3400204" h="1366804">
                <a:moveTo>
                  <a:pt x="67219" y="0"/>
                </a:moveTo>
                <a:lnTo>
                  <a:pt x="3332985" y="0"/>
                </a:lnTo>
                <a:cubicBezTo>
                  <a:pt x="3370109" y="0"/>
                  <a:pt x="3400204" y="30095"/>
                  <a:pt x="3400204" y="67219"/>
                </a:cubicBezTo>
                <a:lnTo>
                  <a:pt x="3400204" y="1299584"/>
                </a:lnTo>
                <a:cubicBezTo>
                  <a:pt x="3400204" y="1336708"/>
                  <a:pt x="3370109" y="1366804"/>
                  <a:pt x="3332985" y="1366804"/>
                </a:cubicBezTo>
                <a:lnTo>
                  <a:pt x="67219" y="1366804"/>
                </a:lnTo>
                <a:cubicBezTo>
                  <a:pt x="30095" y="1366804"/>
                  <a:pt x="0" y="1336708"/>
                  <a:pt x="0" y="1299584"/>
                </a:cubicBezTo>
                <a:lnTo>
                  <a:pt x="0" y="67219"/>
                </a:lnTo>
                <a:cubicBezTo>
                  <a:pt x="0" y="30095"/>
                  <a:pt x="30095" y="0"/>
                  <a:pt x="67219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>
                  <a:alpha val="20000"/>
                </a:srgbClr>
              </a:gs>
              <a:gs pos="100000">
                <a:srgbClr val="3A5F7A">
                  <a:alpha val="20000"/>
                </a:srgbClr>
              </a:gs>
            </a:gsLst>
            <a:lin ang="0" scaled="1"/>
          </a:gradFill>
          <a:ln w="8467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34166" y="4380499"/>
            <a:ext cx="134440" cy="134440"/>
          </a:xfrm>
          <a:custGeom>
            <a:avLst/>
            <a:gdLst/>
            <a:ahLst/>
            <a:cxnLst/>
            <a:rect l="l" t="t" r="r" b="b"/>
            <a:pathLst>
              <a:path w="134440" h="134440">
                <a:moveTo>
                  <a:pt x="67220" y="134440"/>
                </a:moveTo>
                <a:cubicBezTo>
                  <a:pt x="104319" y="134440"/>
                  <a:pt x="134440" y="104319"/>
                  <a:pt x="134440" y="67220"/>
                </a:cubicBezTo>
                <a:cubicBezTo>
                  <a:pt x="134440" y="30120"/>
                  <a:pt x="104319" y="0"/>
                  <a:pt x="67220" y="0"/>
                </a:cubicBezTo>
                <a:cubicBezTo>
                  <a:pt x="30120" y="0"/>
                  <a:pt x="0" y="30120"/>
                  <a:pt x="0" y="67220"/>
                </a:cubicBezTo>
                <a:cubicBezTo>
                  <a:pt x="0" y="104319"/>
                  <a:pt x="30120" y="134440"/>
                  <a:pt x="67220" y="134440"/>
                </a:cubicBezTo>
                <a:close/>
                <a:moveTo>
                  <a:pt x="89381" y="55850"/>
                </a:moveTo>
                <a:lnTo>
                  <a:pt x="68375" y="89460"/>
                </a:lnTo>
                <a:cubicBezTo>
                  <a:pt x="67272" y="91219"/>
                  <a:pt x="65382" y="92322"/>
                  <a:pt x="63307" y="92427"/>
                </a:cubicBezTo>
                <a:cubicBezTo>
                  <a:pt x="61233" y="92532"/>
                  <a:pt x="59237" y="91587"/>
                  <a:pt x="58003" y="89907"/>
                </a:cubicBezTo>
                <a:lnTo>
                  <a:pt x="45400" y="73102"/>
                </a:lnTo>
                <a:cubicBezTo>
                  <a:pt x="43299" y="70318"/>
                  <a:pt x="43877" y="66380"/>
                  <a:pt x="46660" y="64279"/>
                </a:cubicBezTo>
                <a:cubicBezTo>
                  <a:pt x="49443" y="62178"/>
                  <a:pt x="53382" y="62756"/>
                  <a:pt x="55483" y="65539"/>
                </a:cubicBezTo>
                <a:lnTo>
                  <a:pt x="62572" y="74992"/>
                </a:lnTo>
                <a:lnTo>
                  <a:pt x="78694" y="49181"/>
                </a:lnTo>
                <a:cubicBezTo>
                  <a:pt x="80533" y="46240"/>
                  <a:pt x="84419" y="45321"/>
                  <a:pt x="87386" y="47185"/>
                </a:cubicBezTo>
                <a:cubicBezTo>
                  <a:pt x="90353" y="49049"/>
                  <a:pt x="91246" y="52909"/>
                  <a:pt x="89381" y="5587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57" name="Text 55"/>
          <p:cNvSpPr/>
          <p:nvPr/>
        </p:nvSpPr>
        <p:spPr>
          <a:xfrm>
            <a:off x="8585410" y="4346885"/>
            <a:ext cx="3024893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17361" y="4615768"/>
            <a:ext cx="3184540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遵循RESTful规范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17361" y="4834233"/>
            <a:ext cx="3184540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使用@Valid参数校验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17361" y="5052697"/>
            <a:ext cx="3184540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@ControllerAdvice统一处理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17361" y="5271162"/>
            <a:ext cx="3184540" cy="168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HttpSession管理会话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38900" y="5890142"/>
            <a:ext cx="11508598" cy="745020"/>
          </a:xfrm>
          <a:custGeom>
            <a:avLst/>
            <a:gdLst/>
            <a:ahLst/>
            <a:cxnLst/>
            <a:rect l="l" t="t" r="r" b="b"/>
            <a:pathLst>
              <a:path w="11508598" h="745020">
                <a:moveTo>
                  <a:pt x="100831" y="0"/>
                </a:moveTo>
                <a:lnTo>
                  <a:pt x="11407767" y="0"/>
                </a:lnTo>
                <a:cubicBezTo>
                  <a:pt x="11463455" y="0"/>
                  <a:pt x="11508598" y="45144"/>
                  <a:pt x="11508598" y="100831"/>
                </a:cubicBezTo>
                <a:lnTo>
                  <a:pt x="11508598" y="644189"/>
                </a:lnTo>
                <a:cubicBezTo>
                  <a:pt x="11508598" y="699876"/>
                  <a:pt x="11463455" y="745020"/>
                  <a:pt x="11407767" y="745020"/>
                </a:cubicBezTo>
                <a:lnTo>
                  <a:pt x="100831" y="745020"/>
                </a:lnTo>
                <a:cubicBezTo>
                  <a:pt x="45181" y="745020"/>
                  <a:pt x="0" y="699839"/>
                  <a:pt x="0" y="644189"/>
                </a:cubicBezTo>
                <a:lnTo>
                  <a:pt x="0" y="100831"/>
                </a:lnTo>
                <a:cubicBezTo>
                  <a:pt x="0" y="45181"/>
                  <a:pt x="45181" y="0"/>
                  <a:pt x="100831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>
                  <a:alpha val="20000"/>
                </a:srgbClr>
              </a:gs>
              <a:gs pos="100000">
                <a:srgbClr val="3A5F7A">
                  <a:alpha val="20000"/>
                </a:srgbClr>
              </a:gs>
            </a:gsLst>
            <a:lin ang="0" scaled="1"/>
          </a:gradFill>
          <a:ln w="8467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3996" y="6136617"/>
            <a:ext cx="283584" cy="252074"/>
          </a:xfrm>
          <a:custGeom>
            <a:avLst/>
            <a:gdLst/>
            <a:ahLst/>
            <a:cxnLst/>
            <a:rect l="l" t="t" r="r" b="b"/>
            <a:pathLst>
              <a:path w="283584" h="252074">
                <a:moveTo>
                  <a:pt x="23632" y="96399"/>
                </a:moveTo>
                <a:lnTo>
                  <a:pt x="126628" y="138789"/>
                </a:lnTo>
                <a:cubicBezTo>
                  <a:pt x="131453" y="140758"/>
                  <a:pt x="136573" y="141792"/>
                  <a:pt x="141792" y="141792"/>
                </a:cubicBezTo>
                <a:cubicBezTo>
                  <a:pt x="147011" y="141792"/>
                  <a:pt x="152131" y="140758"/>
                  <a:pt x="156956" y="138789"/>
                </a:cubicBezTo>
                <a:lnTo>
                  <a:pt x="276297" y="89654"/>
                </a:lnTo>
                <a:cubicBezTo>
                  <a:pt x="280728" y="87832"/>
                  <a:pt x="283584" y="83549"/>
                  <a:pt x="283584" y="78773"/>
                </a:cubicBezTo>
                <a:cubicBezTo>
                  <a:pt x="283584" y="73998"/>
                  <a:pt x="280728" y="69714"/>
                  <a:pt x="276297" y="67893"/>
                </a:cubicBezTo>
                <a:lnTo>
                  <a:pt x="156956" y="18758"/>
                </a:lnTo>
                <a:cubicBezTo>
                  <a:pt x="152131" y="16789"/>
                  <a:pt x="147011" y="15755"/>
                  <a:pt x="141792" y="15755"/>
                </a:cubicBezTo>
                <a:cubicBezTo>
                  <a:pt x="136573" y="15755"/>
                  <a:pt x="131453" y="16789"/>
                  <a:pt x="126628" y="18758"/>
                </a:cubicBezTo>
                <a:lnTo>
                  <a:pt x="7287" y="67893"/>
                </a:lnTo>
                <a:cubicBezTo>
                  <a:pt x="2856" y="69714"/>
                  <a:pt x="0" y="73998"/>
                  <a:pt x="0" y="78773"/>
                </a:cubicBezTo>
                <a:lnTo>
                  <a:pt x="0" y="224504"/>
                </a:lnTo>
                <a:cubicBezTo>
                  <a:pt x="0" y="231052"/>
                  <a:pt x="5268" y="236320"/>
                  <a:pt x="11816" y="236320"/>
                </a:cubicBezTo>
                <a:cubicBezTo>
                  <a:pt x="18364" y="236320"/>
                  <a:pt x="23632" y="231052"/>
                  <a:pt x="23632" y="224504"/>
                </a:cubicBezTo>
                <a:lnTo>
                  <a:pt x="23632" y="96399"/>
                </a:lnTo>
                <a:close/>
                <a:moveTo>
                  <a:pt x="47264" y="131699"/>
                </a:moveTo>
                <a:lnTo>
                  <a:pt x="47264" y="189056"/>
                </a:lnTo>
                <a:cubicBezTo>
                  <a:pt x="47264" y="215149"/>
                  <a:pt x="89605" y="236320"/>
                  <a:pt x="141792" y="236320"/>
                </a:cubicBezTo>
                <a:cubicBezTo>
                  <a:pt x="193979" y="236320"/>
                  <a:pt x="236320" y="215149"/>
                  <a:pt x="236320" y="189056"/>
                </a:cubicBezTo>
                <a:lnTo>
                  <a:pt x="236320" y="131650"/>
                </a:lnTo>
                <a:lnTo>
                  <a:pt x="165965" y="160648"/>
                </a:lnTo>
                <a:cubicBezTo>
                  <a:pt x="158285" y="163799"/>
                  <a:pt x="150112" y="165424"/>
                  <a:pt x="141792" y="165424"/>
                </a:cubicBezTo>
                <a:cubicBezTo>
                  <a:pt x="133471" y="165424"/>
                  <a:pt x="125299" y="163799"/>
                  <a:pt x="117618" y="160648"/>
                </a:cubicBezTo>
                <a:lnTo>
                  <a:pt x="47264" y="131650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64" name="Text 62"/>
          <p:cNvSpPr/>
          <p:nvPr/>
        </p:nvSpPr>
        <p:spPr>
          <a:xfrm>
            <a:off x="925673" y="6027385"/>
            <a:ext cx="10864408" cy="2352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技术成长路径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25673" y="6296265"/>
            <a:ext cx="10856006" cy="201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通过本次项目实践，系统学习了Spring Boot全栈开发流程，掌握了从需求分析到系统部署的完整开发周期，提升了问题解决能力和技术选型能力。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&amp; QUALITY ASSURANCE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测试与质量保障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5" name="Shape 3"/>
          <p:cNvSpPr/>
          <p:nvPr/>
        </p:nvSpPr>
        <p:spPr>
          <a:xfrm>
            <a:off x="320146" y="1177396"/>
            <a:ext cx="5696479" cy="2450042"/>
          </a:xfrm>
          <a:custGeom>
            <a:avLst/>
            <a:gdLst/>
            <a:ahLst/>
            <a:cxnLst/>
            <a:rect l="l" t="t" r="r" b="b"/>
            <a:pathLst>
              <a:path w="5696479" h="2450042">
                <a:moveTo>
                  <a:pt x="95258" y="0"/>
                </a:moveTo>
                <a:lnTo>
                  <a:pt x="5601222" y="0"/>
                </a:lnTo>
                <a:cubicBezTo>
                  <a:pt x="5653831" y="0"/>
                  <a:pt x="5696479" y="42648"/>
                  <a:pt x="5696479" y="95258"/>
                </a:cubicBezTo>
                <a:lnTo>
                  <a:pt x="5696479" y="2354784"/>
                </a:lnTo>
                <a:cubicBezTo>
                  <a:pt x="5696479" y="2407393"/>
                  <a:pt x="5653831" y="2450042"/>
                  <a:pt x="5601222" y="2450042"/>
                </a:cubicBezTo>
                <a:lnTo>
                  <a:pt x="95258" y="2450042"/>
                </a:lnTo>
                <a:cubicBezTo>
                  <a:pt x="42648" y="2450042"/>
                  <a:pt x="0" y="2407393"/>
                  <a:pt x="0" y="2354784"/>
                </a:cubicBezTo>
                <a:lnTo>
                  <a:pt x="0" y="95258"/>
                </a:lnTo>
                <a:cubicBezTo>
                  <a:pt x="0" y="42684"/>
                  <a:pt x="42684" y="0"/>
                  <a:pt x="95258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1385" y="137054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09141"/>
                </a:lnTo>
                <a:cubicBezTo>
                  <a:pt x="0" y="120086"/>
                  <a:pt x="8899" y="128984"/>
                  <a:pt x="19844" y="128984"/>
                </a:cubicBezTo>
                <a:lnTo>
                  <a:pt x="64492" y="128984"/>
                </a:lnTo>
                <a:lnTo>
                  <a:pt x="59531" y="143867"/>
                </a:lnTo>
                <a:lnTo>
                  <a:pt x="37207" y="143867"/>
                </a:lnTo>
                <a:cubicBezTo>
                  <a:pt x="33083" y="143867"/>
                  <a:pt x="29766" y="147185"/>
                  <a:pt x="29766" y="151309"/>
                </a:cubicBezTo>
                <a:cubicBezTo>
                  <a:pt x="29766" y="155432"/>
                  <a:pt x="33083" y="158750"/>
                  <a:pt x="37207" y="158750"/>
                </a:cubicBezTo>
                <a:lnTo>
                  <a:pt x="121543" y="158750"/>
                </a:lnTo>
                <a:cubicBezTo>
                  <a:pt x="125667" y="158750"/>
                  <a:pt x="128984" y="155432"/>
                  <a:pt x="128984" y="151309"/>
                </a:cubicBezTo>
                <a:cubicBezTo>
                  <a:pt x="128984" y="147185"/>
                  <a:pt x="125667" y="143867"/>
                  <a:pt x="121543" y="143867"/>
                </a:cubicBezTo>
                <a:lnTo>
                  <a:pt x="99219" y="143867"/>
                </a:lnTo>
                <a:lnTo>
                  <a:pt x="94258" y="128984"/>
                </a:lnTo>
                <a:lnTo>
                  <a:pt x="138906" y="128984"/>
                </a:lnTo>
                <a:cubicBezTo>
                  <a:pt x="149851" y="128984"/>
                  <a:pt x="158750" y="120086"/>
                  <a:pt x="158750" y="109141"/>
                </a:cubicBezTo>
                <a:lnTo>
                  <a:pt x="158750" y="29766"/>
                </a:lnTo>
                <a:cubicBezTo>
                  <a:pt x="158750" y="18821"/>
                  <a:pt x="149851" y="9922"/>
                  <a:pt x="138906" y="9922"/>
                </a:cubicBezTo>
                <a:lnTo>
                  <a:pt x="19844" y="9922"/>
                </a:lnTo>
                <a:close/>
                <a:moveTo>
                  <a:pt x="29766" y="29766"/>
                </a:move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lnTo>
                  <a:pt x="138906" y="89297"/>
                </a:lnTo>
                <a:cubicBezTo>
                  <a:pt x="138906" y="94785"/>
                  <a:pt x="134472" y="99219"/>
                  <a:pt x="128984" y="99219"/>
                </a:cubicBezTo>
                <a:lnTo>
                  <a:pt x="29766" y="99219"/>
                </a:lnTo>
                <a:cubicBezTo>
                  <a:pt x="24278" y="99219"/>
                  <a:pt x="19844" y="94785"/>
                  <a:pt x="19844" y="89297"/>
                </a:cubicBezTo>
                <a:lnTo>
                  <a:pt x="19844" y="39688"/>
                </a:lnTo>
                <a:cubicBezTo>
                  <a:pt x="19844" y="34199"/>
                  <a:pt x="24278" y="29766"/>
                  <a:pt x="29766" y="2976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" name="Text 5"/>
          <p:cNvSpPr/>
          <p:nvPr/>
        </p:nvSpPr>
        <p:spPr>
          <a:xfrm>
            <a:off x="679979" y="1338794"/>
            <a:ext cx="5254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测试环境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1542" y="1688044"/>
            <a:ext cx="2635250" cy="841375"/>
          </a:xfrm>
          <a:custGeom>
            <a:avLst/>
            <a:gdLst/>
            <a:ahLst/>
            <a:cxnLst/>
            <a:rect l="l" t="t" r="r" b="b"/>
            <a:pathLst>
              <a:path w="2635250" h="841375">
                <a:moveTo>
                  <a:pt x="63499" y="0"/>
                </a:moveTo>
                <a:lnTo>
                  <a:pt x="2571751" y="0"/>
                </a:lnTo>
                <a:cubicBezTo>
                  <a:pt x="2606821" y="0"/>
                  <a:pt x="2635250" y="28429"/>
                  <a:pt x="2635250" y="63499"/>
                </a:cubicBezTo>
                <a:lnTo>
                  <a:pt x="2635250" y="777876"/>
                </a:lnTo>
                <a:cubicBezTo>
                  <a:pt x="2635250" y="812946"/>
                  <a:pt x="2606821" y="841375"/>
                  <a:pt x="2571751" y="841375"/>
                </a:cubicBezTo>
                <a:lnTo>
                  <a:pt x="63499" y="841375"/>
                </a:lnTo>
                <a:cubicBezTo>
                  <a:pt x="28429" y="841375"/>
                  <a:pt x="0" y="812946"/>
                  <a:pt x="0" y="777876"/>
                </a:cubicBezTo>
                <a:lnTo>
                  <a:pt x="0" y="63499"/>
                </a:lnTo>
                <a:cubicBezTo>
                  <a:pt x="0" y="28429"/>
                  <a:pt x="28429" y="0"/>
                  <a:pt x="634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1698294" y="1783294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0" y="43579"/>
                </a:moveTo>
                <a:lnTo>
                  <a:pt x="85390" y="31812"/>
                </a:lnTo>
                <a:lnTo>
                  <a:pt x="85390" y="114319"/>
                </a:lnTo>
                <a:lnTo>
                  <a:pt x="0" y="114319"/>
                </a:lnTo>
                <a:lnTo>
                  <a:pt x="0" y="43579"/>
                </a:lnTo>
                <a:close/>
                <a:moveTo>
                  <a:pt x="0" y="194546"/>
                </a:moveTo>
                <a:lnTo>
                  <a:pt x="85390" y="206313"/>
                </a:lnTo>
                <a:lnTo>
                  <a:pt x="85390" y="124830"/>
                </a:lnTo>
                <a:lnTo>
                  <a:pt x="0" y="124830"/>
                </a:lnTo>
                <a:lnTo>
                  <a:pt x="0" y="194546"/>
                </a:lnTo>
                <a:close/>
                <a:moveTo>
                  <a:pt x="94785" y="207569"/>
                </a:moveTo>
                <a:lnTo>
                  <a:pt x="208359" y="223242"/>
                </a:lnTo>
                <a:lnTo>
                  <a:pt x="208359" y="124830"/>
                </a:lnTo>
                <a:lnTo>
                  <a:pt x="94785" y="124830"/>
                </a:lnTo>
                <a:lnTo>
                  <a:pt x="94785" y="207569"/>
                </a:lnTo>
                <a:close/>
                <a:moveTo>
                  <a:pt x="94785" y="30556"/>
                </a:moveTo>
                <a:lnTo>
                  <a:pt x="94785" y="114319"/>
                </a:lnTo>
                <a:lnTo>
                  <a:pt x="208359" y="114319"/>
                </a:lnTo>
                <a:lnTo>
                  <a:pt x="208359" y="14883"/>
                </a:lnTo>
                <a:lnTo>
                  <a:pt x="94785" y="30556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10" name="Text 8"/>
          <p:cNvSpPr/>
          <p:nvPr/>
        </p:nvSpPr>
        <p:spPr>
          <a:xfrm>
            <a:off x="545042" y="2084919"/>
            <a:ext cx="2508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Windows 11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9010" y="2275419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操作系统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14688" y="1688044"/>
            <a:ext cx="2635250" cy="841375"/>
          </a:xfrm>
          <a:custGeom>
            <a:avLst/>
            <a:gdLst/>
            <a:ahLst/>
            <a:cxnLst/>
            <a:rect l="l" t="t" r="r" b="b"/>
            <a:pathLst>
              <a:path w="2635250" h="841375">
                <a:moveTo>
                  <a:pt x="63499" y="0"/>
                </a:moveTo>
                <a:lnTo>
                  <a:pt x="2571751" y="0"/>
                </a:lnTo>
                <a:cubicBezTo>
                  <a:pt x="2606821" y="0"/>
                  <a:pt x="2635250" y="28429"/>
                  <a:pt x="2635250" y="63499"/>
                </a:cubicBezTo>
                <a:lnTo>
                  <a:pt x="2635250" y="777876"/>
                </a:lnTo>
                <a:cubicBezTo>
                  <a:pt x="2635250" y="812946"/>
                  <a:pt x="2606821" y="841375"/>
                  <a:pt x="2571751" y="841375"/>
                </a:cubicBezTo>
                <a:lnTo>
                  <a:pt x="63499" y="841375"/>
                </a:lnTo>
                <a:cubicBezTo>
                  <a:pt x="28429" y="841375"/>
                  <a:pt x="0" y="812946"/>
                  <a:pt x="0" y="777876"/>
                </a:cubicBezTo>
                <a:lnTo>
                  <a:pt x="0" y="63499"/>
                </a:lnTo>
                <a:cubicBezTo>
                  <a:pt x="0" y="28429"/>
                  <a:pt x="28429" y="0"/>
                  <a:pt x="634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4401675" y="1783294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67804" y="558"/>
                </a:moveTo>
                <a:cubicBezTo>
                  <a:pt x="159897" y="-1721"/>
                  <a:pt x="151665" y="2884"/>
                  <a:pt x="149386" y="10790"/>
                </a:cubicBezTo>
                <a:lnTo>
                  <a:pt x="89855" y="219149"/>
                </a:lnTo>
                <a:cubicBezTo>
                  <a:pt x="87576" y="227056"/>
                  <a:pt x="92180" y="235288"/>
                  <a:pt x="100087" y="237567"/>
                </a:cubicBezTo>
                <a:cubicBezTo>
                  <a:pt x="107993" y="239846"/>
                  <a:pt x="116225" y="235241"/>
                  <a:pt x="118504" y="227335"/>
                </a:cubicBezTo>
                <a:lnTo>
                  <a:pt x="178036" y="18976"/>
                </a:lnTo>
                <a:cubicBezTo>
                  <a:pt x="180315" y="11069"/>
                  <a:pt x="175710" y="2837"/>
                  <a:pt x="167804" y="558"/>
                </a:cubicBezTo>
                <a:close/>
                <a:moveTo>
                  <a:pt x="197848" y="63857"/>
                </a:moveTo>
                <a:cubicBezTo>
                  <a:pt x="192035" y="69670"/>
                  <a:pt x="192035" y="79111"/>
                  <a:pt x="197848" y="84925"/>
                </a:cubicBezTo>
                <a:lnTo>
                  <a:pt x="231986" y="119062"/>
                </a:lnTo>
                <a:lnTo>
                  <a:pt x="197848" y="153200"/>
                </a:lnTo>
                <a:cubicBezTo>
                  <a:pt x="192035" y="159014"/>
                  <a:pt x="192035" y="168455"/>
                  <a:pt x="197848" y="174268"/>
                </a:cubicBezTo>
                <a:cubicBezTo>
                  <a:pt x="203662" y="180082"/>
                  <a:pt x="213103" y="180082"/>
                  <a:pt x="218917" y="174268"/>
                </a:cubicBezTo>
                <a:lnTo>
                  <a:pt x="263565" y="129620"/>
                </a:lnTo>
                <a:cubicBezTo>
                  <a:pt x="269379" y="123806"/>
                  <a:pt x="269379" y="114365"/>
                  <a:pt x="263565" y="108552"/>
                </a:cubicBezTo>
                <a:lnTo>
                  <a:pt x="218917" y="63903"/>
                </a:lnTo>
                <a:cubicBezTo>
                  <a:pt x="213103" y="58089"/>
                  <a:pt x="203662" y="58089"/>
                  <a:pt x="197848" y="63903"/>
                </a:cubicBezTo>
                <a:close/>
                <a:moveTo>
                  <a:pt x="70089" y="63857"/>
                </a:moveTo>
                <a:cubicBezTo>
                  <a:pt x="64275" y="58043"/>
                  <a:pt x="54834" y="58043"/>
                  <a:pt x="49020" y="63857"/>
                </a:cubicBezTo>
                <a:lnTo>
                  <a:pt x="4372" y="108505"/>
                </a:lnTo>
                <a:cubicBezTo>
                  <a:pt x="-1442" y="114319"/>
                  <a:pt x="-1442" y="123760"/>
                  <a:pt x="4372" y="129573"/>
                </a:cubicBezTo>
                <a:lnTo>
                  <a:pt x="49020" y="174222"/>
                </a:lnTo>
                <a:cubicBezTo>
                  <a:pt x="54834" y="180036"/>
                  <a:pt x="64275" y="180036"/>
                  <a:pt x="70089" y="174222"/>
                </a:cubicBezTo>
                <a:cubicBezTo>
                  <a:pt x="75902" y="168408"/>
                  <a:pt x="75902" y="158967"/>
                  <a:pt x="70089" y="153153"/>
                </a:cubicBezTo>
                <a:lnTo>
                  <a:pt x="35951" y="119062"/>
                </a:lnTo>
                <a:lnTo>
                  <a:pt x="70042" y="84925"/>
                </a:lnTo>
                <a:cubicBezTo>
                  <a:pt x="75856" y="79111"/>
                  <a:pt x="75856" y="69670"/>
                  <a:pt x="70042" y="63857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4" name="Text 12"/>
          <p:cNvSpPr/>
          <p:nvPr/>
        </p:nvSpPr>
        <p:spPr>
          <a:xfrm>
            <a:off x="3278188" y="2084919"/>
            <a:ext cx="2508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IDEA 2025.3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82156" y="2275419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开发工具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1542" y="2624669"/>
            <a:ext cx="2635250" cy="841375"/>
          </a:xfrm>
          <a:custGeom>
            <a:avLst/>
            <a:gdLst/>
            <a:ahLst/>
            <a:cxnLst/>
            <a:rect l="l" t="t" r="r" b="b"/>
            <a:pathLst>
              <a:path w="2635250" h="841375">
                <a:moveTo>
                  <a:pt x="63499" y="0"/>
                </a:moveTo>
                <a:lnTo>
                  <a:pt x="2571751" y="0"/>
                </a:lnTo>
                <a:cubicBezTo>
                  <a:pt x="2606821" y="0"/>
                  <a:pt x="2635250" y="28429"/>
                  <a:pt x="2635250" y="63499"/>
                </a:cubicBezTo>
                <a:lnTo>
                  <a:pt x="2635250" y="777876"/>
                </a:lnTo>
                <a:cubicBezTo>
                  <a:pt x="2635250" y="812946"/>
                  <a:pt x="2606821" y="841375"/>
                  <a:pt x="2571751" y="841375"/>
                </a:cubicBezTo>
                <a:lnTo>
                  <a:pt x="63499" y="841375"/>
                </a:lnTo>
                <a:cubicBezTo>
                  <a:pt x="28429" y="841375"/>
                  <a:pt x="0" y="812946"/>
                  <a:pt x="0" y="777876"/>
                </a:cubicBezTo>
                <a:lnTo>
                  <a:pt x="0" y="63499"/>
                </a:lnTo>
                <a:cubicBezTo>
                  <a:pt x="0" y="28429"/>
                  <a:pt x="28429" y="0"/>
                  <a:pt x="634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1698294" y="2719919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208359" y="95715"/>
                </a:moveTo>
                <a:cubicBezTo>
                  <a:pt x="201476" y="100273"/>
                  <a:pt x="193570" y="103947"/>
                  <a:pt x="185338" y="106877"/>
                </a:cubicBezTo>
                <a:cubicBezTo>
                  <a:pt x="163478" y="114691"/>
                  <a:pt x="134782" y="119062"/>
                  <a:pt x="104180" y="119062"/>
                </a:cubicBezTo>
                <a:cubicBezTo>
                  <a:pt x="73577" y="119062"/>
                  <a:pt x="44834" y="114644"/>
                  <a:pt x="23022" y="106877"/>
                </a:cubicBezTo>
                <a:cubicBezTo>
                  <a:pt x="14836" y="103947"/>
                  <a:pt x="6883" y="100273"/>
                  <a:pt x="0" y="95715"/>
                </a:cubicBezTo>
                <a:lnTo>
                  <a:pt x="0" y="133945"/>
                </a:lnTo>
                <a:cubicBezTo>
                  <a:pt x="0" y="154502"/>
                  <a:pt x="46648" y="171152"/>
                  <a:pt x="104180" y="171152"/>
                </a:cubicBezTo>
                <a:cubicBezTo>
                  <a:pt x="161711" y="171152"/>
                  <a:pt x="208359" y="154502"/>
                  <a:pt x="208359" y="133945"/>
                </a:cubicBezTo>
                <a:lnTo>
                  <a:pt x="208359" y="95715"/>
                </a:lnTo>
                <a:close/>
                <a:moveTo>
                  <a:pt x="208359" y="59531"/>
                </a:moveTo>
                <a:lnTo>
                  <a:pt x="208359" y="37207"/>
                </a:lnTo>
                <a:cubicBezTo>
                  <a:pt x="208359" y="16650"/>
                  <a:pt x="161711" y="0"/>
                  <a:pt x="104180" y="0"/>
                </a:cubicBezTo>
                <a:cubicBezTo>
                  <a:pt x="46648" y="0"/>
                  <a:pt x="0" y="16650"/>
                  <a:pt x="0" y="37207"/>
                </a:cubicBezTo>
                <a:lnTo>
                  <a:pt x="0" y="59531"/>
                </a:lnTo>
                <a:cubicBezTo>
                  <a:pt x="0" y="80088"/>
                  <a:pt x="46648" y="96738"/>
                  <a:pt x="104180" y="96738"/>
                </a:cubicBezTo>
                <a:cubicBezTo>
                  <a:pt x="161711" y="96738"/>
                  <a:pt x="208359" y="80088"/>
                  <a:pt x="208359" y="59531"/>
                </a:cubicBezTo>
                <a:close/>
                <a:moveTo>
                  <a:pt x="185338" y="181291"/>
                </a:moveTo>
                <a:cubicBezTo>
                  <a:pt x="163525" y="189058"/>
                  <a:pt x="134829" y="193477"/>
                  <a:pt x="104180" y="193477"/>
                </a:cubicBezTo>
                <a:cubicBezTo>
                  <a:pt x="73530" y="193477"/>
                  <a:pt x="44834" y="189058"/>
                  <a:pt x="23022" y="181291"/>
                </a:cubicBezTo>
                <a:cubicBezTo>
                  <a:pt x="14836" y="178361"/>
                  <a:pt x="6883" y="174687"/>
                  <a:pt x="0" y="170129"/>
                </a:cubicBezTo>
                <a:lnTo>
                  <a:pt x="0" y="200918"/>
                </a:lnTo>
                <a:cubicBezTo>
                  <a:pt x="0" y="221475"/>
                  <a:pt x="46648" y="238125"/>
                  <a:pt x="104180" y="238125"/>
                </a:cubicBezTo>
                <a:cubicBezTo>
                  <a:pt x="161711" y="238125"/>
                  <a:pt x="208359" y="221475"/>
                  <a:pt x="208359" y="200918"/>
                </a:cubicBezTo>
                <a:lnTo>
                  <a:pt x="208359" y="170129"/>
                </a:lnTo>
                <a:cubicBezTo>
                  <a:pt x="201476" y="174687"/>
                  <a:pt x="193570" y="178361"/>
                  <a:pt x="185338" y="181291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18" name="Text 16"/>
          <p:cNvSpPr/>
          <p:nvPr/>
        </p:nvSpPr>
        <p:spPr>
          <a:xfrm>
            <a:off x="545042" y="3021544"/>
            <a:ext cx="2508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MySQL 8.0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9010" y="3212044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14688" y="2624669"/>
            <a:ext cx="2635250" cy="841375"/>
          </a:xfrm>
          <a:custGeom>
            <a:avLst/>
            <a:gdLst/>
            <a:ahLst/>
            <a:cxnLst/>
            <a:rect l="l" t="t" r="r" b="b"/>
            <a:pathLst>
              <a:path w="2635250" h="841375">
                <a:moveTo>
                  <a:pt x="63499" y="0"/>
                </a:moveTo>
                <a:lnTo>
                  <a:pt x="2571751" y="0"/>
                </a:lnTo>
                <a:cubicBezTo>
                  <a:pt x="2606821" y="0"/>
                  <a:pt x="2635250" y="28429"/>
                  <a:pt x="2635250" y="63499"/>
                </a:cubicBezTo>
                <a:lnTo>
                  <a:pt x="2635250" y="777876"/>
                </a:lnTo>
                <a:cubicBezTo>
                  <a:pt x="2635250" y="812946"/>
                  <a:pt x="2606821" y="841375"/>
                  <a:pt x="2571751" y="841375"/>
                </a:cubicBezTo>
                <a:lnTo>
                  <a:pt x="63499" y="841375"/>
                </a:lnTo>
                <a:cubicBezTo>
                  <a:pt x="28429" y="841375"/>
                  <a:pt x="0" y="812946"/>
                  <a:pt x="0" y="777876"/>
                </a:cubicBezTo>
                <a:lnTo>
                  <a:pt x="0" y="63499"/>
                </a:lnTo>
                <a:cubicBezTo>
                  <a:pt x="0" y="28429"/>
                  <a:pt x="28429" y="0"/>
                  <a:pt x="634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4446323" y="2719919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129201" y="145526"/>
                </a:moveTo>
                <a:cubicBezTo>
                  <a:pt x="133759" y="142410"/>
                  <a:pt x="140084" y="139712"/>
                  <a:pt x="140084" y="139712"/>
                </a:cubicBezTo>
                <a:cubicBezTo>
                  <a:pt x="140084" y="139712"/>
                  <a:pt x="122086" y="142968"/>
                  <a:pt x="104180" y="144456"/>
                </a:cubicBezTo>
                <a:cubicBezTo>
                  <a:pt x="82274" y="146270"/>
                  <a:pt x="58741" y="146642"/>
                  <a:pt x="46927" y="145061"/>
                </a:cubicBezTo>
                <a:cubicBezTo>
                  <a:pt x="18976" y="141340"/>
                  <a:pt x="62275" y="131062"/>
                  <a:pt x="62275" y="131062"/>
                </a:cubicBezTo>
                <a:cubicBezTo>
                  <a:pt x="62275" y="131062"/>
                  <a:pt x="45486" y="129946"/>
                  <a:pt x="24789" y="139898"/>
                </a:cubicBezTo>
                <a:cubicBezTo>
                  <a:pt x="372" y="151712"/>
                  <a:pt x="85251" y="157107"/>
                  <a:pt x="129201" y="145526"/>
                </a:cubicBezTo>
                <a:close/>
                <a:moveTo>
                  <a:pt x="89483" y="130597"/>
                </a:moveTo>
                <a:cubicBezTo>
                  <a:pt x="80646" y="110737"/>
                  <a:pt x="50834" y="93297"/>
                  <a:pt x="89483" y="62787"/>
                </a:cubicBezTo>
                <a:cubicBezTo>
                  <a:pt x="137713" y="24743"/>
                  <a:pt x="112970" y="0"/>
                  <a:pt x="112970" y="0"/>
                </a:cubicBezTo>
                <a:cubicBezTo>
                  <a:pt x="122969" y="39300"/>
                  <a:pt x="77809" y="51206"/>
                  <a:pt x="61485" y="75623"/>
                </a:cubicBezTo>
                <a:cubicBezTo>
                  <a:pt x="50369" y="92320"/>
                  <a:pt x="66926" y="110226"/>
                  <a:pt x="89483" y="130597"/>
                </a:cubicBezTo>
                <a:close/>
                <a:moveTo>
                  <a:pt x="142782" y="48648"/>
                </a:moveTo>
                <a:cubicBezTo>
                  <a:pt x="142828" y="48648"/>
                  <a:pt x="61299" y="69019"/>
                  <a:pt x="100226" y="113854"/>
                </a:cubicBezTo>
                <a:cubicBezTo>
                  <a:pt x="111714" y="127062"/>
                  <a:pt x="97203" y="138968"/>
                  <a:pt x="97203" y="138968"/>
                </a:cubicBezTo>
                <a:cubicBezTo>
                  <a:pt x="97203" y="138968"/>
                  <a:pt x="126364" y="123899"/>
                  <a:pt x="112970" y="105063"/>
                </a:cubicBezTo>
                <a:cubicBezTo>
                  <a:pt x="100459" y="87483"/>
                  <a:pt x="90878" y="78739"/>
                  <a:pt x="142782" y="48648"/>
                </a:cubicBezTo>
                <a:close/>
                <a:moveTo>
                  <a:pt x="139945" y="174454"/>
                </a:moveTo>
                <a:cubicBezTo>
                  <a:pt x="139712" y="174920"/>
                  <a:pt x="139387" y="175292"/>
                  <a:pt x="139015" y="175664"/>
                </a:cubicBezTo>
                <a:cubicBezTo>
                  <a:pt x="198686" y="159990"/>
                  <a:pt x="176733" y="120365"/>
                  <a:pt x="148224" y="130411"/>
                </a:cubicBezTo>
                <a:cubicBezTo>
                  <a:pt x="146689" y="130969"/>
                  <a:pt x="145340" y="131992"/>
                  <a:pt x="144410" y="133341"/>
                </a:cubicBezTo>
                <a:cubicBezTo>
                  <a:pt x="146084" y="132736"/>
                  <a:pt x="147805" y="132271"/>
                  <a:pt x="149526" y="131945"/>
                </a:cubicBezTo>
                <a:cubicBezTo>
                  <a:pt x="163943" y="128922"/>
                  <a:pt x="184640" y="151247"/>
                  <a:pt x="139945" y="174454"/>
                </a:cubicBezTo>
                <a:close/>
                <a:moveTo>
                  <a:pt x="161851" y="203429"/>
                </a:moveTo>
                <a:cubicBezTo>
                  <a:pt x="161851" y="203429"/>
                  <a:pt x="168594" y="208964"/>
                  <a:pt x="154456" y="213289"/>
                </a:cubicBezTo>
                <a:cubicBezTo>
                  <a:pt x="127527" y="221428"/>
                  <a:pt x="42463" y="223893"/>
                  <a:pt x="18836" y="213615"/>
                </a:cubicBezTo>
                <a:cubicBezTo>
                  <a:pt x="10325" y="209941"/>
                  <a:pt x="26277" y="204778"/>
                  <a:pt x="31300" y="203708"/>
                </a:cubicBezTo>
                <a:cubicBezTo>
                  <a:pt x="36509" y="202592"/>
                  <a:pt x="39532" y="202778"/>
                  <a:pt x="39532" y="202778"/>
                </a:cubicBezTo>
                <a:cubicBezTo>
                  <a:pt x="30091" y="196128"/>
                  <a:pt x="-21534" y="215847"/>
                  <a:pt x="13302" y="221475"/>
                </a:cubicBezTo>
                <a:cubicBezTo>
                  <a:pt x="108272" y="236916"/>
                  <a:pt x="186500" y="214545"/>
                  <a:pt x="161851" y="203429"/>
                </a:cubicBezTo>
                <a:close/>
                <a:moveTo>
                  <a:pt x="57903" y="184175"/>
                </a:moveTo>
                <a:cubicBezTo>
                  <a:pt x="21301" y="194407"/>
                  <a:pt x="80181" y="215522"/>
                  <a:pt x="126783" y="195569"/>
                </a:cubicBezTo>
                <a:cubicBezTo>
                  <a:pt x="122225" y="193802"/>
                  <a:pt x="117853" y="191663"/>
                  <a:pt x="113667" y="189151"/>
                </a:cubicBezTo>
                <a:cubicBezTo>
                  <a:pt x="92878" y="193104"/>
                  <a:pt x="83251" y="193384"/>
                  <a:pt x="64368" y="191244"/>
                </a:cubicBezTo>
                <a:cubicBezTo>
                  <a:pt x="48788" y="189477"/>
                  <a:pt x="57903" y="184175"/>
                  <a:pt x="57903" y="184175"/>
                </a:cubicBezTo>
                <a:close/>
                <a:moveTo>
                  <a:pt x="141526" y="229381"/>
                </a:moveTo>
                <a:cubicBezTo>
                  <a:pt x="104924" y="236265"/>
                  <a:pt x="59764" y="235474"/>
                  <a:pt x="33021" y="231056"/>
                </a:cubicBezTo>
                <a:cubicBezTo>
                  <a:pt x="33021" y="231009"/>
                  <a:pt x="38509" y="235567"/>
                  <a:pt x="66694" y="237381"/>
                </a:cubicBezTo>
                <a:cubicBezTo>
                  <a:pt x="109575" y="240125"/>
                  <a:pt x="175431" y="235846"/>
                  <a:pt x="176966" y="215568"/>
                </a:cubicBezTo>
                <a:cubicBezTo>
                  <a:pt x="176966" y="215568"/>
                  <a:pt x="173989" y="223242"/>
                  <a:pt x="141526" y="229381"/>
                </a:cubicBezTo>
                <a:close/>
                <a:moveTo>
                  <a:pt x="121248" y="164176"/>
                </a:moveTo>
                <a:cubicBezTo>
                  <a:pt x="93715" y="169478"/>
                  <a:pt x="77763" y="169339"/>
                  <a:pt x="57624" y="167246"/>
                </a:cubicBezTo>
                <a:cubicBezTo>
                  <a:pt x="42044" y="165618"/>
                  <a:pt x="52229" y="158083"/>
                  <a:pt x="52229" y="158083"/>
                </a:cubicBezTo>
                <a:cubicBezTo>
                  <a:pt x="11860" y="171478"/>
                  <a:pt x="74647" y="186640"/>
                  <a:pt x="131062" y="170129"/>
                </a:cubicBezTo>
                <a:cubicBezTo>
                  <a:pt x="127434" y="168827"/>
                  <a:pt x="124085" y="166827"/>
                  <a:pt x="121248" y="16417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2" name="Text 20"/>
          <p:cNvSpPr/>
          <p:nvPr/>
        </p:nvSpPr>
        <p:spPr>
          <a:xfrm>
            <a:off x="3278188" y="3021544"/>
            <a:ext cx="2508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Java 17+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82156" y="3212044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运行环境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146" y="3759734"/>
            <a:ext cx="5696479" cy="2862792"/>
          </a:xfrm>
          <a:custGeom>
            <a:avLst/>
            <a:gdLst/>
            <a:ahLst/>
            <a:cxnLst/>
            <a:rect l="l" t="t" r="r" b="b"/>
            <a:pathLst>
              <a:path w="5696479" h="2862792">
                <a:moveTo>
                  <a:pt x="95245" y="0"/>
                </a:moveTo>
                <a:lnTo>
                  <a:pt x="5601234" y="0"/>
                </a:lnTo>
                <a:cubicBezTo>
                  <a:pt x="5653836" y="0"/>
                  <a:pt x="5696479" y="42643"/>
                  <a:pt x="5696479" y="95245"/>
                </a:cubicBezTo>
                <a:lnTo>
                  <a:pt x="5696479" y="2767547"/>
                </a:lnTo>
                <a:cubicBezTo>
                  <a:pt x="5696479" y="2820149"/>
                  <a:pt x="5653836" y="2862792"/>
                  <a:pt x="5601234" y="2862792"/>
                </a:cubicBezTo>
                <a:lnTo>
                  <a:pt x="95245" y="2862792"/>
                </a:lnTo>
                <a:cubicBezTo>
                  <a:pt x="42643" y="2862792"/>
                  <a:pt x="0" y="2820149"/>
                  <a:pt x="0" y="2767547"/>
                </a:cubicBezTo>
                <a:lnTo>
                  <a:pt x="0" y="95245"/>
                </a:lnTo>
                <a:cubicBezTo>
                  <a:pt x="0" y="42678"/>
                  <a:pt x="42678" y="0"/>
                  <a:pt x="95245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1385" y="39528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38906" y="79375"/>
                </a:moveTo>
                <a:cubicBezTo>
                  <a:pt x="138906" y="46519"/>
                  <a:pt x="112231" y="19844"/>
                  <a:pt x="79375" y="19844"/>
                </a:cubicBezTo>
                <a:cubicBezTo>
                  <a:pt x="46519" y="19844"/>
                  <a:pt x="19844" y="46519"/>
                  <a:pt x="19844" y="79375"/>
                </a:cubicBezTo>
                <a:cubicBezTo>
                  <a:pt x="19844" y="112231"/>
                  <a:pt x="46519" y="138906"/>
                  <a:pt x="79375" y="138906"/>
                </a:cubicBezTo>
                <a:cubicBezTo>
                  <a:pt x="112231" y="138906"/>
                  <a:pt x="138906" y="112231"/>
                  <a:pt x="138906" y="79375"/>
                </a:cubicBezTo>
                <a:close/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79375" y="104180"/>
                </a:moveTo>
                <a:cubicBezTo>
                  <a:pt x="93065" y="104180"/>
                  <a:pt x="104180" y="93065"/>
                  <a:pt x="104180" y="79375"/>
                </a:cubicBezTo>
                <a:cubicBezTo>
                  <a:pt x="104180" y="65685"/>
                  <a:pt x="93065" y="54570"/>
                  <a:pt x="79375" y="54570"/>
                </a:cubicBezTo>
                <a:cubicBezTo>
                  <a:pt x="65685" y="54570"/>
                  <a:pt x="54570" y="65685"/>
                  <a:pt x="54570" y="79375"/>
                </a:cubicBezTo>
                <a:cubicBezTo>
                  <a:pt x="54570" y="93065"/>
                  <a:pt x="65685" y="104180"/>
                  <a:pt x="79375" y="104180"/>
                </a:cubicBezTo>
                <a:close/>
                <a:moveTo>
                  <a:pt x="79375" y="34727"/>
                </a:moveTo>
                <a:cubicBezTo>
                  <a:pt x="104017" y="34727"/>
                  <a:pt x="124023" y="54733"/>
                  <a:pt x="124023" y="79375"/>
                </a:cubicBezTo>
                <a:cubicBezTo>
                  <a:pt x="124023" y="104017"/>
                  <a:pt x="104017" y="124023"/>
                  <a:pt x="79375" y="124023"/>
                </a:cubicBezTo>
                <a:cubicBezTo>
                  <a:pt x="54733" y="124023"/>
                  <a:pt x="34727" y="104017"/>
                  <a:pt x="34727" y="79375"/>
                </a:cubicBezTo>
                <a:cubicBezTo>
                  <a:pt x="34727" y="54733"/>
                  <a:pt x="54733" y="34727"/>
                  <a:pt x="79375" y="34727"/>
                </a:cubicBezTo>
                <a:close/>
                <a:moveTo>
                  <a:pt x="69453" y="79375"/>
                </a:moveTo>
                <a:cubicBezTo>
                  <a:pt x="69453" y="73899"/>
                  <a:pt x="73899" y="69453"/>
                  <a:pt x="79375" y="69453"/>
                </a:cubicBezTo>
                <a:cubicBezTo>
                  <a:pt x="84851" y="69453"/>
                  <a:pt x="89297" y="73899"/>
                  <a:pt x="89297" y="79375"/>
                </a:cubicBezTo>
                <a:cubicBezTo>
                  <a:pt x="89297" y="84851"/>
                  <a:pt x="84851" y="89297"/>
                  <a:pt x="79375" y="89297"/>
                </a:cubicBezTo>
                <a:cubicBezTo>
                  <a:pt x="73899" y="89297"/>
                  <a:pt x="69453" y="84851"/>
                  <a:pt x="69453" y="79375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6" name="Text 24"/>
          <p:cNvSpPr/>
          <p:nvPr/>
        </p:nvSpPr>
        <p:spPr>
          <a:xfrm>
            <a:off x="679979" y="3921125"/>
            <a:ext cx="5254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测试目的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7417" y="4270375"/>
            <a:ext cx="5357813" cy="666750"/>
          </a:xfrm>
          <a:custGeom>
            <a:avLst/>
            <a:gdLst/>
            <a:ahLst/>
            <a:cxnLst/>
            <a:rect l="l" t="t" r="r" b="b"/>
            <a:pathLst>
              <a:path w="5357813" h="666750">
                <a:moveTo>
                  <a:pt x="31750" y="0"/>
                </a:moveTo>
                <a:lnTo>
                  <a:pt x="5294311" y="0"/>
                </a:lnTo>
                <a:cubicBezTo>
                  <a:pt x="5329382" y="0"/>
                  <a:pt x="5357813" y="28430"/>
                  <a:pt x="5357813" y="63501"/>
                </a:cubicBezTo>
                <a:lnTo>
                  <a:pt x="5357813" y="603249"/>
                </a:lnTo>
                <a:cubicBezTo>
                  <a:pt x="5357813" y="638320"/>
                  <a:pt x="5329382" y="666750"/>
                  <a:pt x="5294311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497417" y="4270375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9" name="Text 27"/>
          <p:cNvSpPr/>
          <p:nvPr/>
        </p:nvSpPr>
        <p:spPr>
          <a:xfrm>
            <a:off x="640292" y="4397375"/>
            <a:ext cx="5151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功能验证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292" y="4651375"/>
            <a:ext cx="5143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确认项目各功能模块能够正常运行，业务逻辑符合预期设计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7417" y="5032375"/>
            <a:ext cx="5357813" cy="666750"/>
          </a:xfrm>
          <a:custGeom>
            <a:avLst/>
            <a:gdLst/>
            <a:ahLst/>
            <a:cxnLst/>
            <a:rect l="l" t="t" r="r" b="b"/>
            <a:pathLst>
              <a:path w="5357813" h="666750">
                <a:moveTo>
                  <a:pt x="31750" y="0"/>
                </a:moveTo>
                <a:lnTo>
                  <a:pt x="5294311" y="0"/>
                </a:lnTo>
                <a:cubicBezTo>
                  <a:pt x="5329382" y="0"/>
                  <a:pt x="5357813" y="28430"/>
                  <a:pt x="5357813" y="63501"/>
                </a:cubicBezTo>
                <a:lnTo>
                  <a:pt x="5357813" y="603249"/>
                </a:lnTo>
                <a:cubicBezTo>
                  <a:pt x="5357813" y="638320"/>
                  <a:pt x="5329382" y="666750"/>
                  <a:pt x="5294311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497417" y="5032375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33" name="Text 31"/>
          <p:cNvSpPr/>
          <p:nvPr/>
        </p:nvSpPr>
        <p:spPr>
          <a:xfrm>
            <a:off x="640292" y="5159375"/>
            <a:ext cx="5151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质量保障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292" y="5413375"/>
            <a:ext cx="5143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发现并修复潜在bug，提升系统稳定性和用户体验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97417" y="5794375"/>
            <a:ext cx="5357813" cy="666750"/>
          </a:xfrm>
          <a:custGeom>
            <a:avLst/>
            <a:gdLst/>
            <a:ahLst/>
            <a:cxnLst/>
            <a:rect l="l" t="t" r="r" b="b"/>
            <a:pathLst>
              <a:path w="5357813" h="666750">
                <a:moveTo>
                  <a:pt x="31750" y="0"/>
                </a:moveTo>
                <a:lnTo>
                  <a:pt x="5294311" y="0"/>
                </a:lnTo>
                <a:cubicBezTo>
                  <a:pt x="5329382" y="0"/>
                  <a:pt x="5357813" y="28430"/>
                  <a:pt x="5357813" y="63501"/>
                </a:cubicBezTo>
                <a:lnTo>
                  <a:pt x="5357813" y="603249"/>
                </a:lnTo>
                <a:cubicBezTo>
                  <a:pt x="5357813" y="638320"/>
                  <a:pt x="5329382" y="666750"/>
                  <a:pt x="5294311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497417" y="5794375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37" name="Text 35"/>
          <p:cNvSpPr/>
          <p:nvPr/>
        </p:nvSpPr>
        <p:spPr>
          <a:xfrm>
            <a:off x="640292" y="5921375"/>
            <a:ext cx="51514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性能评估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292" y="6175375"/>
            <a:ext cx="5143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验证系统响应速度和数据处理能力是否满足需求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78021" y="1177396"/>
            <a:ext cx="5696479" cy="5442479"/>
          </a:xfrm>
          <a:custGeom>
            <a:avLst/>
            <a:gdLst/>
            <a:ahLst/>
            <a:cxnLst/>
            <a:rect l="l" t="t" r="r" b="b"/>
            <a:pathLst>
              <a:path w="5696479" h="5442479">
                <a:moveTo>
                  <a:pt x="95243" y="0"/>
                </a:moveTo>
                <a:lnTo>
                  <a:pt x="5601236" y="0"/>
                </a:lnTo>
                <a:cubicBezTo>
                  <a:pt x="5653837" y="0"/>
                  <a:pt x="5696479" y="42642"/>
                  <a:pt x="5696479" y="95243"/>
                </a:cubicBezTo>
                <a:lnTo>
                  <a:pt x="5696479" y="5347236"/>
                </a:lnTo>
                <a:cubicBezTo>
                  <a:pt x="5696479" y="5399837"/>
                  <a:pt x="5653837" y="5442479"/>
                  <a:pt x="5601236" y="5442479"/>
                </a:cubicBezTo>
                <a:lnTo>
                  <a:pt x="95243" y="5442479"/>
                </a:lnTo>
                <a:cubicBezTo>
                  <a:pt x="42677" y="5442479"/>
                  <a:pt x="0" y="5399802"/>
                  <a:pt x="0" y="5347236"/>
                </a:cubicBezTo>
                <a:lnTo>
                  <a:pt x="0" y="95243"/>
                </a:lnTo>
                <a:cubicBezTo>
                  <a:pt x="0" y="42677"/>
                  <a:pt x="42677" y="0"/>
                  <a:pt x="95243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9261" y="137054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6226" y="2915"/>
                </a:moveTo>
                <a:cubicBezTo>
                  <a:pt x="102350" y="-961"/>
                  <a:pt x="96056" y="-961"/>
                  <a:pt x="92180" y="2915"/>
                </a:cubicBezTo>
                <a:cubicBezTo>
                  <a:pt x="88305" y="6790"/>
                  <a:pt x="88305" y="13084"/>
                  <a:pt x="92180" y="16960"/>
                </a:cubicBezTo>
                <a:lnTo>
                  <a:pt x="95095" y="19844"/>
                </a:lnTo>
                <a:lnTo>
                  <a:pt x="8713" y="106226"/>
                </a:lnTo>
                <a:cubicBezTo>
                  <a:pt x="3132" y="111807"/>
                  <a:pt x="0" y="119373"/>
                  <a:pt x="0" y="127279"/>
                </a:cubicBezTo>
                <a:lnTo>
                  <a:pt x="0" y="128984"/>
                </a:lnTo>
                <a:cubicBezTo>
                  <a:pt x="0" y="145417"/>
                  <a:pt x="13333" y="158750"/>
                  <a:pt x="29766" y="158750"/>
                </a:cubicBezTo>
                <a:lnTo>
                  <a:pt x="31471" y="158750"/>
                </a:lnTo>
                <a:cubicBezTo>
                  <a:pt x="39377" y="158750"/>
                  <a:pt x="46943" y="155618"/>
                  <a:pt x="52524" y="150037"/>
                </a:cubicBezTo>
                <a:lnTo>
                  <a:pt x="138906" y="63655"/>
                </a:lnTo>
                <a:lnTo>
                  <a:pt x="141821" y="66570"/>
                </a:lnTo>
                <a:cubicBezTo>
                  <a:pt x="145697" y="70445"/>
                  <a:pt x="151991" y="70445"/>
                  <a:pt x="155866" y="66570"/>
                </a:cubicBezTo>
                <a:cubicBezTo>
                  <a:pt x="159742" y="62694"/>
                  <a:pt x="159742" y="56400"/>
                  <a:pt x="155866" y="52524"/>
                </a:cubicBezTo>
                <a:lnTo>
                  <a:pt x="106257" y="2915"/>
                </a:lnTo>
                <a:close/>
                <a:moveTo>
                  <a:pt x="63655" y="79375"/>
                </a:moveTo>
                <a:lnTo>
                  <a:pt x="109141" y="33889"/>
                </a:lnTo>
                <a:lnTo>
                  <a:pt x="124861" y="49609"/>
                </a:lnTo>
                <a:lnTo>
                  <a:pt x="95095" y="79375"/>
                </a:lnTo>
                <a:lnTo>
                  <a:pt x="63624" y="79375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41" name="Text 39"/>
          <p:cNvSpPr/>
          <p:nvPr/>
        </p:nvSpPr>
        <p:spPr>
          <a:xfrm>
            <a:off x="6537854" y="1338794"/>
            <a:ext cx="5254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重点功能模块测试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9417" y="1766512"/>
            <a:ext cx="5373688" cy="1508125"/>
          </a:xfrm>
          <a:custGeom>
            <a:avLst/>
            <a:gdLst/>
            <a:ahLst/>
            <a:cxnLst/>
            <a:rect l="l" t="t" r="r" b="b"/>
            <a:pathLst>
              <a:path w="5373688" h="1508125">
                <a:moveTo>
                  <a:pt x="63507" y="0"/>
                </a:moveTo>
                <a:lnTo>
                  <a:pt x="5310180" y="0"/>
                </a:lnTo>
                <a:cubicBezTo>
                  <a:pt x="5345254" y="0"/>
                  <a:pt x="5373688" y="28433"/>
                  <a:pt x="5373688" y="63507"/>
                </a:cubicBezTo>
                <a:lnTo>
                  <a:pt x="5373688" y="1444618"/>
                </a:lnTo>
                <a:cubicBezTo>
                  <a:pt x="5373688" y="1479692"/>
                  <a:pt x="5345254" y="1508125"/>
                  <a:pt x="5310180" y="1508125"/>
                </a:cubicBezTo>
                <a:lnTo>
                  <a:pt x="63507" y="1508125"/>
                </a:lnTo>
                <a:cubicBezTo>
                  <a:pt x="28433" y="1508125"/>
                  <a:pt x="0" y="1479692"/>
                  <a:pt x="0" y="1444618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466417" y="192526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44" name="Shape 42"/>
          <p:cNvSpPr/>
          <p:nvPr/>
        </p:nvSpPr>
        <p:spPr>
          <a:xfrm>
            <a:off x="6564643" y="201257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07156" y="142875"/>
                </a:moveTo>
                <a:lnTo>
                  <a:pt x="26789" y="142875"/>
                </a:lnTo>
                <a:cubicBezTo>
                  <a:pt x="11999" y="142875"/>
                  <a:pt x="0" y="130876"/>
                  <a:pt x="0" y="116086"/>
                </a:cubicBezTo>
                <a:lnTo>
                  <a:pt x="0" y="26789"/>
                </a:lnTo>
                <a:cubicBezTo>
                  <a:pt x="0" y="11999"/>
                  <a:pt x="11999" y="0"/>
                  <a:pt x="26789" y="0"/>
                </a:cubicBezTo>
                <a:lnTo>
                  <a:pt x="111621" y="0"/>
                </a:lnTo>
                <a:cubicBezTo>
                  <a:pt x="119016" y="0"/>
                  <a:pt x="125016" y="6000"/>
                  <a:pt x="125016" y="13395"/>
                </a:cubicBezTo>
                <a:lnTo>
                  <a:pt x="125016" y="93762"/>
                </a:lnTo>
                <a:cubicBezTo>
                  <a:pt x="125016" y="99594"/>
                  <a:pt x="121276" y="104561"/>
                  <a:pt x="116086" y="106403"/>
                </a:cubicBezTo>
                <a:lnTo>
                  <a:pt x="116086" y="125016"/>
                </a:lnTo>
                <a:cubicBezTo>
                  <a:pt x="121025" y="125016"/>
                  <a:pt x="125016" y="129006"/>
                  <a:pt x="125016" y="133945"/>
                </a:cubicBezTo>
                <a:cubicBezTo>
                  <a:pt x="125016" y="138885"/>
                  <a:pt x="121025" y="142875"/>
                  <a:pt x="116086" y="142875"/>
                </a:cubicBezTo>
                <a:lnTo>
                  <a:pt x="107156" y="142875"/>
                </a:lnTo>
                <a:close/>
                <a:moveTo>
                  <a:pt x="26789" y="107156"/>
                </a:moveTo>
                <a:cubicBezTo>
                  <a:pt x="21850" y="107156"/>
                  <a:pt x="17859" y="111147"/>
                  <a:pt x="17859" y="116086"/>
                </a:cubicBezTo>
                <a:cubicBezTo>
                  <a:pt x="17859" y="121025"/>
                  <a:pt x="21850" y="125016"/>
                  <a:pt x="26789" y="125016"/>
                </a:cubicBezTo>
                <a:lnTo>
                  <a:pt x="98227" y="125016"/>
                </a:lnTo>
                <a:lnTo>
                  <a:pt x="98227" y="107156"/>
                </a:lnTo>
                <a:lnTo>
                  <a:pt x="26789" y="107156"/>
                </a:lnTo>
                <a:close/>
                <a:moveTo>
                  <a:pt x="35719" y="42416"/>
                </a:moveTo>
                <a:cubicBezTo>
                  <a:pt x="35719" y="46127"/>
                  <a:pt x="38705" y="49113"/>
                  <a:pt x="42416" y="49113"/>
                </a:cubicBezTo>
                <a:lnTo>
                  <a:pt x="91529" y="49113"/>
                </a:lnTo>
                <a:cubicBezTo>
                  <a:pt x="95241" y="49113"/>
                  <a:pt x="98227" y="46127"/>
                  <a:pt x="98227" y="42416"/>
                </a:cubicBezTo>
                <a:cubicBezTo>
                  <a:pt x="98227" y="38705"/>
                  <a:pt x="95241" y="35719"/>
                  <a:pt x="91529" y="35719"/>
                </a:cubicBezTo>
                <a:lnTo>
                  <a:pt x="42416" y="35719"/>
                </a:lnTo>
                <a:cubicBezTo>
                  <a:pt x="38705" y="35719"/>
                  <a:pt x="35719" y="38705"/>
                  <a:pt x="35719" y="42416"/>
                </a:cubicBezTo>
                <a:close/>
                <a:moveTo>
                  <a:pt x="42416" y="62508"/>
                </a:moveTo>
                <a:cubicBezTo>
                  <a:pt x="38705" y="62508"/>
                  <a:pt x="35719" y="65494"/>
                  <a:pt x="35719" y="69205"/>
                </a:cubicBezTo>
                <a:cubicBezTo>
                  <a:pt x="35719" y="72916"/>
                  <a:pt x="38705" y="75902"/>
                  <a:pt x="42416" y="75902"/>
                </a:cubicBezTo>
                <a:lnTo>
                  <a:pt x="91529" y="75902"/>
                </a:lnTo>
                <a:cubicBezTo>
                  <a:pt x="95241" y="75902"/>
                  <a:pt x="98227" y="72916"/>
                  <a:pt x="98227" y="69205"/>
                </a:cubicBezTo>
                <a:cubicBezTo>
                  <a:pt x="98227" y="65494"/>
                  <a:pt x="95241" y="62508"/>
                  <a:pt x="91529" y="62508"/>
                </a:cubicBezTo>
                <a:lnTo>
                  <a:pt x="42416" y="62508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45" name="Text 43"/>
          <p:cNvSpPr/>
          <p:nvPr/>
        </p:nvSpPr>
        <p:spPr>
          <a:xfrm>
            <a:off x="6847417" y="1893512"/>
            <a:ext cx="1460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背单词功能测试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47417" y="2115762"/>
            <a:ext cx="14446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Vocabulary Module Testing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82292" y="239357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48" name="Text 46"/>
          <p:cNvSpPr/>
          <p:nvPr/>
        </p:nvSpPr>
        <p:spPr>
          <a:xfrm>
            <a:off x="6609292" y="2369762"/>
            <a:ext cx="5032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单词记忆功能：验证单词展示、学习状态更新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82292" y="259995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50" name="Text 48"/>
          <p:cNvSpPr/>
          <p:nvPr/>
        </p:nvSpPr>
        <p:spPr>
          <a:xfrm>
            <a:off x="6609292" y="2576137"/>
            <a:ext cx="5032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收藏功能：测试单词收藏、取消收藏、收藏列表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82292" y="280632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52" name="Text 50"/>
          <p:cNvSpPr/>
          <p:nvPr/>
        </p:nvSpPr>
        <p:spPr>
          <a:xfrm>
            <a:off x="6609292" y="2782512"/>
            <a:ext cx="5032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重复记忆：验证已记住单词的复习机制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82292" y="301270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54" name="Text 52"/>
          <p:cNvSpPr/>
          <p:nvPr/>
        </p:nvSpPr>
        <p:spPr>
          <a:xfrm>
            <a:off x="6609292" y="2988887"/>
            <a:ext cx="5032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进度统计：检查学习进度计算和展示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39417" y="3526901"/>
            <a:ext cx="5373688" cy="1301750"/>
          </a:xfrm>
          <a:custGeom>
            <a:avLst/>
            <a:gdLst/>
            <a:ahLst/>
            <a:cxnLst/>
            <a:rect l="l" t="t" r="r" b="b"/>
            <a:pathLst>
              <a:path w="5373688" h="1301750">
                <a:moveTo>
                  <a:pt x="63499" y="0"/>
                </a:moveTo>
                <a:lnTo>
                  <a:pt x="5310188" y="0"/>
                </a:lnTo>
                <a:cubicBezTo>
                  <a:pt x="5345258" y="0"/>
                  <a:pt x="5373688" y="28430"/>
                  <a:pt x="5373688" y="63499"/>
                </a:cubicBezTo>
                <a:lnTo>
                  <a:pt x="5373688" y="1238251"/>
                </a:lnTo>
                <a:cubicBezTo>
                  <a:pt x="5373688" y="1273320"/>
                  <a:pt x="5345258" y="1301750"/>
                  <a:pt x="5310188" y="1301750"/>
                </a:cubicBezTo>
                <a:lnTo>
                  <a:pt x="63499" y="1301750"/>
                </a:lnTo>
                <a:cubicBezTo>
                  <a:pt x="28430" y="1301750"/>
                  <a:pt x="0" y="1273320"/>
                  <a:pt x="0" y="1238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6466417" y="368565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57" name="Shape 55"/>
          <p:cNvSpPr/>
          <p:nvPr/>
        </p:nvSpPr>
        <p:spPr>
          <a:xfrm>
            <a:off x="6564643" y="377296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7859" y="62508"/>
                </a:moveTo>
                <a:cubicBezTo>
                  <a:pt x="17859" y="37840"/>
                  <a:pt x="37840" y="17859"/>
                  <a:pt x="62508" y="17859"/>
                </a:cubicBezTo>
                <a:cubicBezTo>
                  <a:pt x="87176" y="17859"/>
                  <a:pt x="107156" y="37840"/>
                  <a:pt x="107156" y="62508"/>
                </a:cubicBezTo>
                <a:lnTo>
                  <a:pt x="107156" y="72972"/>
                </a:lnTo>
                <a:cubicBezTo>
                  <a:pt x="104366" y="71996"/>
                  <a:pt x="101352" y="71438"/>
                  <a:pt x="98227" y="71438"/>
                </a:cubicBezTo>
                <a:lnTo>
                  <a:pt x="93762" y="71438"/>
                </a:lnTo>
                <a:cubicBezTo>
                  <a:pt x="86367" y="71438"/>
                  <a:pt x="80367" y="77437"/>
                  <a:pt x="80367" y="84832"/>
                </a:cubicBezTo>
                <a:lnTo>
                  <a:pt x="80367" y="120551"/>
                </a:lnTo>
                <a:cubicBezTo>
                  <a:pt x="80367" y="127946"/>
                  <a:pt x="86367" y="133945"/>
                  <a:pt x="93762" y="133945"/>
                </a:cubicBezTo>
                <a:lnTo>
                  <a:pt x="98227" y="133945"/>
                </a:lnTo>
                <a:cubicBezTo>
                  <a:pt x="113016" y="133945"/>
                  <a:pt x="125016" y="121946"/>
                  <a:pt x="125016" y="107156"/>
                </a:cubicBezTo>
                <a:lnTo>
                  <a:pt x="125016" y="62508"/>
                </a:lnTo>
                <a:cubicBezTo>
                  <a:pt x="125016" y="27989"/>
                  <a:pt x="97027" y="0"/>
                  <a:pt x="62508" y="0"/>
                </a:cubicBezTo>
                <a:cubicBezTo>
                  <a:pt x="27989" y="0"/>
                  <a:pt x="0" y="27989"/>
                  <a:pt x="0" y="62508"/>
                </a:cubicBezTo>
                <a:lnTo>
                  <a:pt x="0" y="107156"/>
                </a:lnTo>
                <a:cubicBezTo>
                  <a:pt x="0" y="121946"/>
                  <a:pt x="11999" y="133945"/>
                  <a:pt x="26789" y="133945"/>
                </a:cubicBezTo>
                <a:lnTo>
                  <a:pt x="31254" y="133945"/>
                </a:lnTo>
                <a:cubicBezTo>
                  <a:pt x="38649" y="133945"/>
                  <a:pt x="44648" y="127946"/>
                  <a:pt x="44648" y="120551"/>
                </a:cubicBezTo>
                <a:lnTo>
                  <a:pt x="44648" y="84832"/>
                </a:lnTo>
                <a:cubicBezTo>
                  <a:pt x="44648" y="77437"/>
                  <a:pt x="38649" y="71438"/>
                  <a:pt x="31254" y="71438"/>
                </a:cubicBezTo>
                <a:lnTo>
                  <a:pt x="26789" y="71438"/>
                </a:lnTo>
                <a:cubicBezTo>
                  <a:pt x="23664" y="71438"/>
                  <a:pt x="20650" y="71968"/>
                  <a:pt x="17859" y="72972"/>
                </a:cubicBezTo>
                <a:lnTo>
                  <a:pt x="17859" y="62508"/>
                </a:lnTo>
                <a:close/>
              </a:path>
            </a:pathLst>
          </a:custGeom>
          <a:solidFill>
            <a:srgbClr val="1A1D21"/>
          </a:solidFill>
        </p:spPr>
      </p:sp>
      <p:sp>
        <p:nvSpPr>
          <p:cNvPr id="58" name="Text 56"/>
          <p:cNvSpPr/>
          <p:nvPr/>
        </p:nvSpPr>
        <p:spPr>
          <a:xfrm>
            <a:off x="6847417" y="3653901"/>
            <a:ext cx="135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听力功能测试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47417" y="3876151"/>
            <a:ext cx="1341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Listening Module Testing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82292" y="415396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61" name="Text 59"/>
          <p:cNvSpPr/>
          <p:nvPr/>
        </p:nvSpPr>
        <p:spPr>
          <a:xfrm>
            <a:off x="6609292" y="4130151"/>
            <a:ext cx="5032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音频播放：验证听力文件加载、播放、暂停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482292" y="4360339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63" name="Text 61"/>
          <p:cNvSpPr/>
          <p:nvPr/>
        </p:nvSpPr>
        <p:spPr>
          <a:xfrm>
            <a:off x="6609292" y="4336526"/>
            <a:ext cx="5032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原文显示：检查听力原文对照展示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82292" y="456671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65" name="Text 63"/>
          <p:cNvSpPr/>
          <p:nvPr/>
        </p:nvSpPr>
        <p:spPr>
          <a:xfrm>
            <a:off x="6609292" y="4542901"/>
            <a:ext cx="5032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分级筛选：测试按年份和等级筛选功能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39417" y="5080829"/>
            <a:ext cx="5373688" cy="1301750"/>
          </a:xfrm>
          <a:custGeom>
            <a:avLst/>
            <a:gdLst/>
            <a:ahLst/>
            <a:cxnLst/>
            <a:rect l="l" t="t" r="r" b="b"/>
            <a:pathLst>
              <a:path w="5373688" h="1301750">
                <a:moveTo>
                  <a:pt x="63499" y="0"/>
                </a:moveTo>
                <a:lnTo>
                  <a:pt x="5310188" y="0"/>
                </a:lnTo>
                <a:cubicBezTo>
                  <a:pt x="5345258" y="0"/>
                  <a:pt x="5373688" y="28430"/>
                  <a:pt x="5373688" y="63499"/>
                </a:cubicBezTo>
                <a:lnTo>
                  <a:pt x="5373688" y="1238251"/>
                </a:lnTo>
                <a:cubicBezTo>
                  <a:pt x="5373688" y="1273320"/>
                  <a:pt x="5345258" y="1301750"/>
                  <a:pt x="5310188" y="1301750"/>
                </a:cubicBezTo>
                <a:lnTo>
                  <a:pt x="63499" y="1301750"/>
                </a:lnTo>
                <a:cubicBezTo>
                  <a:pt x="28430" y="1301750"/>
                  <a:pt x="0" y="1273320"/>
                  <a:pt x="0" y="1238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67" name="Shape 65"/>
          <p:cNvSpPr/>
          <p:nvPr/>
        </p:nvSpPr>
        <p:spPr>
          <a:xfrm>
            <a:off x="6466417" y="523957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68" name="Shape 66"/>
          <p:cNvSpPr/>
          <p:nvPr/>
        </p:nvSpPr>
        <p:spPr>
          <a:xfrm>
            <a:off x="6555714" y="5326892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39430"/>
                </a:moveTo>
                <a:lnTo>
                  <a:pt x="71438" y="125741"/>
                </a:lnTo>
                <a:lnTo>
                  <a:pt x="71577" y="125685"/>
                </a:lnTo>
                <a:cubicBezTo>
                  <a:pt x="86813" y="119351"/>
                  <a:pt x="103166" y="116086"/>
                  <a:pt x="119658" y="116086"/>
                </a:cubicBezTo>
                <a:lnTo>
                  <a:pt x="125016" y="116086"/>
                </a:lnTo>
                <a:lnTo>
                  <a:pt x="125016" y="26789"/>
                </a:lnTo>
                <a:lnTo>
                  <a:pt x="119658" y="26789"/>
                </a:lnTo>
                <a:cubicBezTo>
                  <a:pt x="107882" y="26789"/>
                  <a:pt x="96189" y="29133"/>
                  <a:pt x="85306" y="33654"/>
                </a:cubicBezTo>
                <a:cubicBezTo>
                  <a:pt x="80618" y="35607"/>
                  <a:pt x="75986" y="37533"/>
                  <a:pt x="71438" y="39430"/>
                </a:cubicBezTo>
                <a:close/>
                <a:moveTo>
                  <a:pt x="64433" y="17162"/>
                </a:moveTo>
                <a:lnTo>
                  <a:pt x="71438" y="20092"/>
                </a:lnTo>
                <a:lnTo>
                  <a:pt x="78442" y="17162"/>
                </a:lnTo>
                <a:cubicBezTo>
                  <a:pt x="91501" y="11720"/>
                  <a:pt x="105510" y="8930"/>
                  <a:pt x="119658" y="8930"/>
                </a:cubicBezTo>
                <a:lnTo>
                  <a:pt x="129480" y="8930"/>
                </a:lnTo>
                <a:cubicBezTo>
                  <a:pt x="136875" y="8930"/>
                  <a:pt x="142875" y="14929"/>
                  <a:pt x="142875" y="22324"/>
                </a:cubicBezTo>
                <a:lnTo>
                  <a:pt x="142875" y="120551"/>
                </a:lnTo>
                <a:cubicBezTo>
                  <a:pt x="142875" y="127946"/>
                  <a:pt x="136875" y="133945"/>
                  <a:pt x="129480" y="133945"/>
                </a:cubicBezTo>
                <a:lnTo>
                  <a:pt x="119658" y="133945"/>
                </a:lnTo>
                <a:cubicBezTo>
                  <a:pt x="105510" y="133945"/>
                  <a:pt x="91501" y="136736"/>
                  <a:pt x="78442" y="142177"/>
                </a:cubicBezTo>
                <a:lnTo>
                  <a:pt x="74870" y="143656"/>
                </a:lnTo>
                <a:cubicBezTo>
                  <a:pt x="72665" y="144577"/>
                  <a:pt x="70210" y="144577"/>
                  <a:pt x="68005" y="143656"/>
                </a:cubicBezTo>
                <a:lnTo>
                  <a:pt x="64433" y="142177"/>
                </a:lnTo>
                <a:cubicBezTo>
                  <a:pt x="51374" y="136736"/>
                  <a:pt x="37365" y="133945"/>
                  <a:pt x="23217" y="133945"/>
                </a:cubicBezTo>
                <a:lnTo>
                  <a:pt x="13395" y="133945"/>
                </a:lnTo>
                <a:cubicBezTo>
                  <a:pt x="6000" y="133945"/>
                  <a:pt x="0" y="127946"/>
                  <a:pt x="0" y="120551"/>
                </a:cubicBezTo>
                <a:lnTo>
                  <a:pt x="0" y="22324"/>
                </a:lnTo>
                <a:cubicBezTo>
                  <a:pt x="0" y="14929"/>
                  <a:pt x="6000" y="8930"/>
                  <a:pt x="13395" y="8930"/>
                </a:cubicBezTo>
                <a:lnTo>
                  <a:pt x="23217" y="8930"/>
                </a:lnTo>
                <a:cubicBezTo>
                  <a:pt x="37365" y="8930"/>
                  <a:pt x="51374" y="11720"/>
                  <a:pt x="64433" y="17162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69" name="Text 67"/>
          <p:cNvSpPr/>
          <p:nvPr/>
        </p:nvSpPr>
        <p:spPr>
          <a:xfrm>
            <a:off x="6847417" y="5207829"/>
            <a:ext cx="1309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看书功能测试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847417" y="5430079"/>
            <a:ext cx="1293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Reading Module Testing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482292" y="570789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2" name="Text 70"/>
          <p:cNvSpPr/>
          <p:nvPr/>
        </p:nvSpPr>
        <p:spPr>
          <a:xfrm>
            <a:off x="6609292" y="5684079"/>
            <a:ext cx="5032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书籍排版：验证Markdown渲染效果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482292" y="5914267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4" name="Text 72"/>
          <p:cNvSpPr/>
          <p:nvPr/>
        </p:nvSpPr>
        <p:spPr>
          <a:xfrm>
            <a:off x="6609292" y="5890454"/>
            <a:ext cx="5032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内容显示：检查书籍内容正常加载和展示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482292" y="612064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76" name="Text 74"/>
          <p:cNvSpPr/>
          <p:nvPr/>
        </p:nvSpPr>
        <p:spPr>
          <a:xfrm>
            <a:off x="6609292" y="6096829"/>
            <a:ext cx="5032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阅读体验：测试页面滚动和阅读流畅度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472" y="342472"/>
            <a:ext cx="11575551" cy="2054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kern="0" spc="108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MID-TERM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472" y="616449"/>
            <a:ext cx="11661169" cy="342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42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项目总结</a:t>
            </a:r>
            <a:r>
              <a:rPr lang="en-US" sz="242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与自我评估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472" y="1061663"/>
            <a:ext cx="821933" cy="34247"/>
          </a:xfrm>
          <a:custGeom>
            <a:avLst/>
            <a:gdLst/>
            <a:ahLst/>
            <a:cxnLst/>
            <a:rect l="l" t="t" r="r" b="b"/>
            <a:pathLst>
              <a:path w="821933" h="34247">
                <a:moveTo>
                  <a:pt x="0" y="0"/>
                </a:moveTo>
                <a:lnTo>
                  <a:pt x="821933" y="0"/>
                </a:lnTo>
                <a:lnTo>
                  <a:pt x="821933" y="34247"/>
                </a:lnTo>
                <a:lnTo>
                  <a:pt x="0" y="3424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5" name="Shape 3"/>
          <p:cNvSpPr/>
          <p:nvPr/>
        </p:nvSpPr>
        <p:spPr>
          <a:xfrm>
            <a:off x="345326" y="1270000"/>
            <a:ext cx="5665056" cy="3105079"/>
          </a:xfrm>
          <a:custGeom>
            <a:avLst/>
            <a:gdLst/>
            <a:ahLst/>
            <a:cxnLst/>
            <a:rect l="l" t="t" r="r" b="b"/>
            <a:pathLst>
              <a:path w="5665056" h="3105079">
                <a:moveTo>
                  <a:pt x="102747" y="0"/>
                </a:moveTo>
                <a:lnTo>
                  <a:pt x="5562309" y="0"/>
                </a:lnTo>
                <a:cubicBezTo>
                  <a:pt x="5619055" y="0"/>
                  <a:pt x="5665056" y="46001"/>
                  <a:pt x="5665056" y="102747"/>
                </a:cubicBezTo>
                <a:lnTo>
                  <a:pt x="5665056" y="3002332"/>
                </a:lnTo>
                <a:cubicBezTo>
                  <a:pt x="5665056" y="3059077"/>
                  <a:pt x="5619055" y="3105079"/>
                  <a:pt x="5562309" y="3105079"/>
                </a:cubicBezTo>
                <a:lnTo>
                  <a:pt x="102747" y="3105079"/>
                </a:lnTo>
                <a:cubicBezTo>
                  <a:pt x="46001" y="3105079"/>
                  <a:pt x="0" y="3059077"/>
                  <a:pt x="0" y="3002332"/>
                </a:cubicBezTo>
                <a:lnTo>
                  <a:pt x="0" y="102747"/>
                </a:lnTo>
                <a:cubicBezTo>
                  <a:pt x="0" y="46039"/>
                  <a:pt x="46039" y="0"/>
                  <a:pt x="102747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9416" y="1444093"/>
            <a:ext cx="410966" cy="410966"/>
          </a:xfrm>
          <a:custGeom>
            <a:avLst/>
            <a:gdLst/>
            <a:ahLst/>
            <a:cxnLst/>
            <a:rect l="l" t="t" r="r" b="b"/>
            <a:pathLst>
              <a:path w="410966" h="410966">
                <a:moveTo>
                  <a:pt x="68496" y="0"/>
                </a:moveTo>
                <a:lnTo>
                  <a:pt x="342471" y="0"/>
                </a:lnTo>
                <a:cubicBezTo>
                  <a:pt x="380274" y="0"/>
                  <a:pt x="410966" y="30692"/>
                  <a:pt x="410966" y="68496"/>
                </a:cubicBezTo>
                <a:lnTo>
                  <a:pt x="410966" y="342471"/>
                </a:lnTo>
                <a:cubicBezTo>
                  <a:pt x="410966" y="380274"/>
                  <a:pt x="380274" y="410966"/>
                  <a:pt x="342471" y="410966"/>
                </a:cubicBezTo>
                <a:lnTo>
                  <a:pt x="68496" y="410966"/>
                </a:lnTo>
                <a:cubicBezTo>
                  <a:pt x="30692" y="410966"/>
                  <a:pt x="0" y="380274"/>
                  <a:pt x="0" y="342471"/>
                </a:cubicBezTo>
                <a:lnTo>
                  <a:pt x="0" y="68496"/>
                </a:lnTo>
                <a:cubicBezTo>
                  <a:pt x="0" y="30692"/>
                  <a:pt x="30692" y="0"/>
                  <a:pt x="68496" y="0"/>
                </a:cubicBezTo>
                <a:close/>
              </a:path>
            </a:pathLst>
          </a:custGeom>
          <a:gradFill flip="none" rotWithShape="1">
            <a:gsLst>
              <a:gs pos="0">
                <a:srgbClr val="EF4444"/>
              </a:gs>
              <a:gs pos="100000">
                <a:srgbClr val="DC2626"/>
              </a:gs>
            </a:gsLst>
            <a:lin ang="2700000" scaled="1"/>
          </a:gradFill>
        </p:spPr>
      </p:sp>
      <p:sp>
        <p:nvSpPr>
          <p:cNvPr id="7" name="Shape 5"/>
          <p:cNvSpPr/>
          <p:nvPr/>
        </p:nvSpPr>
        <p:spPr>
          <a:xfrm>
            <a:off x="639281" y="1563958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85618" y="171236"/>
                </a:moveTo>
                <a:cubicBezTo>
                  <a:pt x="132872" y="171236"/>
                  <a:pt x="171236" y="132872"/>
                  <a:pt x="171236" y="85618"/>
                </a:cubicBezTo>
                <a:cubicBezTo>
                  <a:pt x="171236" y="38364"/>
                  <a:pt x="132872" y="0"/>
                  <a:pt x="85618" y="0"/>
                </a:cubicBezTo>
                <a:cubicBezTo>
                  <a:pt x="38364" y="0"/>
                  <a:pt x="0" y="38364"/>
                  <a:pt x="0" y="85618"/>
                </a:cubicBezTo>
                <a:cubicBezTo>
                  <a:pt x="0" y="132872"/>
                  <a:pt x="38364" y="171236"/>
                  <a:pt x="85618" y="171236"/>
                </a:cubicBezTo>
                <a:close/>
                <a:moveTo>
                  <a:pt x="85618" y="45485"/>
                </a:moveTo>
                <a:cubicBezTo>
                  <a:pt x="90066" y="45485"/>
                  <a:pt x="93645" y="49063"/>
                  <a:pt x="93645" y="53511"/>
                </a:cubicBezTo>
                <a:lnTo>
                  <a:pt x="93645" y="90969"/>
                </a:lnTo>
                <a:cubicBezTo>
                  <a:pt x="93645" y="95417"/>
                  <a:pt x="90066" y="98996"/>
                  <a:pt x="85618" y="98996"/>
                </a:cubicBezTo>
                <a:cubicBezTo>
                  <a:pt x="81170" y="98996"/>
                  <a:pt x="77591" y="95417"/>
                  <a:pt x="77591" y="90969"/>
                </a:cubicBezTo>
                <a:lnTo>
                  <a:pt x="77591" y="53511"/>
                </a:lnTo>
                <a:cubicBezTo>
                  <a:pt x="77591" y="49063"/>
                  <a:pt x="81170" y="45485"/>
                  <a:pt x="85618" y="45485"/>
                </a:cubicBezTo>
                <a:close/>
                <a:moveTo>
                  <a:pt x="76688" y="117725"/>
                </a:moveTo>
                <a:cubicBezTo>
                  <a:pt x="76485" y="114410"/>
                  <a:pt x="78138" y="111257"/>
                  <a:pt x="80980" y="109538"/>
                </a:cubicBezTo>
                <a:cubicBezTo>
                  <a:pt x="83821" y="107819"/>
                  <a:pt x="87382" y="107819"/>
                  <a:pt x="90223" y="109538"/>
                </a:cubicBezTo>
                <a:cubicBezTo>
                  <a:pt x="93064" y="111257"/>
                  <a:pt x="94717" y="114410"/>
                  <a:pt x="94514" y="117725"/>
                </a:cubicBezTo>
                <a:cubicBezTo>
                  <a:pt x="94717" y="121039"/>
                  <a:pt x="93064" y="124193"/>
                  <a:pt x="90223" y="125912"/>
                </a:cubicBezTo>
                <a:cubicBezTo>
                  <a:pt x="87382" y="127630"/>
                  <a:pt x="83821" y="127630"/>
                  <a:pt x="80980" y="125912"/>
                </a:cubicBezTo>
                <a:cubicBezTo>
                  <a:pt x="78138" y="124193"/>
                  <a:pt x="76485" y="121039"/>
                  <a:pt x="76688" y="1177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033124" y="1512587"/>
            <a:ext cx="1130157" cy="273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遇到的问题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6539" y="2004890"/>
            <a:ext cx="5299753" cy="1027416"/>
          </a:xfrm>
          <a:custGeom>
            <a:avLst/>
            <a:gdLst/>
            <a:ahLst/>
            <a:cxnLst/>
            <a:rect l="l" t="t" r="r" b="b"/>
            <a:pathLst>
              <a:path w="5299753" h="1027416">
                <a:moveTo>
                  <a:pt x="34247" y="0"/>
                </a:moveTo>
                <a:lnTo>
                  <a:pt x="5231255" y="0"/>
                </a:lnTo>
                <a:cubicBezTo>
                  <a:pt x="5269060" y="0"/>
                  <a:pt x="5299753" y="30693"/>
                  <a:pt x="5299753" y="68498"/>
                </a:cubicBezTo>
                <a:lnTo>
                  <a:pt x="5299753" y="958918"/>
                </a:lnTo>
                <a:cubicBezTo>
                  <a:pt x="5299753" y="996748"/>
                  <a:pt x="5269085" y="1027416"/>
                  <a:pt x="5231255" y="1027416"/>
                </a:cubicBezTo>
                <a:lnTo>
                  <a:pt x="34247" y="1027416"/>
                </a:lnTo>
                <a:cubicBezTo>
                  <a:pt x="15333" y="1027416"/>
                  <a:pt x="0" y="1012083"/>
                  <a:pt x="0" y="993169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36539" y="2004890"/>
            <a:ext cx="34247" cy="1027416"/>
          </a:xfrm>
          <a:custGeom>
            <a:avLst/>
            <a:gdLst/>
            <a:ahLst/>
            <a:cxnLst/>
            <a:rect l="l" t="t" r="r" b="b"/>
            <a:pathLst>
              <a:path w="34247" h="1027416">
                <a:moveTo>
                  <a:pt x="34247" y="0"/>
                </a:moveTo>
                <a:lnTo>
                  <a:pt x="34247" y="0"/>
                </a:lnTo>
                <a:lnTo>
                  <a:pt x="34247" y="1027416"/>
                </a:lnTo>
                <a:lnTo>
                  <a:pt x="34247" y="1027416"/>
                </a:lnTo>
                <a:cubicBezTo>
                  <a:pt x="15333" y="1027416"/>
                  <a:pt x="0" y="1012083"/>
                  <a:pt x="0" y="993169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EF4444"/>
          </a:solidFill>
        </p:spPr>
      </p:sp>
      <p:sp>
        <p:nvSpPr>
          <p:cNvPr id="11" name="Shape 9"/>
          <p:cNvSpPr/>
          <p:nvPr/>
        </p:nvSpPr>
        <p:spPr>
          <a:xfrm>
            <a:off x="699214" y="2193250"/>
            <a:ext cx="154112" cy="136989"/>
          </a:xfrm>
          <a:custGeom>
            <a:avLst/>
            <a:gdLst/>
            <a:ahLst/>
            <a:cxnLst/>
            <a:rect l="l" t="t" r="r" b="b"/>
            <a:pathLst>
              <a:path w="154112" h="136989">
                <a:moveTo>
                  <a:pt x="128561" y="2756"/>
                </a:moveTo>
                <a:lnTo>
                  <a:pt x="69324" y="42274"/>
                </a:lnTo>
                <a:cubicBezTo>
                  <a:pt x="61538" y="47464"/>
                  <a:pt x="56588" y="55892"/>
                  <a:pt x="55785" y="65096"/>
                </a:cubicBezTo>
                <a:cubicBezTo>
                  <a:pt x="72454" y="68521"/>
                  <a:pt x="85591" y="81658"/>
                  <a:pt x="89043" y="98354"/>
                </a:cubicBezTo>
                <a:cubicBezTo>
                  <a:pt x="98273" y="97551"/>
                  <a:pt x="106675" y="92601"/>
                  <a:pt x="111865" y="84815"/>
                </a:cubicBezTo>
                <a:lnTo>
                  <a:pt x="151357" y="25552"/>
                </a:lnTo>
                <a:cubicBezTo>
                  <a:pt x="153149" y="22849"/>
                  <a:pt x="154112" y="19692"/>
                  <a:pt x="154112" y="16428"/>
                </a:cubicBezTo>
                <a:cubicBezTo>
                  <a:pt x="154112" y="7358"/>
                  <a:pt x="146755" y="0"/>
                  <a:pt x="137684" y="0"/>
                </a:cubicBezTo>
                <a:cubicBezTo>
                  <a:pt x="134447" y="0"/>
                  <a:pt x="131263" y="963"/>
                  <a:pt x="128561" y="2756"/>
                </a:cubicBezTo>
                <a:close/>
                <a:moveTo>
                  <a:pt x="77056" y="107022"/>
                </a:moveTo>
                <a:cubicBezTo>
                  <a:pt x="77056" y="90461"/>
                  <a:pt x="63652" y="77056"/>
                  <a:pt x="47090" y="77056"/>
                </a:cubicBezTo>
                <a:cubicBezTo>
                  <a:pt x="30528" y="77056"/>
                  <a:pt x="17124" y="90461"/>
                  <a:pt x="17124" y="107022"/>
                </a:cubicBezTo>
                <a:cubicBezTo>
                  <a:pt x="17124" y="108066"/>
                  <a:pt x="17177" y="109109"/>
                  <a:pt x="17284" y="110126"/>
                </a:cubicBezTo>
                <a:cubicBezTo>
                  <a:pt x="17766" y="114808"/>
                  <a:pt x="14555" y="119865"/>
                  <a:pt x="9846" y="119865"/>
                </a:cubicBezTo>
                <a:lnTo>
                  <a:pt x="8562" y="119865"/>
                </a:lnTo>
                <a:cubicBezTo>
                  <a:pt x="3826" y="119865"/>
                  <a:pt x="0" y="123691"/>
                  <a:pt x="0" y="128427"/>
                </a:cubicBezTo>
                <a:cubicBezTo>
                  <a:pt x="0" y="133163"/>
                  <a:pt x="3826" y="136989"/>
                  <a:pt x="8562" y="136989"/>
                </a:cubicBezTo>
                <a:lnTo>
                  <a:pt x="47090" y="136989"/>
                </a:lnTo>
                <a:cubicBezTo>
                  <a:pt x="63652" y="136989"/>
                  <a:pt x="77056" y="123584"/>
                  <a:pt x="77056" y="107022"/>
                </a:cubicBezTo>
                <a:close/>
              </a:path>
            </a:pathLst>
          </a:custGeom>
          <a:solidFill>
            <a:srgbClr val="EF4444"/>
          </a:solidFill>
        </p:spPr>
      </p:sp>
      <p:sp>
        <p:nvSpPr>
          <p:cNvPr id="12" name="Text 10"/>
          <p:cNvSpPr/>
          <p:nvPr/>
        </p:nvSpPr>
        <p:spPr>
          <a:xfrm>
            <a:off x="930382" y="2141879"/>
            <a:ext cx="1001730" cy="239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前端页面编写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652" y="2450104"/>
            <a:ext cx="5077146" cy="4452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缺乏前端开发经验，对HTML/CSS/JavaScript掌握不够深入，页面布局和样式设计能力有待提升，难以实现美观且响应式的用户界面。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6539" y="3160733"/>
            <a:ext cx="5299753" cy="1027416"/>
          </a:xfrm>
          <a:custGeom>
            <a:avLst/>
            <a:gdLst/>
            <a:ahLst/>
            <a:cxnLst/>
            <a:rect l="l" t="t" r="r" b="b"/>
            <a:pathLst>
              <a:path w="5299753" h="1027416">
                <a:moveTo>
                  <a:pt x="34247" y="0"/>
                </a:moveTo>
                <a:lnTo>
                  <a:pt x="5231255" y="0"/>
                </a:lnTo>
                <a:cubicBezTo>
                  <a:pt x="5269060" y="0"/>
                  <a:pt x="5299753" y="30693"/>
                  <a:pt x="5299753" y="68498"/>
                </a:cubicBezTo>
                <a:lnTo>
                  <a:pt x="5299753" y="958918"/>
                </a:lnTo>
                <a:cubicBezTo>
                  <a:pt x="5299753" y="996748"/>
                  <a:pt x="5269085" y="1027416"/>
                  <a:pt x="5231255" y="1027416"/>
                </a:cubicBezTo>
                <a:lnTo>
                  <a:pt x="34247" y="1027416"/>
                </a:lnTo>
                <a:cubicBezTo>
                  <a:pt x="15333" y="1027416"/>
                  <a:pt x="0" y="1012083"/>
                  <a:pt x="0" y="993169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536539" y="3160733"/>
            <a:ext cx="34247" cy="1027416"/>
          </a:xfrm>
          <a:custGeom>
            <a:avLst/>
            <a:gdLst/>
            <a:ahLst/>
            <a:cxnLst/>
            <a:rect l="l" t="t" r="r" b="b"/>
            <a:pathLst>
              <a:path w="34247" h="1027416">
                <a:moveTo>
                  <a:pt x="34247" y="0"/>
                </a:moveTo>
                <a:lnTo>
                  <a:pt x="34247" y="0"/>
                </a:lnTo>
                <a:lnTo>
                  <a:pt x="34247" y="1027416"/>
                </a:lnTo>
                <a:lnTo>
                  <a:pt x="34247" y="1027416"/>
                </a:lnTo>
                <a:cubicBezTo>
                  <a:pt x="15333" y="1027416"/>
                  <a:pt x="0" y="1012083"/>
                  <a:pt x="0" y="993169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EF4444"/>
          </a:solidFill>
        </p:spPr>
      </p:sp>
      <p:sp>
        <p:nvSpPr>
          <p:cNvPr id="16" name="Shape 14"/>
          <p:cNvSpPr/>
          <p:nvPr/>
        </p:nvSpPr>
        <p:spPr>
          <a:xfrm>
            <a:off x="707775" y="3349093"/>
            <a:ext cx="136989" cy="136989"/>
          </a:xfrm>
          <a:custGeom>
            <a:avLst/>
            <a:gdLst/>
            <a:ahLst/>
            <a:cxnLst/>
            <a:rect l="l" t="t" r="r" b="b"/>
            <a:pathLst>
              <a:path w="136989" h="136989">
                <a:moveTo>
                  <a:pt x="12843" y="17124"/>
                </a:moveTo>
                <a:cubicBezTo>
                  <a:pt x="5752" y="17124"/>
                  <a:pt x="0" y="22876"/>
                  <a:pt x="0" y="29966"/>
                </a:cubicBezTo>
                <a:cubicBezTo>
                  <a:pt x="0" y="34006"/>
                  <a:pt x="1900" y="37806"/>
                  <a:pt x="5137" y="40240"/>
                </a:cubicBezTo>
                <a:lnTo>
                  <a:pt x="60789" y="81979"/>
                </a:lnTo>
                <a:cubicBezTo>
                  <a:pt x="65364" y="85404"/>
                  <a:pt x="71625" y="85404"/>
                  <a:pt x="76200" y="81979"/>
                </a:cubicBezTo>
                <a:lnTo>
                  <a:pt x="131852" y="40240"/>
                </a:lnTo>
                <a:cubicBezTo>
                  <a:pt x="135089" y="37806"/>
                  <a:pt x="136989" y="34006"/>
                  <a:pt x="136989" y="29966"/>
                </a:cubicBezTo>
                <a:cubicBezTo>
                  <a:pt x="136989" y="22876"/>
                  <a:pt x="131236" y="17124"/>
                  <a:pt x="124146" y="17124"/>
                </a:cubicBezTo>
                <a:lnTo>
                  <a:pt x="12843" y="17124"/>
                </a:lnTo>
                <a:close/>
                <a:moveTo>
                  <a:pt x="0" y="52441"/>
                </a:moveTo>
                <a:lnTo>
                  <a:pt x="0" y="102742"/>
                </a:lnTo>
                <a:cubicBezTo>
                  <a:pt x="0" y="112186"/>
                  <a:pt x="7679" y="119865"/>
                  <a:pt x="17124" y="119865"/>
                </a:cubicBezTo>
                <a:lnTo>
                  <a:pt x="119865" y="119865"/>
                </a:lnTo>
                <a:cubicBezTo>
                  <a:pt x="129310" y="119865"/>
                  <a:pt x="136989" y="112186"/>
                  <a:pt x="136989" y="102742"/>
                </a:cubicBezTo>
                <a:lnTo>
                  <a:pt x="136989" y="52441"/>
                </a:lnTo>
                <a:lnTo>
                  <a:pt x="83906" y="92253"/>
                </a:lnTo>
                <a:cubicBezTo>
                  <a:pt x="74782" y="99103"/>
                  <a:pt x="62207" y="99103"/>
                  <a:pt x="53083" y="92253"/>
                </a:cubicBezTo>
                <a:lnTo>
                  <a:pt x="0" y="52441"/>
                </a:lnTo>
                <a:close/>
              </a:path>
            </a:pathLst>
          </a:custGeom>
          <a:solidFill>
            <a:srgbClr val="EF4444"/>
          </a:solidFill>
        </p:spPr>
      </p:sp>
      <p:sp>
        <p:nvSpPr>
          <p:cNvPr id="17" name="Text 15"/>
          <p:cNvSpPr/>
          <p:nvPr/>
        </p:nvSpPr>
        <p:spPr>
          <a:xfrm>
            <a:off x="930382" y="3297722"/>
            <a:ext cx="1001730" cy="239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邮箱注册功能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652" y="3605947"/>
            <a:ext cx="5077146" cy="4452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邮箱激活功能的实现较为复杂，涉及邮件服务器配置、激活码生成与验证、异步邮件发送等技术点，对邮件协议和Spring Mail模块不够熟悉。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2151" y="4374902"/>
            <a:ext cx="5665056" cy="2334517"/>
          </a:xfrm>
          <a:custGeom>
            <a:avLst/>
            <a:gdLst/>
            <a:ahLst/>
            <a:cxnLst/>
            <a:rect l="l" t="t" r="r" b="b"/>
            <a:pathLst>
              <a:path w="5665056" h="2334517">
                <a:moveTo>
                  <a:pt x="102742" y="0"/>
                </a:moveTo>
                <a:lnTo>
                  <a:pt x="5562314" y="0"/>
                </a:lnTo>
                <a:cubicBezTo>
                  <a:pt x="5619057" y="0"/>
                  <a:pt x="5665056" y="45999"/>
                  <a:pt x="5665056" y="102742"/>
                </a:cubicBezTo>
                <a:lnTo>
                  <a:pt x="5665056" y="2231775"/>
                </a:lnTo>
                <a:cubicBezTo>
                  <a:pt x="5665056" y="2288518"/>
                  <a:pt x="5619057" y="2334517"/>
                  <a:pt x="5562314" y="2334517"/>
                </a:cubicBezTo>
                <a:lnTo>
                  <a:pt x="102742" y="2334517"/>
                </a:lnTo>
                <a:cubicBezTo>
                  <a:pt x="45999" y="2334517"/>
                  <a:pt x="0" y="2288518"/>
                  <a:pt x="0" y="2231775"/>
                </a:cubicBezTo>
                <a:lnTo>
                  <a:pt x="0" y="102742"/>
                </a:lnTo>
                <a:cubicBezTo>
                  <a:pt x="0" y="46037"/>
                  <a:pt x="46037" y="0"/>
                  <a:pt x="102742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416" y="4691865"/>
            <a:ext cx="410966" cy="410966"/>
          </a:xfrm>
          <a:custGeom>
            <a:avLst/>
            <a:gdLst/>
            <a:ahLst/>
            <a:cxnLst/>
            <a:rect l="l" t="t" r="r" b="b"/>
            <a:pathLst>
              <a:path w="410966" h="410966">
                <a:moveTo>
                  <a:pt x="68496" y="0"/>
                </a:moveTo>
                <a:lnTo>
                  <a:pt x="342471" y="0"/>
                </a:lnTo>
                <a:cubicBezTo>
                  <a:pt x="380274" y="0"/>
                  <a:pt x="410966" y="30692"/>
                  <a:pt x="410966" y="68496"/>
                </a:cubicBezTo>
                <a:lnTo>
                  <a:pt x="410966" y="342471"/>
                </a:lnTo>
                <a:cubicBezTo>
                  <a:pt x="410966" y="380274"/>
                  <a:pt x="380274" y="410966"/>
                  <a:pt x="342471" y="410966"/>
                </a:cubicBezTo>
                <a:lnTo>
                  <a:pt x="68496" y="410966"/>
                </a:lnTo>
                <a:cubicBezTo>
                  <a:pt x="30692" y="410966"/>
                  <a:pt x="0" y="380274"/>
                  <a:pt x="0" y="342471"/>
                </a:cubicBezTo>
                <a:lnTo>
                  <a:pt x="0" y="68496"/>
                </a:lnTo>
                <a:cubicBezTo>
                  <a:pt x="0" y="30692"/>
                  <a:pt x="30692" y="0"/>
                  <a:pt x="684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2700000" scaled="1"/>
          </a:gradFill>
        </p:spPr>
      </p:sp>
      <p:sp>
        <p:nvSpPr>
          <p:cNvPr id="21" name="Shape 19"/>
          <p:cNvSpPr/>
          <p:nvPr/>
        </p:nvSpPr>
        <p:spPr>
          <a:xfrm>
            <a:off x="660685" y="4811730"/>
            <a:ext cx="128427" cy="171236"/>
          </a:xfrm>
          <a:custGeom>
            <a:avLst/>
            <a:gdLst/>
            <a:ahLst/>
            <a:cxnLst/>
            <a:rect l="l" t="t" r="r" b="b"/>
            <a:pathLst>
              <a:path w="128427" h="171236">
                <a:moveTo>
                  <a:pt x="97959" y="128427"/>
                </a:moveTo>
                <a:cubicBezTo>
                  <a:pt x="100400" y="120969"/>
                  <a:pt x="105283" y="114213"/>
                  <a:pt x="110802" y="108394"/>
                </a:cubicBezTo>
                <a:cubicBezTo>
                  <a:pt x="121738" y="96889"/>
                  <a:pt x="128427" y="81337"/>
                  <a:pt x="128427" y="64213"/>
                </a:cubicBezTo>
                <a:cubicBezTo>
                  <a:pt x="128427" y="28762"/>
                  <a:pt x="99665" y="0"/>
                  <a:pt x="64213" y="0"/>
                </a:cubicBezTo>
                <a:cubicBezTo>
                  <a:pt x="28762" y="0"/>
                  <a:pt x="0" y="28762"/>
                  <a:pt x="0" y="64213"/>
                </a:cubicBezTo>
                <a:cubicBezTo>
                  <a:pt x="0" y="81337"/>
                  <a:pt x="6689" y="96889"/>
                  <a:pt x="17625" y="108394"/>
                </a:cubicBezTo>
                <a:cubicBezTo>
                  <a:pt x="23144" y="114213"/>
                  <a:pt x="28060" y="120969"/>
                  <a:pt x="30468" y="128427"/>
                </a:cubicBezTo>
                <a:lnTo>
                  <a:pt x="97926" y="128427"/>
                </a:lnTo>
                <a:close/>
                <a:moveTo>
                  <a:pt x="96320" y="144480"/>
                </a:moveTo>
                <a:lnTo>
                  <a:pt x="32107" y="144480"/>
                </a:lnTo>
                <a:lnTo>
                  <a:pt x="32107" y="149831"/>
                </a:lnTo>
                <a:cubicBezTo>
                  <a:pt x="32107" y="164614"/>
                  <a:pt x="44080" y="176587"/>
                  <a:pt x="58862" y="176587"/>
                </a:cubicBezTo>
                <a:lnTo>
                  <a:pt x="69565" y="176587"/>
                </a:lnTo>
                <a:cubicBezTo>
                  <a:pt x="84347" y="176587"/>
                  <a:pt x="96320" y="164614"/>
                  <a:pt x="96320" y="149831"/>
                </a:cubicBezTo>
                <a:lnTo>
                  <a:pt x="96320" y="144480"/>
                </a:lnTo>
                <a:close/>
                <a:moveTo>
                  <a:pt x="61538" y="37458"/>
                </a:moveTo>
                <a:cubicBezTo>
                  <a:pt x="48227" y="37458"/>
                  <a:pt x="37458" y="48227"/>
                  <a:pt x="37458" y="61538"/>
                </a:cubicBezTo>
                <a:cubicBezTo>
                  <a:pt x="37458" y="65986"/>
                  <a:pt x="33879" y="69565"/>
                  <a:pt x="29431" y="69565"/>
                </a:cubicBezTo>
                <a:cubicBezTo>
                  <a:pt x="24983" y="69565"/>
                  <a:pt x="21404" y="65986"/>
                  <a:pt x="21404" y="61538"/>
                </a:cubicBezTo>
                <a:cubicBezTo>
                  <a:pt x="21404" y="39364"/>
                  <a:pt x="39364" y="21404"/>
                  <a:pt x="61538" y="21404"/>
                </a:cubicBezTo>
                <a:cubicBezTo>
                  <a:pt x="65986" y="21404"/>
                  <a:pt x="69565" y="24983"/>
                  <a:pt x="69565" y="29431"/>
                </a:cubicBezTo>
                <a:cubicBezTo>
                  <a:pt x="69565" y="33879"/>
                  <a:pt x="65986" y="37458"/>
                  <a:pt x="61538" y="37458"/>
                </a:cubicBezTo>
                <a:close/>
              </a:path>
            </a:pathLst>
          </a:custGeom>
          <a:solidFill>
            <a:srgbClr val="1A1D21"/>
          </a:solidFill>
        </p:spPr>
      </p:sp>
      <p:sp>
        <p:nvSpPr>
          <p:cNvPr id="22" name="Text 20"/>
          <p:cNvSpPr/>
          <p:nvPr/>
        </p:nvSpPr>
        <p:spPr>
          <a:xfrm>
            <a:off x="1033124" y="4760360"/>
            <a:ext cx="924674" cy="273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9416" y="5256944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68494" y="0"/>
                </a:moveTo>
                <a:lnTo>
                  <a:pt x="205483" y="0"/>
                </a:lnTo>
                <a:cubicBezTo>
                  <a:pt x="243286" y="0"/>
                  <a:pt x="273978" y="30691"/>
                  <a:pt x="273978" y="68494"/>
                </a:cubicBezTo>
                <a:lnTo>
                  <a:pt x="273978" y="205483"/>
                </a:lnTo>
                <a:cubicBezTo>
                  <a:pt x="273978" y="243312"/>
                  <a:pt x="243312" y="273978"/>
                  <a:pt x="205483" y="273978"/>
                </a:cubicBezTo>
                <a:lnTo>
                  <a:pt x="68494" y="273978"/>
                </a:lnTo>
                <a:cubicBezTo>
                  <a:pt x="30691" y="273978"/>
                  <a:pt x="0" y="243286"/>
                  <a:pt x="0" y="205483"/>
                </a:cubicBezTo>
                <a:lnTo>
                  <a:pt x="0" y="68494"/>
                </a:lnTo>
                <a:cubicBezTo>
                  <a:pt x="0" y="30666"/>
                  <a:pt x="30666" y="0"/>
                  <a:pt x="68494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596472" y="5325438"/>
            <a:ext cx="119865" cy="136989"/>
          </a:xfrm>
          <a:custGeom>
            <a:avLst/>
            <a:gdLst/>
            <a:ahLst/>
            <a:cxnLst/>
            <a:rect l="l" t="t" r="r" b="b"/>
            <a:pathLst>
              <a:path w="119865" h="136989">
                <a:moveTo>
                  <a:pt x="116333" y="18756"/>
                </a:moveTo>
                <a:cubicBezTo>
                  <a:pt x="120159" y="21538"/>
                  <a:pt x="121016" y="26889"/>
                  <a:pt x="118233" y="30715"/>
                </a:cubicBezTo>
                <a:lnTo>
                  <a:pt x="49739" y="124895"/>
                </a:lnTo>
                <a:cubicBezTo>
                  <a:pt x="48267" y="126929"/>
                  <a:pt x="45993" y="128186"/>
                  <a:pt x="43478" y="128400"/>
                </a:cubicBezTo>
                <a:cubicBezTo>
                  <a:pt x="40963" y="128614"/>
                  <a:pt x="38528" y="127678"/>
                  <a:pt x="36762" y="125912"/>
                </a:cubicBezTo>
                <a:lnTo>
                  <a:pt x="2515" y="91665"/>
                </a:lnTo>
                <a:cubicBezTo>
                  <a:pt x="-829" y="88320"/>
                  <a:pt x="-829" y="82889"/>
                  <a:pt x="2515" y="79544"/>
                </a:cubicBezTo>
                <a:cubicBezTo>
                  <a:pt x="5859" y="76200"/>
                  <a:pt x="11291" y="76200"/>
                  <a:pt x="14635" y="79544"/>
                </a:cubicBezTo>
                <a:lnTo>
                  <a:pt x="41792" y="106701"/>
                </a:lnTo>
                <a:lnTo>
                  <a:pt x="104400" y="20629"/>
                </a:lnTo>
                <a:cubicBezTo>
                  <a:pt x="107183" y="16803"/>
                  <a:pt x="112534" y="15946"/>
                  <a:pt x="116360" y="18729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5" name="Text 23"/>
          <p:cNvSpPr/>
          <p:nvPr/>
        </p:nvSpPr>
        <p:spPr>
          <a:xfrm>
            <a:off x="896135" y="5239820"/>
            <a:ext cx="4186719" cy="2054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引入UI组件库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6135" y="5479551"/>
            <a:ext cx="4178157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通过引入Bootstrap等成熟UI框架，快速构建响应式页面，减少手写CSS工作量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9416" y="5770652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68494" y="0"/>
                </a:moveTo>
                <a:lnTo>
                  <a:pt x="205483" y="0"/>
                </a:lnTo>
                <a:cubicBezTo>
                  <a:pt x="243286" y="0"/>
                  <a:pt x="273978" y="30691"/>
                  <a:pt x="273978" y="68494"/>
                </a:cubicBezTo>
                <a:lnTo>
                  <a:pt x="273978" y="205483"/>
                </a:lnTo>
                <a:cubicBezTo>
                  <a:pt x="273978" y="243312"/>
                  <a:pt x="243312" y="273978"/>
                  <a:pt x="205483" y="273978"/>
                </a:cubicBezTo>
                <a:lnTo>
                  <a:pt x="68494" y="273978"/>
                </a:lnTo>
                <a:cubicBezTo>
                  <a:pt x="30691" y="273978"/>
                  <a:pt x="0" y="243286"/>
                  <a:pt x="0" y="205483"/>
                </a:cubicBezTo>
                <a:lnTo>
                  <a:pt x="0" y="68494"/>
                </a:lnTo>
                <a:cubicBezTo>
                  <a:pt x="0" y="30666"/>
                  <a:pt x="30666" y="0"/>
                  <a:pt x="68494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596472" y="5839146"/>
            <a:ext cx="119865" cy="136989"/>
          </a:xfrm>
          <a:custGeom>
            <a:avLst/>
            <a:gdLst/>
            <a:ahLst/>
            <a:cxnLst/>
            <a:rect l="l" t="t" r="r" b="b"/>
            <a:pathLst>
              <a:path w="119865" h="136989">
                <a:moveTo>
                  <a:pt x="116333" y="18756"/>
                </a:moveTo>
                <a:cubicBezTo>
                  <a:pt x="120159" y="21538"/>
                  <a:pt x="121016" y="26889"/>
                  <a:pt x="118233" y="30715"/>
                </a:cubicBezTo>
                <a:lnTo>
                  <a:pt x="49739" y="124895"/>
                </a:lnTo>
                <a:cubicBezTo>
                  <a:pt x="48267" y="126929"/>
                  <a:pt x="45993" y="128186"/>
                  <a:pt x="43478" y="128400"/>
                </a:cubicBezTo>
                <a:cubicBezTo>
                  <a:pt x="40963" y="128614"/>
                  <a:pt x="38528" y="127678"/>
                  <a:pt x="36762" y="125912"/>
                </a:cubicBezTo>
                <a:lnTo>
                  <a:pt x="2515" y="91665"/>
                </a:lnTo>
                <a:cubicBezTo>
                  <a:pt x="-829" y="88320"/>
                  <a:pt x="-829" y="82889"/>
                  <a:pt x="2515" y="79544"/>
                </a:cubicBezTo>
                <a:cubicBezTo>
                  <a:pt x="5859" y="76200"/>
                  <a:pt x="11291" y="76200"/>
                  <a:pt x="14635" y="79544"/>
                </a:cubicBezTo>
                <a:lnTo>
                  <a:pt x="41792" y="106701"/>
                </a:lnTo>
                <a:lnTo>
                  <a:pt x="104400" y="20629"/>
                </a:lnTo>
                <a:cubicBezTo>
                  <a:pt x="107183" y="16803"/>
                  <a:pt x="112534" y="15946"/>
                  <a:pt x="116360" y="18729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9" name="Text 27"/>
          <p:cNvSpPr/>
          <p:nvPr/>
        </p:nvSpPr>
        <p:spPr>
          <a:xfrm>
            <a:off x="896135" y="5753528"/>
            <a:ext cx="3904180" cy="2054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借鉴优秀模板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6135" y="5993258"/>
            <a:ext cx="3895618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参考开源项目和优秀模板的设计思路，学习页面布局和交互设计最佳实践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84472" y="1270000"/>
            <a:ext cx="5665056" cy="3721528"/>
          </a:xfrm>
          <a:custGeom>
            <a:avLst/>
            <a:gdLst/>
            <a:ahLst/>
            <a:cxnLst/>
            <a:rect l="l" t="t" r="r" b="b"/>
            <a:pathLst>
              <a:path w="5665056" h="3721528">
                <a:moveTo>
                  <a:pt x="102751" y="0"/>
                </a:moveTo>
                <a:lnTo>
                  <a:pt x="5562305" y="0"/>
                </a:lnTo>
                <a:cubicBezTo>
                  <a:pt x="5619053" y="0"/>
                  <a:pt x="5665056" y="46003"/>
                  <a:pt x="5665056" y="102751"/>
                </a:cubicBezTo>
                <a:lnTo>
                  <a:pt x="5665056" y="3618777"/>
                </a:lnTo>
                <a:cubicBezTo>
                  <a:pt x="5665056" y="3675525"/>
                  <a:pt x="5619053" y="3721528"/>
                  <a:pt x="5562305" y="3721528"/>
                </a:cubicBezTo>
                <a:lnTo>
                  <a:pt x="102751" y="3721528"/>
                </a:lnTo>
                <a:cubicBezTo>
                  <a:pt x="46003" y="3721528"/>
                  <a:pt x="0" y="3675525"/>
                  <a:pt x="0" y="3618777"/>
                </a:cubicBezTo>
                <a:lnTo>
                  <a:pt x="0" y="102751"/>
                </a:lnTo>
                <a:cubicBezTo>
                  <a:pt x="0" y="46041"/>
                  <a:pt x="46041" y="0"/>
                  <a:pt x="102751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8562" y="1444093"/>
            <a:ext cx="410966" cy="410966"/>
          </a:xfrm>
          <a:custGeom>
            <a:avLst/>
            <a:gdLst/>
            <a:ahLst/>
            <a:cxnLst/>
            <a:rect l="l" t="t" r="r" b="b"/>
            <a:pathLst>
              <a:path w="410966" h="410966">
                <a:moveTo>
                  <a:pt x="68496" y="0"/>
                </a:moveTo>
                <a:lnTo>
                  <a:pt x="342471" y="0"/>
                </a:lnTo>
                <a:cubicBezTo>
                  <a:pt x="380274" y="0"/>
                  <a:pt x="410966" y="30692"/>
                  <a:pt x="410966" y="68496"/>
                </a:cubicBezTo>
                <a:lnTo>
                  <a:pt x="410966" y="342471"/>
                </a:lnTo>
                <a:cubicBezTo>
                  <a:pt x="410966" y="380274"/>
                  <a:pt x="380274" y="410966"/>
                  <a:pt x="342471" y="410966"/>
                </a:cubicBezTo>
                <a:lnTo>
                  <a:pt x="68496" y="410966"/>
                </a:lnTo>
                <a:cubicBezTo>
                  <a:pt x="30692" y="410966"/>
                  <a:pt x="0" y="380274"/>
                  <a:pt x="0" y="342471"/>
                </a:cubicBezTo>
                <a:lnTo>
                  <a:pt x="0" y="68496"/>
                </a:lnTo>
                <a:cubicBezTo>
                  <a:pt x="0" y="30692"/>
                  <a:pt x="30692" y="0"/>
                  <a:pt x="68496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/>
              </a:gs>
              <a:gs pos="100000">
                <a:srgbClr val="D97706"/>
              </a:gs>
            </a:gsLst>
            <a:lin ang="2700000" scaled="1"/>
          </a:gradFill>
        </p:spPr>
      </p:sp>
      <p:sp>
        <p:nvSpPr>
          <p:cNvPr id="37" name="Shape 35"/>
          <p:cNvSpPr/>
          <p:nvPr/>
        </p:nvSpPr>
        <p:spPr>
          <a:xfrm>
            <a:off x="6457023" y="1563958"/>
            <a:ext cx="214045" cy="171236"/>
          </a:xfrm>
          <a:custGeom>
            <a:avLst/>
            <a:gdLst/>
            <a:ahLst/>
            <a:cxnLst/>
            <a:rect l="l" t="t" r="r" b="b"/>
            <a:pathLst>
              <a:path w="214045" h="171236">
                <a:moveTo>
                  <a:pt x="45485" y="42809"/>
                </a:moveTo>
                <a:cubicBezTo>
                  <a:pt x="45485" y="20659"/>
                  <a:pt x="63468" y="2676"/>
                  <a:pt x="85618" y="2676"/>
                </a:cubicBezTo>
                <a:cubicBezTo>
                  <a:pt x="107768" y="2676"/>
                  <a:pt x="125751" y="20659"/>
                  <a:pt x="125751" y="42809"/>
                </a:cubicBezTo>
                <a:cubicBezTo>
                  <a:pt x="125751" y="64959"/>
                  <a:pt x="107768" y="82942"/>
                  <a:pt x="85618" y="82942"/>
                </a:cubicBezTo>
                <a:cubicBezTo>
                  <a:pt x="63468" y="82942"/>
                  <a:pt x="45485" y="64959"/>
                  <a:pt x="45485" y="42809"/>
                </a:cubicBezTo>
                <a:close/>
                <a:moveTo>
                  <a:pt x="16053" y="161303"/>
                </a:moveTo>
                <a:cubicBezTo>
                  <a:pt x="16053" y="128360"/>
                  <a:pt x="42742" y="101671"/>
                  <a:pt x="75685" y="101671"/>
                </a:cubicBezTo>
                <a:lnTo>
                  <a:pt x="95551" y="101671"/>
                </a:lnTo>
                <a:cubicBezTo>
                  <a:pt x="128494" y="101671"/>
                  <a:pt x="155183" y="128360"/>
                  <a:pt x="155183" y="161303"/>
                </a:cubicBezTo>
                <a:cubicBezTo>
                  <a:pt x="155183" y="166788"/>
                  <a:pt x="150734" y="171236"/>
                  <a:pt x="145250" y="171236"/>
                </a:cubicBezTo>
                <a:lnTo>
                  <a:pt x="25986" y="171236"/>
                </a:lnTo>
                <a:cubicBezTo>
                  <a:pt x="20501" y="171236"/>
                  <a:pt x="16053" y="166788"/>
                  <a:pt x="16053" y="161303"/>
                </a:cubicBezTo>
                <a:close/>
                <a:moveTo>
                  <a:pt x="204814" y="44381"/>
                </a:moveTo>
                <a:lnTo>
                  <a:pt x="178059" y="87190"/>
                </a:lnTo>
                <a:cubicBezTo>
                  <a:pt x="176654" y="89431"/>
                  <a:pt x="174246" y="90835"/>
                  <a:pt x="171604" y="90969"/>
                </a:cubicBezTo>
                <a:cubicBezTo>
                  <a:pt x="168962" y="91103"/>
                  <a:pt x="166420" y="89899"/>
                  <a:pt x="164848" y="87758"/>
                </a:cubicBezTo>
                <a:lnTo>
                  <a:pt x="148795" y="66354"/>
                </a:lnTo>
                <a:cubicBezTo>
                  <a:pt x="146119" y="62809"/>
                  <a:pt x="146855" y="57792"/>
                  <a:pt x="150400" y="55117"/>
                </a:cubicBezTo>
                <a:cubicBezTo>
                  <a:pt x="153945" y="52441"/>
                  <a:pt x="158962" y="53177"/>
                  <a:pt x="161637" y="56722"/>
                </a:cubicBezTo>
                <a:lnTo>
                  <a:pt x="170667" y="68762"/>
                </a:lnTo>
                <a:lnTo>
                  <a:pt x="191202" y="35886"/>
                </a:lnTo>
                <a:cubicBezTo>
                  <a:pt x="193543" y="32140"/>
                  <a:pt x="198493" y="30970"/>
                  <a:pt x="202272" y="33344"/>
                </a:cubicBezTo>
                <a:cubicBezTo>
                  <a:pt x="206052" y="35719"/>
                  <a:pt x="207189" y="40635"/>
                  <a:pt x="204814" y="4441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6872270" y="1512587"/>
            <a:ext cx="924674" cy="27397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自我评价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8562" y="1992048"/>
            <a:ext cx="5316876" cy="873303"/>
          </a:xfrm>
          <a:custGeom>
            <a:avLst/>
            <a:gdLst/>
            <a:ahLst/>
            <a:cxnLst/>
            <a:rect l="l" t="t" r="r" b="b"/>
            <a:pathLst>
              <a:path w="5316876" h="873303">
                <a:moveTo>
                  <a:pt x="68493" y="0"/>
                </a:moveTo>
                <a:lnTo>
                  <a:pt x="5248383" y="0"/>
                </a:lnTo>
                <a:cubicBezTo>
                  <a:pt x="5286211" y="0"/>
                  <a:pt x="5316876" y="30665"/>
                  <a:pt x="5316876" y="68493"/>
                </a:cubicBezTo>
                <a:lnTo>
                  <a:pt x="5316876" y="804810"/>
                </a:lnTo>
                <a:cubicBezTo>
                  <a:pt x="5316876" y="842638"/>
                  <a:pt x="5286211" y="873303"/>
                  <a:pt x="5248383" y="873303"/>
                </a:cubicBezTo>
                <a:lnTo>
                  <a:pt x="68493" y="873303"/>
                </a:lnTo>
                <a:cubicBezTo>
                  <a:pt x="30665" y="873303"/>
                  <a:pt x="0" y="842638"/>
                  <a:pt x="0" y="804810"/>
                </a:cubicBezTo>
                <a:lnTo>
                  <a:pt x="0" y="68493"/>
                </a:lnTo>
                <a:cubicBezTo>
                  <a:pt x="0" y="30665"/>
                  <a:pt x="30665" y="0"/>
                  <a:pt x="684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6495551" y="2129036"/>
            <a:ext cx="890427" cy="2054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代码开发速度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090382" y="2129036"/>
            <a:ext cx="445213" cy="205483"/>
          </a:xfrm>
          <a:custGeom>
            <a:avLst/>
            <a:gdLst/>
            <a:ahLst/>
            <a:cxnLst/>
            <a:rect l="l" t="t" r="r" b="b"/>
            <a:pathLst>
              <a:path w="445213" h="205483">
                <a:moveTo>
                  <a:pt x="34248" y="0"/>
                </a:moveTo>
                <a:lnTo>
                  <a:pt x="410966" y="0"/>
                </a:lnTo>
                <a:cubicBezTo>
                  <a:pt x="429880" y="0"/>
                  <a:pt x="445213" y="15333"/>
                  <a:pt x="445213" y="34248"/>
                </a:cubicBezTo>
                <a:lnTo>
                  <a:pt x="445213" y="171235"/>
                </a:lnTo>
                <a:cubicBezTo>
                  <a:pt x="445213" y="190150"/>
                  <a:pt x="429880" y="205483"/>
                  <a:pt x="410966" y="205483"/>
                </a:cubicBezTo>
                <a:lnTo>
                  <a:pt x="34248" y="205483"/>
                </a:lnTo>
                <a:cubicBezTo>
                  <a:pt x="15346" y="205483"/>
                  <a:pt x="0" y="190137"/>
                  <a:pt x="0" y="171235"/>
                </a:cubicBezTo>
                <a:lnTo>
                  <a:pt x="0" y="34248"/>
                </a:lnTo>
                <a:cubicBezTo>
                  <a:pt x="0" y="15346"/>
                  <a:pt x="15346" y="0"/>
                  <a:pt x="34248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11090382" y="2129036"/>
            <a:ext cx="496584" cy="205483"/>
          </a:xfrm>
          <a:prstGeom prst="rect">
            <a:avLst/>
          </a:prstGeom>
          <a:noFill/>
        </p:spPr>
        <p:txBody>
          <a:bodyPr wrap="square" lIns="68494" tIns="34247" rIns="68494" bIns="34247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EF444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待提升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95551" y="2403014"/>
            <a:ext cx="5042899" cy="85618"/>
          </a:xfrm>
          <a:custGeom>
            <a:avLst/>
            <a:gdLst/>
            <a:ahLst/>
            <a:cxnLst/>
            <a:rect l="l" t="t" r="r" b="b"/>
            <a:pathLst>
              <a:path w="5042899" h="85618">
                <a:moveTo>
                  <a:pt x="42809" y="0"/>
                </a:moveTo>
                <a:lnTo>
                  <a:pt x="5000090" y="0"/>
                </a:lnTo>
                <a:cubicBezTo>
                  <a:pt x="5023733" y="0"/>
                  <a:pt x="5042899" y="19166"/>
                  <a:pt x="5042899" y="42809"/>
                </a:cubicBezTo>
                <a:lnTo>
                  <a:pt x="5042899" y="42809"/>
                </a:lnTo>
                <a:cubicBezTo>
                  <a:pt x="5042899" y="66452"/>
                  <a:pt x="5023733" y="85618"/>
                  <a:pt x="5000090" y="85618"/>
                </a:cubicBezTo>
                <a:lnTo>
                  <a:pt x="42809" y="85618"/>
                </a:lnTo>
                <a:cubicBezTo>
                  <a:pt x="19182" y="85618"/>
                  <a:pt x="0" y="66436"/>
                  <a:pt x="0" y="42809"/>
                </a:cubicBezTo>
                <a:lnTo>
                  <a:pt x="0" y="42809"/>
                </a:lnTo>
                <a:cubicBezTo>
                  <a:pt x="0" y="19182"/>
                  <a:pt x="19182" y="0"/>
                  <a:pt x="42809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44" name="Shape 42"/>
          <p:cNvSpPr/>
          <p:nvPr/>
        </p:nvSpPr>
        <p:spPr>
          <a:xfrm>
            <a:off x="6495551" y="2403014"/>
            <a:ext cx="2774022" cy="85618"/>
          </a:xfrm>
          <a:custGeom>
            <a:avLst/>
            <a:gdLst/>
            <a:ahLst/>
            <a:cxnLst/>
            <a:rect l="l" t="t" r="r" b="b"/>
            <a:pathLst>
              <a:path w="2774022" h="85618">
                <a:moveTo>
                  <a:pt x="42809" y="0"/>
                </a:moveTo>
                <a:lnTo>
                  <a:pt x="2731213" y="0"/>
                </a:lnTo>
                <a:cubicBezTo>
                  <a:pt x="2754856" y="0"/>
                  <a:pt x="2774022" y="19166"/>
                  <a:pt x="2774022" y="42809"/>
                </a:cubicBezTo>
                <a:lnTo>
                  <a:pt x="2774022" y="42809"/>
                </a:lnTo>
                <a:cubicBezTo>
                  <a:pt x="2774022" y="66452"/>
                  <a:pt x="2754856" y="85618"/>
                  <a:pt x="2731213" y="85618"/>
                </a:cubicBezTo>
                <a:lnTo>
                  <a:pt x="42809" y="85618"/>
                </a:lnTo>
                <a:cubicBezTo>
                  <a:pt x="19182" y="85618"/>
                  <a:pt x="0" y="66436"/>
                  <a:pt x="0" y="42809"/>
                </a:cubicBezTo>
                <a:lnTo>
                  <a:pt x="0" y="42809"/>
                </a:lnTo>
                <a:cubicBezTo>
                  <a:pt x="0" y="19182"/>
                  <a:pt x="19182" y="0"/>
                  <a:pt x="42809" y="0"/>
                </a:cubicBezTo>
                <a:close/>
              </a:path>
            </a:pathLst>
          </a:custGeom>
          <a:gradFill flip="none" rotWithShape="1">
            <a:gsLst>
              <a:gs pos="0">
                <a:srgbClr val="EF4444"/>
              </a:gs>
              <a:gs pos="100000">
                <a:srgbClr val="F59E0B"/>
              </a:gs>
            </a:gsLst>
            <a:lin ang="0" scaled="1"/>
          </a:gradFill>
        </p:spPr>
      </p:sp>
      <p:sp>
        <p:nvSpPr>
          <p:cNvPr id="45" name="Text 43"/>
          <p:cNvSpPr/>
          <p:nvPr/>
        </p:nvSpPr>
        <p:spPr>
          <a:xfrm>
            <a:off x="6495551" y="2557126"/>
            <a:ext cx="5102831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开发效率不够高，对框架和工具不够熟练，需要更多实践积累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8562" y="2968093"/>
            <a:ext cx="5316876" cy="873303"/>
          </a:xfrm>
          <a:custGeom>
            <a:avLst/>
            <a:gdLst/>
            <a:ahLst/>
            <a:cxnLst/>
            <a:rect l="l" t="t" r="r" b="b"/>
            <a:pathLst>
              <a:path w="5316876" h="873303">
                <a:moveTo>
                  <a:pt x="68493" y="0"/>
                </a:moveTo>
                <a:lnTo>
                  <a:pt x="5248383" y="0"/>
                </a:lnTo>
                <a:cubicBezTo>
                  <a:pt x="5286211" y="0"/>
                  <a:pt x="5316876" y="30665"/>
                  <a:pt x="5316876" y="68493"/>
                </a:cubicBezTo>
                <a:lnTo>
                  <a:pt x="5316876" y="804810"/>
                </a:lnTo>
                <a:cubicBezTo>
                  <a:pt x="5316876" y="842638"/>
                  <a:pt x="5286211" y="873303"/>
                  <a:pt x="5248383" y="873303"/>
                </a:cubicBezTo>
                <a:lnTo>
                  <a:pt x="68493" y="873303"/>
                </a:lnTo>
                <a:cubicBezTo>
                  <a:pt x="30665" y="873303"/>
                  <a:pt x="0" y="842638"/>
                  <a:pt x="0" y="804810"/>
                </a:cubicBezTo>
                <a:lnTo>
                  <a:pt x="0" y="68493"/>
                </a:lnTo>
                <a:cubicBezTo>
                  <a:pt x="0" y="30665"/>
                  <a:pt x="30665" y="0"/>
                  <a:pt x="684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6495551" y="3105081"/>
            <a:ext cx="890427" cy="2054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知识储备广度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90382" y="3105081"/>
            <a:ext cx="445213" cy="205483"/>
          </a:xfrm>
          <a:custGeom>
            <a:avLst/>
            <a:gdLst/>
            <a:ahLst/>
            <a:cxnLst/>
            <a:rect l="l" t="t" r="r" b="b"/>
            <a:pathLst>
              <a:path w="445213" h="205483">
                <a:moveTo>
                  <a:pt x="34248" y="0"/>
                </a:moveTo>
                <a:lnTo>
                  <a:pt x="410966" y="0"/>
                </a:lnTo>
                <a:cubicBezTo>
                  <a:pt x="429880" y="0"/>
                  <a:pt x="445213" y="15333"/>
                  <a:pt x="445213" y="34248"/>
                </a:cubicBezTo>
                <a:lnTo>
                  <a:pt x="445213" y="171235"/>
                </a:lnTo>
                <a:cubicBezTo>
                  <a:pt x="445213" y="190150"/>
                  <a:pt x="429880" y="205483"/>
                  <a:pt x="410966" y="205483"/>
                </a:cubicBezTo>
                <a:lnTo>
                  <a:pt x="34248" y="205483"/>
                </a:lnTo>
                <a:cubicBezTo>
                  <a:pt x="15346" y="205483"/>
                  <a:pt x="0" y="190137"/>
                  <a:pt x="0" y="171235"/>
                </a:cubicBezTo>
                <a:lnTo>
                  <a:pt x="0" y="34248"/>
                </a:lnTo>
                <a:cubicBezTo>
                  <a:pt x="0" y="15346"/>
                  <a:pt x="15346" y="0"/>
                  <a:pt x="34248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11090382" y="3105081"/>
            <a:ext cx="496584" cy="205483"/>
          </a:xfrm>
          <a:prstGeom prst="rect">
            <a:avLst/>
          </a:prstGeom>
          <a:noFill/>
        </p:spPr>
        <p:txBody>
          <a:bodyPr wrap="square" lIns="68494" tIns="34247" rIns="68494" bIns="34247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F59E0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需加强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95551" y="3379059"/>
            <a:ext cx="5042899" cy="85618"/>
          </a:xfrm>
          <a:custGeom>
            <a:avLst/>
            <a:gdLst/>
            <a:ahLst/>
            <a:cxnLst/>
            <a:rect l="l" t="t" r="r" b="b"/>
            <a:pathLst>
              <a:path w="5042899" h="85618">
                <a:moveTo>
                  <a:pt x="42809" y="0"/>
                </a:moveTo>
                <a:lnTo>
                  <a:pt x="5000090" y="0"/>
                </a:lnTo>
                <a:cubicBezTo>
                  <a:pt x="5023733" y="0"/>
                  <a:pt x="5042899" y="19166"/>
                  <a:pt x="5042899" y="42809"/>
                </a:cubicBezTo>
                <a:lnTo>
                  <a:pt x="5042899" y="42809"/>
                </a:lnTo>
                <a:cubicBezTo>
                  <a:pt x="5042899" y="66452"/>
                  <a:pt x="5023733" y="85618"/>
                  <a:pt x="5000090" y="85618"/>
                </a:cubicBezTo>
                <a:lnTo>
                  <a:pt x="42809" y="85618"/>
                </a:lnTo>
                <a:cubicBezTo>
                  <a:pt x="19182" y="85618"/>
                  <a:pt x="0" y="66436"/>
                  <a:pt x="0" y="42809"/>
                </a:cubicBezTo>
                <a:lnTo>
                  <a:pt x="0" y="42809"/>
                </a:lnTo>
                <a:cubicBezTo>
                  <a:pt x="0" y="19182"/>
                  <a:pt x="19182" y="0"/>
                  <a:pt x="42809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6495551" y="3379059"/>
            <a:ext cx="3279169" cy="85618"/>
          </a:xfrm>
          <a:custGeom>
            <a:avLst/>
            <a:gdLst/>
            <a:ahLst/>
            <a:cxnLst/>
            <a:rect l="l" t="t" r="r" b="b"/>
            <a:pathLst>
              <a:path w="3279169" h="85618">
                <a:moveTo>
                  <a:pt x="42809" y="0"/>
                </a:moveTo>
                <a:lnTo>
                  <a:pt x="3236360" y="0"/>
                </a:lnTo>
                <a:cubicBezTo>
                  <a:pt x="3260002" y="0"/>
                  <a:pt x="3279169" y="19166"/>
                  <a:pt x="3279169" y="42809"/>
                </a:cubicBezTo>
                <a:lnTo>
                  <a:pt x="3279169" y="42809"/>
                </a:lnTo>
                <a:cubicBezTo>
                  <a:pt x="3279169" y="66452"/>
                  <a:pt x="3260002" y="85618"/>
                  <a:pt x="3236360" y="85618"/>
                </a:cubicBezTo>
                <a:lnTo>
                  <a:pt x="42809" y="85618"/>
                </a:lnTo>
                <a:cubicBezTo>
                  <a:pt x="19182" y="85618"/>
                  <a:pt x="0" y="66436"/>
                  <a:pt x="0" y="42809"/>
                </a:cubicBezTo>
                <a:lnTo>
                  <a:pt x="0" y="42809"/>
                </a:lnTo>
                <a:cubicBezTo>
                  <a:pt x="0" y="19182"/>
                  <a:pt x="19182" y="0"/>
                  <a:pt x="42809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/>
              </a:gs>
              <a:gs pos="100000">
                <a:srgbClr val="4ECDC4"/>
              </a:gs>
            </a:gsLst>
            <a:lin ang="0" scaled="1"/>
          </a:gradFill>
        </p:spPr>
      </p:sp>
      <p:sp>
        <p:nvSpPr>
          <p:cNvPr id="52" name="Text 50"/>
          <p:cNvSpPr/>
          <p:nvPr/>
        </p:nvSpPr>
        <p:spPr>
          <a:xfrm>
            <a:off x="6495551" y="3533171"/>
            <a:ext cx="5102831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前端技术和邮件服务相关知识储备不够全面，需要系统学习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8562" y="3944138"/>
            <a:ext cx="5316876" cy="873303"/>
          </a:xfrm>
          <a:custGeom>
            <a:avLst/>
            <a:gdLst/>
            <a:ahLst/>
            <a:cxnLst/>
            <a:rect l="l" t="t" r="r" b="b"/>
            <a:pathLst>
              <a:path w="5316876" h="873303">
                <a:moveTo>
                  <a:pt x="68493" y="0"/>
                </a:moveTo>
                <a:lnTo>
                  <a:pt x="5248383" y="0"/>
                </a:lnTo>
                <a:cubicBezTo>
                  <a:pt x="5286211" y="0"/>
                  <a:pt x="5316876" y="30665"/>
                  <a:pt x="5316876" y="68493"/>
                </a:cubicBezTo>
                <a:lnTo>
                  <a:pt x="5316876" y="804810"/>
                </a:lnTo>
                <a:cubicBezTo>
                  <a:pt x="5316876" y="842638"/>
                  <a:pt x="5286211" y="873303"/>
                  <a:pt x="5248383" y="873303"/>
                </a:cubicBezTo>
                <a:lnTo>
                  <a:pt x="68493" y="873303"/>
                </a:lnTo>
                <a:cubicBezTo>
                  <a:pt x="30665" y="873303"/>
                  <a:pt x="0" y="842638"/>
                  <a:pt x="0" y="804810"/>
                </a:cubicBezTo>
                <a:lnTo>
                  <a:pt x="0" y="68493"/>
                </a:lnTo>
                <a:cubicBezTo>
                  <a:pt x="0" y="30665"/>
                  <a:pt x="30665" y="0"/>
                  <a:pt x="684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</p:spPr>
      </p:sp>
      <p:sp>
        <p:nvSpPr>
          <p:cNvPr id="54" name="Text 52"/>
          <p:cNvSpPr/>
          <p:nvPr/>
        </p:nvSpPr>
        <p:spPr>
          <a:xfrm>
            <a:off x="6495551" y="4081126"/>
            <a:ext cx="890427" cy="2054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后端开发能力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193124" y="4081126"/>
            <a:ext cx="342472" cy="205483"/>
          </a:xfrm>
          <a:custGeom>
            <a:avLst/>
            <a:gdLst/>
            <a:ahLst/>
            <a:cxnLst/>
            <a:rect l="l" t="t" r="r" b="b"/>
            <a:pathLst>
              <a:path w="342472" h="205483">
                <a:moveTo>
                  <a:pt x="34248" y="0"/>
                </a:moveTo>
                <a:lnTo>
                  <a:pt x="308224" y="0"/>
                </a:lnTo>
                <a:cubicBezTo>
                  <a:pt x="327139" y="0"/>
                  <a:pt x="342472" y="15333"/>
                  <a:pt x="342472" y="34248"/>
                </a:cubicBezTo>
                <a:lnTo>
                  <a:pt x="342472" y="171235"/>
                </a:lnTo>
                <a:cubicBezTo>
                  <a:pt x="342472" y="190150"/>
                  <a:pt x="327139" y="205483"/>
                  <a:pt x="308224" y="205483"/>
                </a:cubicBezTo>
                <a:lnTo>
                  <a:pt x="34248" y="205483"/>
                </a:lnTo>
                <a:cubicBezTo>
                  <a:pt x="15346" y="205483"/>
                  <a:pt x="0" y="190137"/>
                  <a:pt x="0" y="171235"/>
                </a:cubicBezTo>
                <a:lnTo>
                  <a:pt x="0" y="34248"/>
                </a:lnTo>
                <a:cubicBezTo>
                  <a:pt x="0" y="15346"/>
                  <a:pt x="15346" y="0"/>
                  <a:pt x="34248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11193124" y="4081126"/>
            <a:ext cx="393843" cy="205483"/>
          </a:xfrm>
          <a:prstGeom prst="rect">
            <a:avLst/>
          </a:prstGeom>
          <a:noFill/>
        </p:spPr>
        <p:txBody>
          <a:bodyPr wrap="square" lIns="68494" tIns="34247" rIns="68494" bIns="34247" rtlCol="0" anchor="ctr"/>
          <a:lstStyle/>
          <a:p>
            <a:pPr>
              <a:lnSpc>
                <a:spcPct val="110000"/>
              </a:lnSpc>
            </a:pPr>
            <a:r>
              <a:rPr lang="en-US" sz="810" dirty="0">
                <a:solidFill>
                  <a:srgbClr val="4ECDC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良好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95551" y="4355104"/>
            <a:ext cx="5042899" cy="85618"/>
          </a:xfrm>
          <a:custGeom>
            <a:avLst/>
            <a:gdLst/>
            <a:ahLst/>
            <a:cxnLst/>
            <a:rect l="l" t="t" r="r" b="b"/>
            <a:pathLst>
              <a:path w="5042899" h="85618">
                <a:moveTo>
                  <a:pt x="42809" y="0"/>
                </a:moveTo>
                <a:lnTo>
                  <a:pt x="5000090" y="0"/>
                </a:lnTo>
                <a:cubicBezTo>
                  <a:pt x="5023733" y="0"/>
                  <a:pt x="5042899" y="19166"/>
                  <a:pt x="5042899" y="42809"/>
                </a:cubicBezTo>
                <a:lnTo>
                  <a:pt x="5042899" y="42809"/>
                </a:lnTo>
                <a:cubicBezTo>
                  <a:pt x="5042899" y="66452"/>
                  <a:pt x="5023733" y="85618"/>
                  <a:pt x="5000090" y="85618"/>
                </a:cubicBezTo>
                <a:lnTo>
                  <a:pt x="42809" y="85618"/>
                </a:lnTo>
                <a:cubicBezTo>
                  <a:pt x="19182" y="85618"/>
                  <a:pt x="0" y="66436"/>
                  <a:pt x="0" y="42809"/>
                </a:cubicBezTo>
                <a:lnTo>
                  <a:pt x="0" y="42809"/>
                </a:lnTo>
                <a:cubicBezTo>
                  <a:pt x="0" y="19182"/>
                  <a:pt x="19182" y="0"/>
                  <a:pt x="42809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6495551" y="4355104"/>
            <a:ext cx="4032607" cy="85618"/>
          </a:xfrm>
          <a:custGeom>
            <a:avLst/>
            <a:gdLst/>
            <a:ahLst/>
            <a:cxnLst/>
            <a:rect l="l" t="t" r="r" b="b"/>
            <a:pathLst>
              <a:path w="4032607" h="85618">
                <a:moveTo>
                  <a:pt x="42809" y="0"/>
                </a:moveTo>
                <a:lnTo>
                  <a:pt x="3989798" y="0"/>
                </a:lnTo>
                <a:cubicBezTo>
                  <a:pt x="4013441" y="0"/>
                  <a:pt x="4032607" y="19166"/>
                  <a:pt x="4032607" y="42809"/>
                </a:cubicBezTo>
                <a:lnTo>
                  <a:pt x="4032607" y="42809"/>
                </a:lnTo>
                <a:cubicBezTo>
                  <a:pt x="4032607" y="66452"/>
                  <a:pt x="4013441" y="85618"/>
                  <a:pt x="3989798" y="85618"/>
                </a:cubicBezTo>
                <a:lnTo>
                  <a:pt x="42809" y="85618"/>
                </a:lnTo>
                <a:cubicBezTo>
                  <a:pt x="19182" y="85618"/>
                  <a:pt x="0" y="66436"/>
                  <a:pt x="0" y="42809"/>
                </a:cubicBezTo>
                <a:lnTo>
                  <a:pt x="0" y="42809"/>
                </a:lnTo>
                <a:cubicBezTo>
                  <a:pt x="0" y="19182"/>
                  <a:pt x="19182" y="0"/>
                  <a:pt x="42809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3A5F7A"/>
              </a:gs>
            </a:gsLst>
            <a:lin ang="0" scaled="1"/>
          </a:gradFill>
        </p:spPr>
      </p:sp>
      <p:sp>
        <p:nvSpPr>
          <p:cNvPr id="59" name="Text 57"/>
          <p:cNvSpPr/>
          <p:nvPr/>
        </p:nvSpPr>
        <p:spPr>
          <a:xfrm>
            <a:off x="6495551" y="4509216"/>
            <a:ext cx="5102831" cy="1712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Java后端开发基础扎实，Spring Boot框架使用较为熟练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84472" y="5134226"/>
            <a:ext cx="5665056" cy="1718067"/>
          </a:xfrm>
          <a:custGeom>
            <a:avLst/>
            <a:gdLst/>
            <a:ahLst/>
            <a:cxnLst/>
            <a:rect l="l" t="t" r="r" b="b"/>
            <a:pathLst>
              <a:path w="5665056" h="1718067">
                <a:moveTo>
                  <a:pt x="102740" y="0"/>
                </a:moveTo>
                <a:lnTo>
                  <a:pt x="5562316" y="0"/>
                </a:lnTo>
                <a:cubicBezTo>
                  <a:pt x="5619058" y="0"/>
                  <a:pt x="5665056" y="45998"/>
                  <a:pt x="5665056" y="102740"/>
                </a:cubicBezTo>
                <a:lnTo>
                  <a:pt x="5665056" y="1615327"/>
                </a:lnTo>
                <a:cubicBezTo>
                  <a:pt x="5665056" y="1672069"/>
                  <a:pt x="5619058" y="1718067"/>
                  <a:pt x="5562316" y="1718067"/>
                </a:cubicBezTo>
                <a:lnTo>
                  <a:pt x="102740" y="1718067"/>
                </a:lnTo>
                <a:cubicBezTo>
                  <a:pt x="45998" y="1718067"/>
                  <a:pt x="0" y="1672069"/>
                  <a:pt x="0" y="1615327"/>
                </a:cubicBezTo>
                <a:lnTo>
                  <a:pt x="0" y="102740"/>
                </a:lnTo>
                <a:cubicBezTo>
                  <a:pt x="0" y="46036"/>
                  <a:pt x="46036" y="0"/>
                  <a:pt x="102740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>
                  <a:alpha val="20000"/>
                </a:srgbClr>
              </a:gs>
              <a:gs pos="100000">
                <a:srgbClr val="3A5F7A">
                  <a:alpha val="20000"/>
                </a:srgbClr>
              </a:gs>
            </a:gsLst>
            <a:lin ang="0" scaled="1"/>
          </a:gradFill>
          <a:ln w="8467">
            <a:solidFill>
              <a:srgbClr val="4ECDC4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89598" y="5351124"/>
            <a:ext cx="134848" cy="154112"/>
          </a:xfrm>
          <a:custGeom>
            <a:avLst/>
            <a:gdLst/>
            <a:ahLst/>
            <a:cxnLst/>
            <a:rect l="l" t="t" r="r" b="b"/>
            <a:pathLst>
              <a:path w="134848" h="154112">
                <a:moveTo>
                  <a:pt x="38528" y="0"/>
                </a:moveTo>
                <a:cubicBezTo>
                  <a:pt x="43856" y="0"/>
                  <a:pt x="48160" y="4304"/>
                  <a:pt x="48160" y="9632"/>
                </a:cubicBezTo>
                <a:lnTo>
                  <a:pt x="48160" y="19264"/>
                </a:lnTo>
                <a:lnTo>
                  <a:pt x="86688" y="19264"/>
                </a:lnTo>
                <a:lnTo>
                  <a:pt x="86688" y="9632"/>
                </a:lnTo>
                <a:cubicBezTo>
                  <a:pt x="86688" y="4304"/>
                  <a:pt x="90993" y="0"/>
                  <a:pt x="96320" y="0"/>
                </a:cubicBezTo>
                <a:cubicBezTo>
                  <a:pt x="101648" y="0"/>
                  <a:pt x="105952" y="4304"/>
                  <a:pt x="105952" y="9632"/>
                </a:cubicBezTo>
                <a:lnTo>
                  <a:pt x="105952" y="19264"/>
                </a:lnTo>
                <a:lnTo>
                  <a:pt x="115584" y="19264"/>
                </a:lnTo>
                <a:cubicBezTo>
                  <a:pt x="126210" y="19264"/>
                  <a:pt x="134848" y="27903"/>
                  <a:pt x="134848" y="38528"/>
                </a:cubicBezTo>
                <a:lnTo>
                  <a:pt x="134848" y="125216"/>
                </a:lnTo>
                <a:cubicBezTo>
                  <a:pt x="134848" y="135842"/>
                  <a:pt x="126210" y="144480"/>
                  <a:pt x="115584" y="144480"/>
                </a:cubicBezTo>
                <a:lnTo>
                  <a:pt x="19264" y="144480"/>
                </a:lnTo>
                <a:cubicBezTo>
                  <a:pt x="8639" y="144480"/>
                  <a:pt x="0" y="135842"/>
                  <a:pt x="0" y="125216"/>
                </a:cubicBezTo>
                <a:lnTo>
                  <a:pt x="0" y="38528"/>
                </a:lnTo>
                <a:cubicBezTo>
                  <a:pt x="0" y="27903"/>
                  <a:pt x="8639" y="19264"/>
                  <a:pt x="19264" y="19264"/>
                </a:cubicBezTo>
                <a:lnTo>
                  <a:pt x="28896" y="19264"/>
                </a:lnTo>
                <a:lnTo>
                  <a:pt x="28896" y="9632"/>
                </a:lnTo>
                <a:cubicBezTo>
                  <a:pt x="28896" y="4304"/>
                  <a:pt x="33200" y="0"/>
                  <a:pt x="38528" y="0"/>
                </a:cubicBezTo>
                <a:close/>
                <a:moveTo>
                  <a:pt x="19264" y="72240"/>
                </a:moveTo>
                <a:lnTo>
                  <a:pt x="19264" y="81872"/>
                </a:lnTo>
                <a:cubicBezTo>
                  <a:pt x="19264" y="84521"/>
                  <a:pt x="21431" y="86688"/>
                  <a:pt x="24080" y="86688"/>
                </a:cubicBezTo>
                <a:lnTo>
                  <a:pt x="33712" y="86688"/>
                </a:lnTo>
                <a:cubicBezTo>
                  <a:pt x="36361" y="86688"/>
                  <a:pt x="38528" y="84521"/>
                  <a:pt x="38528" y="81872"/>
                </a:cubicBezTo>
                <a:lnTo>
                  <a:pt x="38528" y="72240"/>
                </a:lnTo>
                <a:cubicBezTo>
                  <a:pt x="38528" y="69591"/>
                  <a:pt x="36361" y="67424"/>
                  <a:pt x="33712" y="67424"/>
                </a:cubicBezTo>
                <a:lnTo>
                  <a:pt x="24080" y="67424"/>
                </a:lnTo>
                <a:cubicBezTo>
                  <a:pt x="21431" y="67424"/>
                  <a:pt x="19264" y="69591"/>
                  <a:pt x="19264" y="72240"/>
                </a:cubicBezTo>
                <a:close/>
                <a:moveTo>
                  <a:pt x="57792" y="72240"/>
                </a:moveTo>
                <a:lnTo>
                  <a:pt x="57792" y="81872"/>
                </a:lnTo>
                <a:cubicBezTo>
                  <a:pt x="57792" y="84521"/>
                  <a:pt x="59959" y="86688"/>
                  <a:pt x="62608" y="86688"/>
                </a:cubicBezTo>
                <a:lnTo>
                  <a:pt x="72240" y="86688"/>
                </a:lnTo>
                <a:cubicBezTo>
                  <a:pt x="74889" y="86688"/>
                  <a:pt x="77056" y="84521"/>
                  <a:pt x="77056" y="81872"/>
                </a:cubicBezTo>
                <a:lnTo>
                  <a:pt x="77056" y="72240"/>
                </a:lnTo>
                <a:cubicBezTo>
                  <a:pt x="77056" y="69591"/>
                  <a:pt x="74889" y="67424"/>
                  <a:pt x="72240" y="67424"/>
                </a:cubicBezTo>
                <a:lnTo>
                  <a:pt x="62608" y="67424"/>
                </a:lnTo>
                <a:cubicBezTo>
                  <a:pt x="59959" y="67424"/>
                  <a:pt x="57792" y="69591"/>
                  <a:pt x="57792" y="72240"/>
                </a:cubicBezTo>
                <a:close/>
                <a:moveTo>
                  <a:pt x="101136" y="67424"/>
                </a:moveTo>
                <a:cubicBezTo>
                  <a:pt x="98487" y="67424"/>
                  <a:pt x="96320" y="69591"/>
                  <a:pt x="96320" y="72240"/>
                </a:cubicBezTo>
                <a:lnTo>
                  <a:pt x="96320" y="81872"/>
                </a:lnTo>
                <a:cubicBezTo>
                  <a:pt x="96320" y="84521"/>
                  <a:pt x="98487" y="86688"/>
                  <a:pt x="101136" y="86688"/>
                </a:cubicBezTo>
                <a:lnTo>
                  <a:pt x="110768" y="86688"/>
                </a:lnTo>
                <a:cubicBezTo>
                  <a:pt x="113417" y="86688"/>
                  <a:pt x="115584" y="84521"/>
                  <a:pt x="115584" y="81872"/>
                </a:cubicBezTo>
                <a:lnTo>
                  <a:pt x="115584" y="72240"/>
                </a:lnTo>
                <a:cubicBezTo>
                  <a:pt x="115584" y="69591"/>
                  <a:pt x="113417" y="67424"/>
                  <a:pt x="110768" y="67424"/>
                </a:cubicBezTo>
                <a:lnTo>
                  <a:pt x="101136" y="67424"/>
                </a:lnTo>
                <a:close/>
                <a:moveTo>
                  <a:pt x="19264" y="110768"/>
                </a:moveTo>
                <a:lnTo>
                  <a:pt x="19264" y="120400"/>
                </a:lnTo>
                <a:cubicBezTo>
                  <a:pt x="19264" y="123049"/>
                  <a:pt x="21431" y="125216"/>
                  <a:pt x="24080" y="125216"/>
                </a:cubicBezTo>
                <a:lnTo>
                  <a:pt x="33712" y="125216"/>
                </a:lnTo>
                <a:cubicBezTo>
                  <a:pt x="36361" y="125216"/>
                  <a:pt x="38528" y="123049"/>
                  <a:pt x="38528" y="120400"/>
                </a:cubicBezTo>
                <a:lnTo>
                  <a:pt x="38528" y="110768"/>
                </a:lnTo>
                <a:cubicBezTo>
                  <a:pt x="38528" y="108119"/>
                  <a:pt x="36361" y="105952"/>
                  <a:pt x="33712" y="105952"/>
                </a:cubicBezTo>
                <a:lnTo>
                  <a:pt x="24080" y="105952"/>
                </a:lnTo>
                <a:cubicBezTo>
                  <a:pt x="21431" y="105952"/>
                  <a:pt x="19264" y="108119"/>
                  <a:pt x="19264" y="110768"/>
                </a:cubicBezTo>
                <a:close/>
                <a:moveTo>
                  <a:pt x="62608" y="105952"/>
                </a:moveTo>
                <a:cubicBezTo>
                  <a:pt x="59959" y="105952"/>
                  <a:pt x="57792" y="108119"/>
                  <a:pt x="57792" y="110768"/>
                </a:cubicBezTo>
                <a:lnTo>
                  <a:pt x="57792" y="120400"/>
                </a:lnTo>
                <a:cubicBezTo>
                  <a:pt x="57792" y="123049"/>
                  <a:pt x="59959" y="125216"/>
                  <a:pt x="62608" y="125216"/>
                </a:cubicBezTo>
                <a:lnTo>
                  <a:pt x="72240" y="125216"/>
                </a:lnTo>
                <a:cubicBezTo>
                  <a:pt x="74889" y="125216"/>
                  <a:pt x="77056" y="123049"/>
                  <a:pt x="77056" y="120400"/>
                </a:cubicBezTo>
                <a:lnTo>
                  <a:pt x="77056" y="110768"/>
                </a:lnTo>
                <a:cubicBezTo>
                  <a:pt x="77056" y="108119"/>
                  <a:pt x="74889" y="105952"/>
                  <a:pt x="72240" y="105952"/>
                </a:cubicBezTo>
                <a:lnTo>
                  <a:pt x="62608" y="105952"/>
                </a:lnTo>
                <a:close/>
                <a:moveTo>
                  <a:pt x="96320" y="110768"/>
                </a:moveTo>
                <a:lnTo>
                  <a:pt x="96320" y="120400"/>
                </a:lnTo>
                <a:cubicBezTo>
                  <a:pt x="96320" y="123049"/>
                  <a:pt x="98487" y="125216"/>
                  <a:pt x="101136" y="125216"/>
                </a:cubicBezTo>
                <a:lnTo>
                  <a:pt x="110768" y="125216"/>
                </a:lnTo>
                <a:cubicBezTo>
                  <a:pt x="113417" y="125216"/>
                  <a:pt x="115584" y="123049"/>
                  <a:pt x="115584" y="120400"/>
                </a:cubicBezTo>
                <a:lnTo>
                  <a:pt x="115584" y="110768"/>
                </a:lnTo>
                <a:cubicBezTo>
                  <a:pt x="115584" y="108119"/>
                  <a:pt x="113417" y="105952"/>
                  <a:pt x="110768" y="105952"/>
                </a:cubicBezTo>
                <a:lnTo>
                  <a:pt x="101136" y="105952"/>
                </a:lnTo>
                <a:cubicBezTo>
                  <a:pt x="98487" y="105952"/>
                  <a:pt x="96320" y="108119"/>
                  <a:pt x="96320" y="110768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62" name="Text 60"/>
          <p:cNvSpPr/>
          <p:nvPr/>
        </p:nvSpPr>
        <p:spPr>
          <a:xfrm>
            <a:off x="6555483" y="5308315"/>
            <a:ext cx="5197011" cy="239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下一阶段计划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75686" y="5693596"/>
            <a:ext cx="119865" cy="119865"/>
          </a:xfrm>
          <a:custGeom>
            <a:avLst/>
            <a:gdLst/>
            <a:ahLst/>
            <a:cxnLst/>
            <a:rect l="l" t="t" r="r" b="b"/>
            <a:pathLst>
              <a:path w="119865" h="119865">
                <a:moveTo>
                  <a:pt x="117665" y="65224"/>
                </a:moveTo>
                <a:cubicBezTo>
                  <a:pt x="120591" y="62297"/>
                  <a:pt x="120591" y="57545"/>
                  <a:pt x="117665" y="54618"/>
                </a:cubicBezTo>
                <a:lnTo>
                  <a:pt x="80207" y="17160"/>
                </a:lnTo>
                <a:cubicBezTo>
                  <a:pt x="77280" y="14234"/>
                  <a:pt x="72528" y="14234"/>
                  <a:pt x="69601" y="17160"/>
                </a:cubicBezTo>
                <a:cubicBezTo>
                  <a:pt x="66675" y="20087"/>
                  <a:pt x="66675" y="24839"/>
                  <a:pt x="69601" y="27766"/>
                </a:cubicBezTo>
                <a:lnTo>
                  <a:pt x="94277" y="52441"/>
                </a:lnTo>
                <a:lnTo>
                  <a:pt x="7492" y="52441"/>
                </a:lnTo>
                <a:cubicBezTo>
                  <a:pt x="3348" y="52441"/>
                  <a:pt x="0" y="55789"/>
                  <a:pt x="0" y="59933"/>
                </a:cubicBezTo>
                <a:cubicBezTo>
                  <a:pt x="0" y="64076"/>
                  <a:pt x="3348" y="67424"/>
                  <a:pt x="7492" y="67424"/>
                </a:cubicBezTo>
                <a:lnTo>
                  <a:pt x="94277" y="67424"/>
                </a:lnTo>
                <a:lnTo>
                  <a:pt x="69601" y="92100"/>
                </a:lnTo>
                <a:cubicBezTo>
                  <a:pt x="66675" y="95026"/>
                  <a:pt x="66675" y="99778"/>
                  <a:pt x="69601" y="102705"/>
                </a:cubicBezTo>
                <a:cubicBezTo>
                  <a:pt x="72528" y="105631"/>
                  <a:pt x="77280" y="105631"/>
                  <a:pt x="80207" y="102705"/>
                </a:cubicBezTo>
                <a:lnTo>
                  <a:pt x="117665" y="65247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64" name="Text 62"/>
          <p:cNvSpPr/>
          <p:nvPr/>
        </p:nvSpPr>
        <p:spPr>
          <a:xfrm>
            <a:off x="6512674" y="5650787"/>
            <a:ext cx="5231258" cy="2054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完善后端Controller层代码编写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75686" y="5967573"/>
            <a:ext cx="119865" cy="119865"/>
          </a:xfrm>
          <a:custGeom>
            <a:avLst/>
            <a:gdLst/>
            <a:ahLst/>
            <a:cxnLst/>
            <a:rect l="l" t="t" r="r" b="b"/>
            <a:pathLst>
              <a:path w="119865" h="119865">
                <a:moveTo>
                  <a:pt x="117665" y="65224"/>
                </a:moveTo>
                <a:cubicBezTo>
                  <a:pt x="120591" y="62297"/>
                  <a:pt x="120591" y="57545"/>
                  <a:pt x="117665" y="54618"/>
                </a:cubicBezTo>
                <a:lnTo>
                  <a:pt x="80207" y="17160"/>
                </a:lnTo>
                <a:cubicBezTo>
                  <a:pt x="77280" y="14234"/>
                  <a:pt x="72528" y="14234"/>
                  <a:pt x="69601" y="17160"/>
                </a:cubicBezTo>
                <a:cubicBezTo>
                  <a:pt x="66675" y="20087"/>
                  <a:pt x="66675" y="24839"/>
                  <a:pt x="69601" y="27766"/>
                </a:cubicBezTo>
                <a:lnTo>
                  <a:pt x="94277" y="52441"/>
                </a:lnTo>
                <a:lnTo>
                  <a:pt x="7492" y="52441"/>
                </a:lnTo>
                <a:cubicBezTo>
                  <a:pt x="3348" y="52441"/>
                  <a:pt x="0" y="55789"/>
                  <a:pt x="0" y="59933"/>
                </a:cubicBezTo>
                <a:cubicBezTo>
                  <a:pt x="0" y="64076"/>
                  <a:pt x="3348" y="67424"/>
                  <a:pt x="7492" y="67424"/>
                </a:cubicBezTo>
                <a:lnTo>
                  <a:pt x="94277" y="67424"/>
                </a:lnTo>
                <a:lnTo>
                  <a:pt x="69601" y="92100"/>
                </a:lnTo>
                <a:cubicBezTo>
                  <a:pt x="66675" y="95026"/>
                  <a:pt x="66675" y="99778"/>
                  <a:pt x="69601" y="102705"/>
                </a:cubicBezTo>
                <a:cubicBezTo>
                  <a:pt x="72528" y="105631"/>
                  <a:pt x="77280" y="105631"/>
                  <a:pt x="80207" y="102705"/>
                </a:cubicBezTo>
                <a:lnTo>
                  <a:pt x="117665" y="65247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66" name="Text 64"/>
          <p:cNvSpPr/>
          <p:nvPr/>
        </p:nvSpPr>
        <p:spPr>
          <a:xfrm>
            <a:off x="6512674" y="5924764"/>
            <a:ext cx="5231258" cy="2054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完成前端页面开发和样式优化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75686" y="6241551"/>
            <a:ext cx="119865" cy="119865"/>
          </a:xfrm>
          <a:custGeom>
            <a:avLst/>
            <a:gdLst/>
            <a:ahLst/>
            <a:cxnLst/>
            <a:rect l="l" t="t" r="r" b="b"/>
            <a:pathLst>
              <a:path w="119865" h="119865">
                <a:moveTo>
                  <a:pt x="117665" y="65224"/>
                </a:moveTo>
                <a:cubicBezTo>
                  <a:pt x="120591" y="62297"/>
                  <a:pt x="120591" y="57545"/>
                  <a:pt x="117665" y="54618"/>
                </a:cubicBezTo>
                <a:lnTo>
                  <a:pt x="80207" y="17160"/>
                </a:lnTo>
                <a:cubicBezTo>
                  <a:pt x="77280" y="14234"/>
                  <a:pt x="72528" y="14234"/>
                  <a:pt x="69601" y="17160"/>
                </a:cubicBezTo>
                <a:cubicBezTo>
                  <a:pt x="66675" y="20087"/>
                  <a:pt x="66675" y="24839"/>
                  <a:pt x="69601" y="27766"/>
                </a:cubicBezTo>
                <a:lnTo>
                  <a:pt x="94277" y="52441"/>
                </a:lnTo>
                <a:lnTo>
                  <a:pt x="7492" y="52441"/>
                </a:lnTo>
                <a:cubicBezTo>
                  <a:pt x="3348" y="52441"/>
                  <a:pt x="0" y="55789"/>
                  <a:pt x="0" y="59933"/>
                </a:cubicBezTo>
                <a:cubicBezTo>
                  <a:pt x="0" y="64076"/>
                  <a:pt x="3348" y="67424"/>
                  <a:pt x="7492" y="67424"/>
                </a:cubicBezTo>
                <a:lnTo>
                  <a:pt x="94277" y="67424"/>
                </a:lnTo>
                <a:lnTo>
                  <a:pt x="69601" y="92100"/>
                </a:lnTo>
                <a:cubicBezTo>
                  <a:pt x="66675" y="95026"/>
                  <a:pt x="66675" y="99778"/>
                  <a:pt x="69601" y="102705"/>
                </a:cubicBezTo>
                <a:cubicBezTo>
                  <a:pt x="72528" y="105631"/>
                  <a:pt x="77280" y="105631"/>
                  <a:pt x="80207" y="102705"/>
                </a:cubicBezTo>
                <a:lnTo>
                  <a:pt x="117665" y="65247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68" name="Text 66"/>
          <p:cNvSpPr/>
          <p:nvPr/>
        </p:nvSpPr>
        <p:spPr>
          <a:xfrm>
            <a:off x="6512674" y="6198742"/>
            <a:ext cx="5231258" cy="2054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实现邮箱注册激活功能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75686" y="6515528"/>
            <a:ext cx="119865" cy="119865"/>
          </a:xfrm>
          <a:custGeom>
            <a:avLst/>
            <a:gdLst/>
            <a:ahLst/>
            <a:cxnLst/>
            <a:rect l="l" t="t" r="r" b="b"/>
            <a:pathLst>
              <a:path w="119865" h="119865">
                <a:moveTo>
                  <a:pt x="117665" y="65224"/>
                </a:moveTo>
                <a:cubicBezTo>
                  <a:pt x="120591" y="62297"/>
                  <a:pt x="120591" y="57545"/>
                  <a:pt x="117665" y="54618"/>
                </a:cubicBezTo>
                <a:lnTo>
                  <a:pt x="80207" y="17160"/>
                </a:lnTo>
                <a:cubicBezTo>
                  <a:pt x="77280" y="14234"/>
                  <a:pt x="72528" y="14234"/>
                  <a:pt x="69601" y="17160"/>
                </a:cubicBezTo>
                <a:cubicBezTo>
                  <a:pt x="66675" y="20087"/>
                  <a:pt x="66675" y="24839"/>
                  <a:pt x="69601" y="27766"/>
                </a:cubicBezTo>
                <a:lnTo>
                  <a:pt x="94277" y="52441"/>
                </a:lnTo>
                <a:lnTo>
                  <a:pt x="7492" y="52441"/>
                </a:lnTo>
                <a:cubicBezTo>
                  <a:pt x="3348" y="52441"/>
                  <a:pt x="0" y="55789"/>
                  <a:pt x="0" y="59933"/>
                </a:cubicBezTo>
                <a:cubicBezTo>
                  <a:pt x="0" y="64076"/>
                  <a:pt x="3348" y="67424"/>
                  <a:pt x="7492" y="67424"/>
                </a:cubicBezTo>
                <a:lnTo>
                  <a:pt x="94277" y="67424"/>
                </a:lnTo>
                <a:lnTo>
                  <a:pt x="69601" y="92100"/>
                </a:lnTo>
                <a:cubicBezTo>
                  <a:pt x="66675" y="95026"/>
                  <a:pt x="66675" y="99778"/>
                  <a:pt x="69601" y="102705"/>
                </a:cubicBezTo>
                <a:cubicBezTo>
                  <a:pt x="72528" y="105631"/>
                  <a:pt x="77280" y="105631"/>
                  <a:pt x="80207" y="102705"/>
                </a:cubicBezTo>
                <a:lnTo>
                  <a:pt x="117665" y="65247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70" name="Text 68"/>
          <p:cNvSpPr/>
          <p:nvPr/>
        </p:nvSpPr>
        <p:spPr>
          <a:xfrm>
            <a:off x="6512674" y="6472719"/>
            <a:ext cx="5231258" cy="2054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进行系统测试和功能验证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f8a5d3607dbcf4ea312d44c8004847254d92f066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13205" b="13205"/>
          <a:stretch>
            <a:fillRect/>
          </a:stretch>
        </p:blipFill>
        <p:spPr>
          <a:xfrm>
            <a:off x="-63500" y="-24003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63500" y="-24003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A5F7A">
                  <a:alpha val="30000"/>
                </a:srgbClr>
              </a:gs>
              <a:gs pos="100000">
                <a:srgbClr val="1A1D21">
                  <a:alpha val="98000"/>
                </a:srgbClr>
              </a:gs>
            </a:gsLst>
            <a:lin ang="2700000" scaled="1"/>
          </a:gradFill>
        </p:spPr>
      </p:sp>
      <p:sp>
        <p:nvSpPr>
          <p:cNvPr id="4" name="Text 1"/>
          <p:cNvSpPr/>
          <p:nvPr/>
        </p:nvSpPr>
        <p:spPr>
          <a:xfrm>
            <a:off x="254000" y="7747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100" dirty="0">
                <a:solidFill>
                  <a:srgbClr val="4ECDC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 &amp; OUTLOOK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4000" y="331470"/>
            <a:ext cx="11747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总结与未来展望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" y="839470"/>
            <a:ext cx="1016000" cy="31750"/>
          </a:xfrm>
          <a:custGeom>
            <a:avLst/>
            <a:gdLst/>
            <a:ahLst/>
            <a:cxnLst/>
            <a:rect l="l" t="t" r="r" b="b"/>
            <a:pathLst>
              <a:path w="1016000" h="31750">
                <a:moveTo>
                  <a:pt x="0" y="0"/>
                </a:moveTo>
                <a:lnTo>
                  <a:pt x="1016000" y="0"/>
                </a:lnTo>
                <a:lnTo>
                  <a:pt x="1016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ECDC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</p:spPr>
      </p:sp>
      <p:sp>
        <p:nvSpPr>
          <p:cNvPr id="7" name="Shape 4"/>
          <p:cNvSpPr/>
          <p:nvPr/>
        </p:nvSpPr>
        <p:spPr>
          <a:xfrm>
            <a:off x="256646" y="1064366"/>
            <a:ext cx="11554354" cy="2045229"/>
          </a:xfrm>
          <a:custGeom>
            <a:avLst/>
            <a:gdLst/>
            <a:ahLst/>
            <a:cxnLst/>
            <a:rect l="l" t="t" r="r" b="b"/>
            <a:pathLst>
              <a:path w="11554354" h="2045229">
                <a:moveTo>
                  <a:pt x="95246" y="0"/>
                </a:moveTo>
                <a:lnTo>
                  <a:pt x="11459108" y="0"/>
                </a:lnTo>
                <a:cubicBezTo>
                  <a:pt x="11511711" y="0"/>
                  <a:pt x="11554354" y="42643"/>
                  <a:pt x="11554354" y="95246"/>
                </a:cubicBezTo>
                <a:lnTo>
                  <a:pt x="11554354" y="1949983"/>
                </a:lnTo>
                <a:cubicBezTo>
                  <a:pt x="11554354" y="2002586"/>
                  <a:pt x="11511711" y="2045229"/>
                  <a:pt x="11459108" y="2045229"/>
                </a:cubicBezTo>
                <a:lnTo>
                  <a:pt x="95246" y="2045229"/>
                </a:lnTo>
                <a:cubicBezTo>
                  <a:pt x="42643" y="2045229"/>
                  <a:pt x="0" y="2002586"/>
                  <a:pt x="0" y="1949983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3604" y="12892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9" name="Text 6"/>
          <p:cNvSpPr/>
          <p:nvPr/>
        </p:nvSpPr>
        <p:spPr>
          <a:xfrm>
            <a:off x="687917" y="1257514"/>
            <a:ext cx="110251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项目成果总结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9792" y="1638514"/>
            <a:ext cx="11231563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本项目成功构建了一个基于Java技术栈的英语学习平台，采用Spring Boot + MyBatis架构实现了"学-测-优"个性化学习闭环。系统整合了背单词、听力训练、每日一句、书籍阅读等核心功能，数据库采用MySQL分表优化策略保障性能，为英语教学数字化提供了可落地的技术范本。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2438" y="2180910"/>
            <a:ext cx="2688167" cy="735542"/>
          </a:xfrm>
          <a:custGeom>
            <a:avLst/>
            <a:gdLst/>
            <a:ahLst/>
            <a:cxnLst/>
            <a:rect l="l" t="t" r="r" b="b"/>
            <a:pathLst>
              <a:path w="2688167" h="735542">
                <a:moveTo>
                  <a:pt x="63499" y="0"/>
                </a:moveTo>
                <a:lnTo>
                  <a:pt x="2624667" y="0"/>
                </a:lnTo>
                <a:cubicBezTo>
                  <a:pt x="2659737" y="0"/>
                  <a:pt x="2688167" y="28430"/>
                  <a:pt x="2688167" y="63499"/>
                </a:cubicBezTo>
                <a:lnTo>
                  <a:pt x="2688167" y="672042"/>
                </a:lnTo>
                <a:cubicBezTo>
                  <a:pt x="2688167" y="707112"/>
                  <a:pt x="2659737" y="735542"/>
                  <a:pt x="2624667" y="735542"/>
                </a:cubicBezTo>
                <a:lnTo>
                  <a:pt x="63499" y="735542"/>
                </a:lnTo>
                <a:cubicBezTo>
                  <a:pt x="28430" y="735542"/>
                  <a:pt x="0" y="707112"/>
                  <a:pt x="0" y="672042"/>
                </a:cubicBezTo>
                <a:lnTo>
                  <a:pt x="0" y="63499"/>
                </a:lnTo>
                <a:cubicBezTo>
                  <a:pt x="0" y="28430"/>
                  <a:pt x="28430" y="0"/>
                  <a:pt x="634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2552" y="2310559"/>
            <a:ext cx="2547938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5+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54302" y="2628059"/>
            <a:ext cx="2484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75542" y="2180910"/>
            <a:ext cx="2688167" cy="735542"/>
          </a:xfrm>
          <a:custGeom>
            <a:avLst/>
            <a:gdLst/>
            <a:ahLst/>
            <a:cxnLst/>
            <a:rect l="l" t="t" r="r" b="b"/>
            <a:pathLst>
              <a:path w="2688167" h="735542">
                <a:moveTo>
                  <a:pt x="63499" y="0"/>
                </a:moveTo>
                <a:lnTo>
                  <a:pt x="2624667" y="0"/>
                </a:lnTo>
                <a:cubicBezTo>
                  <a:pt x="2659737" y="0"/>
                  <a:pt x="2688167" y="28430"/>
                  <a:pt x="2688167" y="63499"/>
                </a:cubicBezTo>
                <a:lnTo>
                  <a:pt x="2688167" y="672042"/>
                </a:lnTo>
                <a:cubicBezTo>
                  <a:pt x="2688167" y="707112"/>
                  <a:pt x="2659737" y="735542"/>
                  <a:pt x="2624667" y="735542"/>
                </a:cubicBezTo>
                <a:lnTo>
                  <a:pt x="63499" y="735542"/>
                </a:lnTo>
                <a:cubicBezTo>
                  <a:pt x="28430" y="735542"/>
                  <a:pt x="0" y="707112"/>
                  <a:pt x="0" y="672042"/>
                </a:cubicBezTo>
                <a:lnTo>
                  <a:pt x="0" y="63499"/>
                </a:lnTo>
                <a:cubicBezTo>
                  <a:pt x="0" y="28430"/>
                  <a:pt x="28430" y="0"/>
                  <a:pt x="634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45656" y="2310559"/>
            <a:ext cx="2547938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77406" y="2628059"/>
            <a:ext cx="2484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数据库表设计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8646" y="2180910"/>
            <a:ext cx="2688167" cy="735542"/>
          </a:xfrm>
          <a:custGeom>
            <a:avLst/>
            <a:gdLst/>
            <a:ahLst/>
            <a:cxnLst/>
            <a:rect l="l" t="t" r="r" b="b"/>
            <a:pathLst>
              <a:path w="2688167" h="735542">
                <a:moveTo>
                  <a:pt x="63499" y="0"/>
                </a:moveTo>
                <a:lnTo>
                  <a:pt x="2624667" y="0"/>
                </a:lnTo>
                <a:cubicBezTo>
                  <a:pt x="2659737" y="0"/>
                  <a:pt x="2688167" y="28430"/>
                  <a:pt x="2688167" y="63499"/>
                </a:cubicBezTo>
                <a:lnTo>
                  <a:pt x="2688167" y="672042"/>
                </a:lnTo>
                <a:cubicBezTo>
                  <a:pt x="2688167" y="707112"/>
                  <a:pt x="2659737" y="735542"/>
                  <a:pt x="2624667" y="735542"/>
                </a:cubicBezTo>
                <a:lnTo>
                  <a:pt x="63499" y="735542"/>
                </a:lnTo>
                <a:cubicBezTo>
                  <a:pt x="28430" y="735542"/>
                  <a:pt x="0" y="707112"/>
                  <a:pt x="0" y="672042"/>
                </a:cubicBezTo>
                <a:lnTo>
                  <a:pt x="0" y="63499"/>
                </a:lnTo>
                <a:cubicBezTo>
                  <a:pt x="0" y="28430"/>
                  <a:pt x="28430" y="0"/>
                  <a:pt x="634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68761" y="2310559"/>
            <a:ext cx="2547938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00511" y="2628059"/>
            <a:ext cx="2484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项目完成度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921751" y="2180910"/>
            <a:ext cx="2688167" cy="735542"/>
          </a:xfrm>
          <a:custGeom>
            <a:avLst/>
            <a:gdLst/>
            <a:ahLst/>
            <a:cxnLst/>
            <a:rect l="l" t="t" r="r" b="b"/>
            <a:pathLst>
              <a:path w="2688167" h="735542">
                <a:moveTo>
                  <a:pt x="63499" y="0"/>
                </a:moveTo>
                <a:lnTo>
                  <a:pt x="2624667" y="0"/>
                </a:lnTo>
                <a:cubicBezTo>
                  <a:pt x="2659737" y="0"/>
                  <a:pt x="2688167" y="28430"/>
                  <a:pt x="2688167" y="63499"/>
                </a:cubicBezTo>
                <a:lnTo>
                  <a:pt x="2688167" y="672042"/>
                </a:lnTo>
                <a:cubicBezTo>
                  <a:pt x="2688167" y="707112"/>
                  <a:pt x="2659737" y="735542"/>
                  <a:pt x="2624667" y="735542"/>
                </a:cubicBezTo>
                <a:lnTo>
                  <a:pt x="63499" y="735542"/>
                </a:lnTo>
                <a:cubicBezTo>
                  <a:pt x="28430" y="735542"/>
                  <a:pt x="0" y="707112"/>
                  <a:pt x="0" y="672042"/>
                </a:cubicBezTo>
                <a:lnTo>
                  <a:pt x="0" y="63499"/>
                </a:lnTo>
                <a:cubicBezTo>
                  <a:pt x="0" y="28430"/>
                  <a:pt x="28430" y="0"/>
                  <a:pt x="634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ECDC4">
                <a:alpha val="30196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91865" y="2310559"/>
            <a:ext cx="2547938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4ECDC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023615" y="2628059"/>
            <a:ext cx="2484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后端核心模块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56646" y="3276285"/>
            <a:ext cx="5696479" cy="2894542"/>
          </a:xfrm>
          <a:custGeom>
            <a:avLst/>
            <a:gdLst/>
            <a:ahLst/>
            <a:cxnLst/>
            <a:rect l="l" t="t" r="r" b="b"/>
            <a:pathLst>
              <a:path w="5696479" h="2894542">
                <a:moveTo>
                  <a:pt x="95259" y="0"/>
                </a:moveTo>
                <a:lnTo>
                  <a:pt x="5601220" y="0"/>
                </a:lnTo>
                <a:cubicBezTo>
                  <a:pt x="5653830" y="0"/>
                  <a:pt x="5696479" y="42649"/>
                  <a:pt x="5696479" y="95259"/>
                </a:cubicBezTo>
                <a:lnTo>
                  <a:pt x="5696479" y="2799282"/>
                </a:lnTo>
                <a:cubicBezTo>
                  <a:pt x="5696479" y="2851893"/>
                  <a:pt x="5653830" y="2894542"/>
                  <a:pt x="5601220" y="2894542"/>
                </a:cubicBezTo>
                <a:lnTo>
                  <a:pt x="95259" y="2894542"/>
                </a:lnTo>
                <a:cubicBezTo>
                  <a:pt x="42649" y="2894542"/>
                  <a:pt x="0" y="2851893"/>
                  <a:pt x="0" y="2799282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8467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3604" y="35011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5" name="Text 22"/>
          <p:cNvSpPr/>
          <p:nvPr/>
        </p:nvSpPr>
        <p:spPr>
          <a:xfrm>
            <a:off x="687917" y="3469434"/>
            <a:ext cx="5167313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未来扩展方向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49792" y="387424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545042" y="396949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31750" y="23812"/>
                </a:moveTo>
                <a:cubicBezTo>
                  <a:pt x="31750" y="19422"/>
                  <a:pt x="35297" y="15875"/>
                  <a:pt x="39688" y="15875"/>
                </a:cubicBezTo>
                <a:lnTo>
                  <a:pt x="87313" y="15875"/>
                </a:lnTo>
                <a:cubicBezTo>
                  <a:pt x="91703" y="15875"/>
                  <a:pt x="95250" y="19422"/>
                  <a:pt x="95250" y="23812"/>
                </a:cubicBezTo>
                <a:cubicBezTo>
                  <a:pt x="95250" y="28203"/>
                  <a:pt x="91703" y="31750"/>
                  <a:pt x="87313" y="31750"/>
                </a:cubicBezTo>
                <a:lnTo>
                  <a:pt x="39688" y="31750"/>
                </a:lnTo>
                <a:cubicBezTo>
                  <a:pt x="35297" y="31750"/>
                  <a:pt x="31750" y="28203"/>
                  <a:pt x="31750" y="23812"/>
                </a:cubicBezTo>
                <a:close/>
                <a:moveTo>
                  <a:pt x="39688" y="43656"/>
                </a:moveTo>
                <a:lnTo>
                  <a:pt x="71438" y="43656"/>
                </a:lnTo>
                <a:cubicBezTo>
                  <a:pt x="75828" y="43656"/>
                  <a:pt x="79375" y="47203"/>
                  <a:pt x="79375" y="51594"/>
                </a:cubicBezTo>
                <a:cubicBezTo>
                  <a:pt x="79375" y="55984"/>
                  <a:pt x="75828" y="59531"/>
                  <a:pt x="71438" y="59531"/>
                </a:cubicBezTo>
                <a:lnTo>
                  <a:pt x="39688" y="59531"/>
                </a:lnTo>
                <a:cubicBezTo>
                  <a:pt x="35297" y="59531"/>
                  <a:pt x="31750" y="55984"/>
                  <a:pt x="31750" y="51594"/>
                </a:cubicBezTo>
                <a:cubicBezTo>
                  <a:pt x="31750" y="47203"/>
                  <a:pt x="35297" y="43656"/>
                  <a:pt x="39688" y="43656"/>
                </a:cubicBezTo>
                <a:close/>
                <a:moveTo>
                  <a:pt x="39688" y="71438"/>
                </a:move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39688" y="87313"/>
                </a:lnTo>
                <a:cubicBezTo>
                  <a:pt x="35297" y="87313"/>
                  <a:pt x="31750" y="83765"/>
                  <a:pt x="31750" y="79375"/>
                </a:cubicBezTo>
                <a:cubicBezTo>
                  <a:pt x="31750" y="74985"/>
                  <a:pt x="35297" y="71438"/>
                  <a:pt x="39688" y="71438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28" name="Text 25"/>
          <p:cNvSpPr/>
          <p:nvPr/>
        </p:nvSpPr>
        <p:spPr>
          <a:xfrm>
            <a:off x="862542" y="3874246"/>
            <a:ext cx="26273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数据分析功能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62542" y="4128246"/>
            <a:ext cx="26114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学习进度可视化、用户行为分析、智能学习报告生成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49792" y="442987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</p:spPr>
      </p:sp>
      <p:sp>
        <p:nvSpPr>
          <p:cNvPr id="31" name="Shape 28"/>
          <p:cNvSpPr/>
          <p:nvPr/>
        </p:nvSpPr>
        <p:spPr>
          <a:xfrm>
            <a:off x="529167" y="4525121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32" name="Text 29"/>
          <p:cNvSpPr/>
          <p:nvPr/>
        </p:nvSpPr>
        <p:spPr>
          <a:xfrm>
            <a:off x="862542" y="4429871"/>
            <a:ext cx="210343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社交化学习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62542" y="4683871"/>
            <a:ext cx="2087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学习社区、打卡分享、好友PK、学习小组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49792" y="498549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</p:spPr>
      </p:sp>
      <p:sp>
        <p:nvSpPr>
          <p:cNvPr id="35" name="Shape 32"/>
          <p:cNvSpPr/>
          <p:nvPr/>
        </p:nvSpPr>
        <p:spPr>
          <a:xfrm>
            <a:off x="545042" y="5080746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36" name="Text 33"/>
          <p:cNvSpPr/>
          <p:nvPr/>
        </p:nvSpPr>
        <p:spPr>
          <a:xfrm>
            <a:off x="862542" y="4985496"/>
            <a:ext cx="25161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智能推荐算法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62542" y="5239496"/>
            <a:ext cx="25003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基于用户学习数据的个性化内容推荐、薄弱点分析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49792" y="554112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ECDC4">
              <a:alpha val="20000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560917" y="5636371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969" y="15875"/>
                </a:moveTo>
                <a:cubicBezTo>
                  <a:pt x="3969" y="7119"/>
                  <a:pt x="11088" y="0"/>
                  <a:pt x="19844" y="0"/>
                </a:cubicBezTo>
                <a:lnTo>
                  <a:pt x="75406" y="0"/>
                </a:lnTo>
                <a:cubicBezTo>
                  <a:pt x="84162" y="0"/>
                  <a:pt x="91281" y="7119"/>
                  <a:pt x="91281" y="15875"/>
                </a:cubicBezTo>
                <a:lnTo>
                  <a:pt x="91281" y="111125"/>
                </a:lnTo>
                <a:cubicBezTo>
                  <a:pt x="91281" y="119881"/>
                  <a:pt x="84162" y="127000"/>
                  <a:pt x="75406" y="127000"/>
                </a:cubicBezTo>
                <a:lnTo>
                  <a:pt x="19844" y="127000"/>
                </a:lnTo>
                <a:cubicBezTo>
                  <a:pt x="11088" y="127000"/>
                  <a:pt x="3969" y="119881"/>
                  <a:pt x="3969" y="111125"/>
                </a:cubicBezTo>
                <a:lnTo>
                  <a:pt x="3969" y="15875"/>
                </a:lnTo>
                <a:close/>
                <a:moveTo>
                  <a:pt x="19844" y="15875"/>
                </a:moveTo>
                <a:lnTo>
                  <a:pt x="19844" y="91281"/>
                </a:lnTo>
                <a:lnTo>
                  <a:pt x="75406" y="91281"/>
                </a:lnTo>
                <a:lnTo>
                  <a:pt x="75406" y="15875"/>
                </a:lnTo>
                <a:lnTo>
                  <a:pt x="19844" y="15875"/>
                </a:lnTo>
                <a:close/>
                <a:moveTo>
                  <a:pt x="47625" y="117078"/>
                </a:moveTo>
                <a:cubicBezTo>
                  <a:pt x="52015" y="117078"/>
                  <a:pt x="55563" y="113531"/>
                  <a:pt x="55563" y="109141"/>
                </a:cubicBezTo>
                <a:cubicBezTo>
                  <a:pt x="55563" y="104750"/>
                  <a:pt x="52015" y="101203"/>
                  <a:pt x="47625" y="101203"/>
                </a:cubicBezTo>
                <a:cubicBezTo>
                  <a:pt x="43235" y="101203"/>
                  <a:pt x="39688" y="104750"/>
                  <a:pt x="39688" y="109141"/>
                </a:cubicBezTo>
                <a:cubicBezTo>
                  <a:pt x="39688" y="113531"/>
                  <a:pt x="43235" y="117078"/>
                  <a:pt x="47625" y="117078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40" name="Text 37"/>
          <p:cNvSpPr/>
          <p:nvPr/>
        </p:nvSpPr>
        <p:spPr>
          <a:xfrm>
            <a:off x="862542" y="5541121"/>
            <a:ext cx="2659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移动端适配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62542" y="5795121"/>
            <a:ext cx="2643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响应式布局优化、小程序/APP开发、碎片化学习支持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114521" y="3276285"/>
            <a:ext cx="5696479" cy="2894542"/>
          </a:xfrm>
          <a:custGeom>
            <a:avLst/>
            <a:gdLst/>
            <a:ahLst/>
            <a:cxnLst/>
            <a:rect l="l" t="t" r="r" b="b"/>
            <a:pathLst>
              <a:path w="5696479" h="2894542">
                <a:moveTo>
                  <a:pt x="95259" y="0"/>
                </a:moveTo>
                <a:lnTo>
                  <a:pt x="5601220" y="0"/>
                </a:lnTo>
                <a:cubicBezTo>
                  <a:pt x="5653830" y="0"/>
                  <a:pt x="5696479" y="42649"/>
                  <a:pt x="5696479" y="95259"/>
                </a:cubicBezTo>
                <a:lnTo>
                  <a:pt x="5696479" y="2799282"/>
                </a:lnTo>
                <a:cubicBezTo>
                  <a:pt x="5696479" y="2851893"/>
                  <a:pt x="5653830" y="2894542"/>
                  <a:pt x="5601220" y="2894542"/>
                </a:cubicBezTo>
                <a:lnTo>
                  <a:pt x="95259" y="2894542"/>
                </a:lnTo>
                <a:cubicBezTo>
                  <a:pt x="42649" y="2894542"/>
                  <a:pt x="0" y="2851893"/>
                  <a:pt x="0" y="2799282"/>
                </a:cubicBezTo>
                <a:lnTo>
                  <a:pt x="0" y="95259"/>
                </a:lnTo>
                <a:cubicBezTo>
                  <a:pt x="0" y="42684"/>
                  <a:pt x="42684" y="0"/>
                  <a:pt x="95259" y="0"/>
                </a:cubicBezTo>
                <a:close/>
              </a:path>
            </a:pathLst>
          </a:custGeom>
          <a:gradFill flip="none" rotWithShape="1">
            <a:gsLst>
              <a:gs pos="0">
                <a:srgbClr val="4ECDC4">
                  <a:alpha val="30000"/>
                </a:srgbClr>
              </a:gs>
              <a:gs pos="100000">
                <a:srgbClr val="3A5F7A">
                  <a:alpha val="30000"/>
                </a:srgbClr>
              </a:gs>
            </a:gsLst>
            <a:lin ang="2700000" scaled="1"/>
          </a:gradFill>
          <a:ln w="8467">
            <a:solidFill>
              <a:srgbClr val="4ECDC4">
                <a:alpha val="50196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693547" y="3469434"/>
            <a:ext cx="535781" cy="476250"/>
          </a:xfrm>
          <a:custGeom>
            <a:avLst/>
            <a:gdLst/>
            <a:ahLst/>
            <a:cxnLst/>
            <a:rect l="l" t="t" r="r" b="b"/>
            <a:pathLst>
              <a:path w="535781" h="476250">
                <a:moveTo>
                  <a:pt x="44648" y="182128"/>
                </a:moveTo>
                <a:lnTo>
                  <a:pt x="239241" y="262217"/>
                </a:lnTo>
                <a:cubicBezTo>
                  <a:pt x="248357" y="265937"/>
                  <a:pt x="258031" y="267891"/>
                  <a:pt x="267891" y="267891"/>
                </a:cubicBezTo>
                <a:cubicBezTo>
                  <a:pt x="277750" y="267891"/>
                  <a:pt x="287424" y="265937"/>
                  <a:pt x="296540" y="262217"/>
                </a:cubicBezTo>
                <a:lnTo>
                  <a:pt x="522015" y="169385"/>
                </a:lnTo>
                <a:cubicBezTo>
                  <a:pt x="530386" y="165943"/>
                  <a:pt x="535781" y="157851"/>
                  <a:pt x="535781" y="148828"/>
                </a:cubicBezTo>
                <a:cubicBezTo>
                  <a:pt x="535781" y="139805"/>
                  <a:pt x="530386" y="131713"/>
                  <a:pt x="522015" y="128271"/>
                </a:cubicBezTo>
                <a:lnTo>
                  <a:pt x="296540" y="35440"/>
                </a:lnTo>
                <a:cubicBezTo>
                  <a:pt x="287424" y="31719"/>
                  <a:pt x="277750" y="29766"/>
                  <a:pt x="267891" y="29766"/>
                </a:cubicBezTo>
                <a:cubicBezTo>
                  <a:pt x="258031" y="29766"/>
                  <a:pt x="248357" y="31719"/>
                  <a:pt x="239241" y="35440"/>
                </a:cubicBezTo>
                <a:lnTo>
                  <a:pt x="13767" y="128271"/>
                </a:lnTo>
                <a:cubicBezTo>
                  <a:pt x="5395" y="131713"/>
                  <a:pt x="0" y="139805"/>
                  <a:pt x="0" y="148828"/>
                </a:cubicBezTo>
                <a:lnTo>
                  <a:pt x="0" y="424160"/>
                </a:lnTo>
                <a:cubicBezTo>
                  <a:pt x="0" y="436531"/>
                  <a:pt x="9953" y="446484"/>
                  <a:pt x="22324" y="446484"/>
                </a:cubicBezTo>
                <a:cubicBezTo>
                  <a:pt x="34696" y="446484"/>
                  <a:pt x="44648" y="436531"/>
                  <a:pt x="44648" y="424160"/>
                </a:cubicBezTo>
                <a:lnTo>
                  <a:pt x="44648" y="182128"/>
                </a:lnTo>
                <a:close/>
                <a:moveTo>
                  <a:pt x="89297" y="248822"/>
                </a:moveTo>
                <a:lnTo>
                  <a:pt x="89297" y="357188"/>
                </a:lnTo>
                <a:cubicBezTo>
                  <a:pt x="89297" y="406487"/>
                  <a:pt x="169292" y="446484"/>
                  <a:pt x="267891" y="446484"/>
                </a:cubicBezTo>
                <a:cubicBezTo>
                  <a:pt x="366489" y="446484"/>
                  <a:pt x="446484" y="406487"/>
                  <a:pt x="446484" y="357188"/>
                </a:cubicBezTo>
                <a:lnTo>
                  <a:pt x="446484" y="248729"/>
                </a:lnTo>
                <a:lnTo>
                  <a:pt x="313562" y="303516"/>
                </a:lnTo>
                <a:cubicBezTo>
                  <a:pt x="299052" y="309469"/>
                  <a:pt x="283611" y="312539"/>
                  <a:pt x="267891" y="312539"/>
                </a:cubicBezTo>
                <a:cubicBezTo>
                  <a:pt x="252171" y="312539"/>
                  <a:pt x="236730" y="309469"/>
                  <a:pt x="222219" y="303516"/>
                </a:cubicBezTo>
                <a:lnTo>
                  <a:pt x="89297" y="248729"/>
                </a:lnTo>
                <a:close/>
              </a:path>
            </a:pathLst>
          </a:custGeom>
          <a:solidFill>
            <a:srgbClr val="4ECDC4"/>
          </a:solidFill>
        </p:spPr>
      </p:sp>
      <p:sp>
        <p:nvSpPr>
          <p:cNvPr id="44" name="Text 41"/>
          <p:cNvSpPr/>
          <p:nvPr/>
        </p:nvSpPr>
        <p:spPr>
          <a:xfrm>
            <a:off x="6248136" y="4072684"/>
            <a:ext cx="5429250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技术成长收获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323542" y="467593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46" name="Text 43"/>
          <p:cNvSpPr/>
          <p:nvPr/>
        </p:nvSpPr>
        <p:spPr>
          <a:xfrm>
            <a:off x="6466417" y="4644184"/>
            <a:ext cx="521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掌握Spring Boot全栈开发流程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23542" y="496168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48" name="Text 45"/>
          <p:cNvSpPr/>
          <p:nvPr/>
        </p:nvSpPr>
        <p:spPr>
          <a:xfrm>
            <a:off x="6466417" y="4929934"/>
            <a:ext cx="521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深入理解MVC架构设计模式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23542" y="524743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50" name="Text 47"/>
          <p:cNvSpPr/>
          <p:nvPr/>
        </p:nvSpPr>
        <p:spPr>
          <a:xfrm>
            <a:off x="6466417" y="5215684"/>
            <a:ext cx="521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提升数据库设计与优化能力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323542" y="553318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52" name="Text 49"/>
          <p:cNvSpPr/>
          <p:nvPr/>
        </p:nvSpPr>
        <p:spPr>
          <a:xfrm>
            <a:off x="6466417" y="5501434"/>
            <a:ext cx="521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培养问题解决和技术选型能力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323542" y="5818934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4ECDC4"/>
          </a:solidFill>
        </p:spPr>
      </p:sp>
      <p:sp>
        <p:nvSpPr>
          <p:cNvPr id="54" name="Text 51"/>
          <p:cNvSpPr/>
          <p:nvPr/>
        </p:nvSpPr>
        <p:spPr>
          <a:xfrm>
            <a:off x="6466417" y="5787184"/>
            <a:ext cx="5214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积累项目管理和文档编写经验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206375" y="6300470"/>
            <a:ext cx="1165225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4ECDC4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感谢观看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222250" y="661797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B7D8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 for Your Attention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75.5,&quot;left&quot;:30.25,&quot;top&quot;:434.25,&quot;width&quot;:899.75}"/>
</p:tagLst>
</file>

<file path=ppt/tags/tag2.xml><?xml version="1.0" encoding="utf-8"?>
<p:tagLst xmlns:p="http://schemas.openxmlformats.org/presentationml/2006/main">
  <p:tag name="KSO_WM_DIAGRAM_VIRTUALLY_FRAME" val="{&quot;height&quot;:75.5,&quot;left&quot;:30.25,&quot;top&quot;:434.25,&quot;width&quot;:899.75}"/>
</p:tagLst>
</file>

<file path=ppt/tags/tag3.xml><?xml version="1.0" encoding="utf-8"?>
<p:tagLst xmlns:p="http://schemas.openxmlformats.org/presentationml/2006/main">
  <p:tag name="KSO_WM_DIAGRAM_VIRTUALLY_FRAME" val="{&quot;height&quot;:75.5,&quot;left&quot;:30.25,&quot;top&quot;:434.25,&quot;width&quot;:899.75}"/>
</p:tagLst>
</file>

<file path=ppt/tags/tag4.xml><?xml version="1.0" encoding="utf-8"?>
<p:tagLst xmlns:p="http://schemas.openxmlformats.org/presentationml/2006/main">
  <p:tag name="KSO_WM_DIAGRAM_VIRTUALLY_FRAME" val="{&quot;height&quot;:75.5,&quot;left&quot;:30.25,&quot;top&quot;:434.25,&quot;width&quot;:899.75}"/>
</p:tagLst>
</file>

<file path=ppt/tags/tag5.xml><?xml version="1.0" encoding="utf-8"?>
<p:tagLst xmlns:p="http://schemas.openxmlformats.org/presentationml/2006/main">
  <p:tag name="KSO_WM_DIAGRAM_VIRTUALLY_FRAME" val="{&quot;height&quot;:75.5,&quot;left&quot;:30.25,&quot;top&quot;:434.25,&quot;width&quot;:899.75}"/>
</p:tagLst>
</file>

<file path=ppt/tags/tag6.xml><?xml version="1.0" encoding="utf-8"?>
<p:tagLst xmlns:p="http://schemas.openxmlformats.org/presentationml/2006/main">
  <p:tag name="KSO_WM_DIAGRAM_VIRTUALLY_FRAME" val="{&quot;height&quot;:75.5,&quot;left&quot;:30.25,&quot;top&quot;:434.25,&quot;width&quot;:899.75}"/>
</p:tagLst>
</file>

<file path=ppt/tags/tag7.xml><?xml version="1.0" encoding="utf-8"?>
<p:tagLst xmlns:p="http://schemas.openxmlformats.org/presentationml/2006/main">
  <p:tag name="KSO_WM_DIAGRAM_VIRTUALLY_FRAME" val="{&quot;height&quot;:75.5,&quot;left&quot;:30.25,&quot;top&quot;:434.25,&quot;width&quot;:899.75}"/>
</p:tagLst>
</file>

<file path=ppt/tags/tag8.xml><?xml version="1.0" encoding="utf-8"?>
<p:tagLst xmlns:p="http://schemas.openxmlformats.org/presentationml/2006/main">
  <p:tag name="KSO_WM_DIAGRAM_VIRTUALLY_FRAME" val="{&quot;height&quot;:75.5,&quot;left&quot;:30.25,&quot;top&quot;:434.25,&quot;width&quot;:899.75}"/>
</p:tagLst>
</file>

<file path=ppt/tags/tag9.xml><?xml version="1.0" encoding="utf-8"?>
<p:tagLst xmlns:p="http://schemas.openxmlformats.org/presentationml/2006/main">
  <p:tag name="KSO_WM_DIAGRAM_VIRTUALLY_FRAME" val="{&quot;height&quot;:75.5,&quot;left&quot;:30.25,&quot;top&quot;:434.25,&quot;width&quot;:899.75}"/>
</p:tagLst>
</file>

<file path=ppt/tags/tag10.xml><?xml version="1.0" encoding="utf-8"?>
<p:tagLst xmlns:p="http://schemas.openxmlformats.org/presentationml/2006/main">
  <p:tag name="KSO_WM_DIAGRAM_VIRTUALLY_FRAME" val="{&quot;height&quot;:75.5,&quot;left&quot;:30.25,&quot;top&quot;:434.25,&quot;width&quot;:899.75}"/>
</p:tagLst>
</file>

<file path=ppt/tags/tag11.xml><?xml version="1.0" encoding="utf-8"?>
<p:tagLst xmlns:p="http://schemas.openxmlformats.org/presentationml/2006/main">
  <p:tag name="KSO_WM_DIAGRAM_VIRTUALLY_FRAME" val="{&quot;height&quot;:75.5,&quot;left&quot;:30.25,&quot;top&quot;:434.25,&quot;width&quot;:899.75}"/>
</p:tagLst>
</file>

<file path=ppt/tags/tag12.xml><?xml version="1.0" encoding="utf-8"?>
<p:tagLst xmlns:p="http://schemas.openxmlformats.org/presentationml/2006/main">
  <p:tag name="KSO_WM_DIAGRAM_VIRTUALLY_FRAME" val="{&quot;height&quot;:75.5,&quot;left&quot;:30.25,&quot;top&quot;:434.25,&quot;width&quot;:899.75}"/>
</p:tagLst>
</file>

<file path=ppt/tags/tag13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14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15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16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17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18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19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20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21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22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23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24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25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26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27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28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29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30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31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32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33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34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35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36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37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38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39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40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41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42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43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44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45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46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47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48.xml><?xml version="1.0" encoding="utf-8"?>
<p:tagLst xmlns:p="http://schemas.openxmlformats.org/presentationml/2006/main">
  <p:tag name="KSO_WM_DIAGRAM_VIRTUALLY_FRAME" val="{&quot;height&quot;:393.5,&quot;left&quot;:30.25,&quot;top&quot;:132.25,&quot;width&quot;:899.75}"/>
</p:tagLst>
</file>

<file path=ppt/tags/tag49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50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51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52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53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54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55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56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57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58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59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60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61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62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63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64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65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66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67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68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69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70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71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72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73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74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75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76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77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78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79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80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81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82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83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ags/tag84.xml><?xml version="1.0" encoding="utf-8"?>
<p:tagLst xmlns:p="http://schemas.openxmlformats.org/presentationml/2006/main">
  <p:tag name="KSO_WM_DIAGRAM_VIRTUALLY_FRAME" val="{&quot;height&quot;:369.0999999999999,&quot;left&quot;:32.91669291338583,&quot;top&quot;:124.16669291338583,&quot;width&quot;:882.981811023622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5703</Words>
  <Application>WPS 演示</Application>
  <PresentationFormat>On-screen Show (16:9)</PresentationFormat>
  <Paragraphs>780</Paragraphs>
  <Slides>23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46" baseType="lpstr">
      <vt:lpstr>Arial</vt:lpstr>
      <vt:lpstr>宋体</vt:lpstr>
      <vt:lpstr>Wingdings</vt:lpstr>
      <vt:lpstr>Quattrocento Sans</vt:lpstr>
      <vt:lpstr>Segoe Print</vt:lpstr>
      <vt:lpstr>Quattrocento Sans</vt:lpstr>
      <vt:lpstr>Quattrocento Sans</vt:lpstr>
      <vt:lpstr>Alimama ShuHeiTi</vt:lpstr>
      <vt:lpstr>Alimama ShuHeiTi</vt:lpstr>
      <vt:lpstr>Alimama ShuHeiTi</vt:lpstr>
      <vt:lpstr>MiSans</vt:lpstr>
      <vt:lpstr>MiSans</vt:lpstr>
      <vt:lpstr>Liter</vt:lpstr>
      <vt:lpstr>Liter</vt:lpstr>
      <vt:lpstr>Liter</vt:lpstr>
      <vt:lpstr>Calibri</vt:lpstr>
      <vt:lpstr>微软雅黑</vt:lpstr>
      <vt:lpstr>Arial Unicode MS</vt:lpstr>
      <vt:lpstr>等线</vt:lpstr>
      <vt:lpstr>MingLiU-ExtB</vt:lpstr>
      <vt:lpstr>华文中宋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英语学习平台系统总结分析报告</dc:title>
  <dc:creator>Kimi</dc:creator>
  <dc:subject>英语学习平台系统总结分析报告</dc:subject>
  <cp:lastModifiedBy>高珺</cp:lastModifiedBy>
  <cp:revision>13</cp:revision>
  <dcterms:created xsi:type="dcterms:W3CDTF">2026-02-09T06:34:00Z</dcterms:created>
  <dcterms:modified xsi:type="dcterms:W3CDTF">2026-02-09T07:24:33Z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英语学习平台系统总结分析报告","ContentProducer":"001191110108MACG2KBH8F10000","ProduceID":"19c41022-1272-8f66-8000-0000c4427bdf","ReservedCode1":"","ContentPropagator":"001191110108MACG2KBH8F20000","PropagateID":"19c41022-1272-8f66-8000-0000c4427bdf","ReservedCode2":""}</vt:lpwstr>
  </property>
  <property fmtid="{D5CDD505-2E9C-101B-9397-08002B2CF9AE}" pid="3" name="ICV">
    <vt:lpwstr>11CF14F6DB154AF09532E37B3A69D0FF_12</vt:lpwstr>
  </property>
  <property fmtid="{D5CDD505-2E9C-101B-9397-08002B2CF9AE}" pid="4" name="KSOProductBuildVer">
    <vt:lpwstr>2052-12.1.0.19302</vt:lpwstr>
  </property>
</Properties>
</file>